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icio" id="{f52b5c7e-ef11-0775-f3f3-0dacd10785e5}">
          <p14:sldIdLst>
            <p14:sldId id="256"/>
            <p14:sldId id="257"/>
            <p14:sldId id="258"/>
          </p14:sldIdLst>
        </p14:section>
        <p14:section name="Unidad 2" id="{bf5251c5-9110-5a9f-4692-86de234607a3}">
          <p14:sldIdLst>
            <p14:sldId id="259"/>
            <p14:sldId id="260"/>
            <p14:sldId id="261"/>
            <p14:sldId id="262"/>
            <p14:sldId id="263"/>
            <p14:sldId id="264"/>
            <p14:sldId id="265"/>
          </p14:sldIdLst>
        </p14:section>
        <p14:section name="Ejercicios en Zoom" id="{0a566d5c-e9ad-281f-5e17-c5450cb01869}">
          <p14:sldIdLst>
            <p14:sldId id="266"/>
            <p14:sldId id="267"/>
            <p14:sldId id="268"/>
            <p14:sldId id="269"/>
            <p14:sldId id="271"/>
            <p14:sldId id="272"/>
            <p14:sldId id="273"/>
          </p14:sldIdLst>
        </p14:section>
        <p14:section name="Foro 2" id="{3ba8d8ec-f1e0-a352-deaa-c811e1343f90}">
          <p14:sldIdLst>
            <p14:sldId id="270"/>
            <p14:sldId id="274"/>
          </p14:sldIdLst>
        </p14:section>
        <p14:section name="Cierre" id="{94c21b77-8ce4-b2a3-72a9-94e298afb728}">
          <p14:sldIdLst>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Bienvenida. Abre la sesión 2 por Zoom: hoy trabajamos la Unidad 2 y cerramos con dos ejercicios en equipos y con el formato del Foro 2. Duración total: 4 horas, con una pausa de 20 minutos. Verifica que el audio y la grabación estén activos antes de comenzar.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Recorre la agenda. Los tiempos suman 4 horas: 25 + 90 + 75 + 30 minutos más una pausa de 20 minutos. Ubica la pausa después del último tema de la Unidad 2 y ajusta según el ritmo del grupo.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Conecta con la sesión 1 y recuerda las fechas: Actividad 1 el domingo 1 de noviembre, Foro 2 el miércoles 4 de noviembre (los equipos se integran antes del viernes 6) y Actividad 2 el domingo 8 de noviembre. Cada entrega vale hasta el 10 % de la calificación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Activación de saberes previos. Da un minuto en silencio y pide que escriban en el chat de Zoom: una herramienta digital de su institución, un cambio que trajo y algo que siguió igual. Lee 3 o 4 aportaciones en voz alta; volveremos a ellas en el tema 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Tema 2.1. La educación para toda la vida. Aprender ya no termina con la etapa escolar: las trayectorias son flexibles y ocurren en espacios formales, no formales e informales. Pide ejemplos personales de aprendizaje informal y conéctalos con el video de Vanesa Baños.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Tema 2.2. La diversificación y la multiculturalidad. Las aulas, presenciales y digitales, reúnen diversidad de lenguas, ritmos, contextos y condiciones. Pide que cada persona nombre una diversidad que observe en su grupo o institución.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Tema 2.3. La integración de la tecnología y la innovación. Integrar tecnología no equivale a innovar. La escalera es una clasificación de trabajo para esta sesión, no una taxonomía cerrada. Usa la escalera para ubicar las herramientas del chat de la activación y prepara el Ejercicio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Tema 2.4. La era digital: una nueva misión en la escuela. Plantea que la escuela forma criterio, no solo transmite información. Pide que cada persona elija cuál de las cuatro capacidades es la más débil en su institución.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Tema 2.5. El impacto de la tecnología en la innovación. Presenta ambos lados sin tomar partido. Pide un ejemplo de cada columna desde la experiencia del grupo y cierra el bloque de temas antes de la pausa.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Materiales de la sesión 2. Los dos primeros son la activación «Veo, pienso, me pregunto»; el tercero es el video sugerido. Puedes proyectar fragmentos o dejarlos como lectura previa a los ejercicios. Los enlaces están en las referencias.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el bloque sincrónico. Después de la pausa se retoma por Zoom: Ejercicio 1 (30 minutos) y Ejercicio 2 (45 minutos). Pide a las personas volver con cámara encendida si es posible.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 Zoom antes de iniciar: crea la encuesta del Ejercicio 1, configura las salas de grupos con asignación automática (3 o 4 personas por sala) y comparte el documento colaborativo con un apartado por sala. Recuerda que el anfitrión puede enviar mensajes a todas las salas y definir un temporizador.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el ejercicio y lanza la encuesta de Zoom con tres opciones: cambia el soporte, mejora la tarea, cambia la forma de aprender. Aclara que no hay una única respuesta correcta: lo importante es argumentar con la escalera del tema 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Pasos 1 y 2 en la sala principal; paso 3 en salas de grupos (10 minutos, con aviso a los 2 minutos de terminar); pasos 4 y 5 de nuevo en la sala principal. Anota en el chat o en una pizarra las señales de innovación que mencionen.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 el formato obligatorio del Foro: Identificación de necesidades para la innovación. Los cuatro elementos vienen de una entrevista aplicada de manera económica a una persona informante clave de la escuela o del centro de trabajo. Aclara que la publicación no lleva archivos adjuntos y que no se debe identificar a la persona entrevistada sin su consentimiento.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 las salas de grupos con asignación automática y comparte el documento colaborativo. Cada sala escribe en su apartado. Circula entre las salas y recuerda que el ejercicio es un ensayo: la entrevista real se hace después, con la persona informante clave de su institución. En el paso 6, anota en una pizarra las afinidades que surjan: preparan la integración de equipos del Foro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Comparte esta plantilla en el documento colaborativo, con un apartado por sala. Cada sala llena una sola. La columna de la derecha es la que escriben durante el ejercicio.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Modera los tiempos: 2 minutos por sala y 1 minuto de comentarios. Esta plenaria funciona como una primera coevaluación informal. Pide que, al escuchar, anoten con qué personas tienen afinidad: servirá para integrar equipos en el foro.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Cierra el bloque del foro con las fechas y los dos temas del foro: «Diagnóstico de necesidades» e «Integración de equipos». Aclara que el equipo que se integre aquí continúa en la Actividad 2. Recuerda que, para pedir orientación si no encuentran afinidad, pueden escribir al Docente Digital.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Referencias en formato APA 7 de los videos de la sesión. El resto de las fuentes de la sesión están en la página de la Sesión 2 del sitio.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Cierra con preguntas de metacognición. Recuerda las fechas: Actividad 1 el domingo 1 de noviembre, Foro 2 el miércoles 4 de noviembre y Actividad 2 el domingo 8 de noviembre. La próxima sesión es el sábado 7 de noviembre.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IDO">
    <p:bg>
      <p:bgPr>
        <a:solidFill>
          <a:schemeClr val="bg1"/>
        </a:solidFill>
      </p:bgPr>
    </p:bg>
    <p:spTree>
      <p:nvGrpSpPr>
        <p:cNvPr id="1" name=""/>
        <p:cNvGrpSpPr/>
        <p:nvPr/>
      </p:nvGrpSpPr>
      <p:grpSpPr>
        <a:xfrm>
          <a:off x="0" y="0"/>
          <a:ext cx="0" cy="0"/>
          <a:chOff x="0" y="0"/>
          <a:chExt cx="0" cy="0"/>
        </a:xfrm>
      </p:grpSpPr>
      <p:pic>
        <p:nvPicPr>
          <p:cNvPr id="2" name="Image 0" descr="C:\Users\br19n\AppData\Local\Temp\claude\c--Users-br19n-Desktop-Archivo-material3\0b8cbddb-444a-4437-92b0-a7db9374cf70\scratchpad\build\img\logo.png">    </p:cNvPr>
          <p:cNvPicPr>
            <a:picLocks noChangeAspect="1"/>
          </p:cNvPicPr>
          <p:nvPr/>
        </p:nvPicPr>
        <p:blipFill>
          <a:blip r:embed="rId1"/>
          <a:stretch>
            <a:fillRect/>
          </a:stretch>
        </p:blipFill>
        <p:spPr>
          <a:xfrm>
            <a:off x="457200" y="4700016"/>
            <a:ext cx="621792" cy="274320"/>
          </a:xfrm>
          <a:prstGeom prst="rect">
            <a:avLst/>
          </a:prstGeom>
        </p:spPr>
      </p:pic>
      <p:sp>
        <p:nvSpPr>
          <p:cNvPr id="3" name="Text 0"/>
          <p:cNvSpPr/>
          <p:nvPr/>
        </p:nvSpPr>
        <p:spPr>
          <a:xfrm>
            <a:off x="1188720" y="4700016"/>
            <a:ext cx="5943600" cy="274320"/>
          </a:xfrm>
          <a:prstGeom prst="rect">
            <a:avLst/>
          </a:prstGeom>
          <a:noFill/>
          <a:ln/>
        </p:spPr>
        <p:txBody>
          <a:bodyPr wrap="square" lIns="0" tIns="0" rIns="0" bIns="0" rtlCol="0" anchor="ctr"/>
          <a:lstStyle/>
          <a:p>
            <a:pPr indent="0" marL="0">
              <a:buNone/>
            </a:pPr>
            <a:r>
              <a:rPr lang="en-US" sz="900" dirty="0">
                <a:solidFill>
                  <a:schemeClr val="accent4"/>
                </a:solidFill>
                <a:latin typeface="Calibri" pitchFamily="34" charset="0"/>
                <a:ea typeface="Calibri" pitchFamily="34" charset="-122"/>
                <a:cs typeface="Calibri" pitchFamily="34" charset="-120"/>
              </a:rPr>
              <a:t>Gestión de la Innovación Educativa en la Era Digital · Sesión 2</a:t>
            </a:r>
            <a:endParaRPr lang="en-US" sz="900" dirty="0"/>
          </a:p>
        </p:txBody>
      </p:sp>
      <p:sp>
        <p:nvSpPr>
          <p:cNvPr id="4" name="Text 1"/>
          <p:cNvSpPr/>
          <p:nvPr>
            <p:ph idx="102" type="title" hasCustomPrompt="1"/>
          </p:nvPr>
        </p:nvSpPr>
        <p:spPr>
          <a:xfrm>
            <a:off x="457200" y="274320"/>
            <a:ext cx="8229600" cy="685800"/>
          </a:xfrm>
          <a:prstGeom prst="rect">
            <a:avLst/>
          </a:prstGeom>
          <a:noFill/>
          <a:ln/>
        </p:spPr>
        <p:txBody>
          <a:bodyPr wrap="square" rtlCol="0"/>
          <a:lstStyle>
            <a:lvl1pPr algn="l" indent="0" marL="0">
              <a:buNone/>
              <a:defRPr lang="en-US" sz="28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8229600" y="470001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ZUL">
    <p:bg>
      <p:bgPr>
        <a:solidFill>
          <a:schemeClr val="accent1"/>
        </a:solidFill>
      </p:bgPr>
    </p:bg>
    <p:spTree>
      <p:nvGrpSpPr>
        <p:cNvPr id="1" name=""/>
        <p:cNvGrpSpPr/>
        <p:nvPr/>
      </p:nvGrpSpPr>
      <p:grpSpPr>
        <a:xfrm>
          <a:off x="0" y="0"/>
          <a:ext cx="0" cy="0"/>
          <a:chOff x="0" y="0"/>
          <a:chExt cx="0" cy="0"/>
        </a:xfrm>
      </p:grpSpPr>
      <p:sp>
        <p:nvSpPr>
          <p:cNvPr id="2" name="Text 0"/>
          <p:cNvSpPr/>
          <p:nvPr/>
        </p:nvSpPr>
        <p:spPr>
          <a:xfrm>
            <a:off x="457200" y="4700016"/>
            <a:ext cx="5943600" cy="274320"/>
          </a:xfrm>
          <a:prstGeom prst="rect">
            <a:avLst/>
          </a:prstGeom>
          <a:noFill/>
          <a:ln/>
        </p:spPr>
        <p:txBody>
          <a:bodyPr wrap="square" lIns="0" tIns="0" rIns="0" bIns="0" rtlCol="0" anchor="ctr"/>
          <a:lstStyle/>
          <a:p>
            <a:pPr indent="0" marL="0">
              <a:buNone/>
            </a:pPr>
            <a:r>
              <a:rPr lang="en-US" sz="900" dirty="0">
                <a:solidFill>
                  <a:schemeClr val="bg1"/>
                </a:solidFill>
                <a:latin typeface="Calibri" pitchFamily="34" charset="0"/>
                <a:ea typeface="Calibri" pitchFamily="34" charset="-122"/>
                <a:cs typeface="Calibri" pitchFamily="34" charset="-120"/>
              </a:rPr>
              <a:t>Gestión de la Innovación Educativa en la Era Digital · Sesión 2</a:t>
            </a:r>
            <a:endParaRPr lang="en-US" sz="900" dirty="0"/>
          </a:p>
        </p:txBody>
      </p:sp>
      <p:sp>
        <p:nvSpPr>
          <p:cNvPr id="3" name="Text 1"/>
          <p:cNvSpPr/>
          <p:nvPr>
            <p:ph idx="101" type="title" hasCustomPrompt="1"/>
          </p:nvPr>
        </p:nvSpPr>
        <p:spPr>
          <a:xfrm>
            <a:off x="457200" y="1234440"/>
            <a:ext cx="5486400" cy="1371600"/>
          </a:xfrm>
          <a:prstGeom prst="rect">
            <a:avLst/>
          </a:prstGeom>
          <a:noFill/>
          <a:ln/>
        </p:spPr>
        <p:txBody>
          <a:bodyPr wrap="square" rtlCol="0"/>
          <a:lstStyle>
            <a:lvl1pPr algn="l" indent="0" marL="0">
              <a:buNone/>
              <a:defRPr lang="en-US" sz="3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8229600" y="470001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bg1"/>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PORTADA">
    <p:bg>
      <p:bgPr>
        <a:solidFill>
          <a:schemeClr val="bg1"/>
        </a:solidFill>
      </p:bgPr>
    </p:bg>
    <p:spTree>
      <p:nvGrpSpPr>
        <p:cNvPr id="1" name=""/>
        <p:cNvGrpSpPr/>
        <p:nvPr/>
      </p:nvGrpSpPr>
      <p:grpSpPr>
        <a:xfrm>
          <a:off x="0" y="0"/>
          <a:ext cx="0" cy="0"/>
          <a:chOff x="0" y="0"/>
          <a:chExt cx="0" cy="0"/>
        </a:xfrm>
      </p:grpSpPr>
      <p:sp>
        <p:nvSpPr>
          <p:cNvPr id="2" name="Shape 0"/>
          <p:cNvSpPr/>
          <p:nvPr/>
        </p:nvSpPr>
        <p:spPr>
          <a:xfrm>
            <a:off x="0" y="0"/>
            <a:ext cx="4754880" cy="5143500"/>
          </a:xfrm>
          <a:prstGeom prst="rect">
            <a:avLst/>
          </a:prstGeom>
          <a:solidFill>
            <a:schemeClr val="tx2"/>
          </a:solidFill>
          <a:ln/>
        </p:spPr>
      </p:sp>
      <p:sp>
        <p:nvSpPr>
          <p:cNvPr id="3" name="Text 1"/>
          <p:cNvSpPr/>
          <p:nvPr>
            <p:ph idx="101" type="title" hasCustomPrompt="1"/>
          </p:nvPr>
        </p:nvSpPr>
        <p:spPr>
          <a:xfrm>
            <a:off x="457200" y="914400"/>
            <a:ext cx="4023360" cy="1554480"/>
          </a:xfrm>
          <a:prstGeom prst="rect">
            <a:avLst/>
          </a:prstGeom>
          <a:noFill/>
          <a:ln/>
        </p:spPr>
        <p:txBody>
          <a:bodyPr wrap="square" rtlCol="0"/>
          <a:lstStyle>
            <a:lvl1pPr algn="l" indent="0" marL="0">
              <a:buNone/>
              <a:defRPr lang="en-US" sz="26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2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0001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2.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hyperlink" Target="https://n9.cl/aku11e" TargetMode="External"/><Relationship Id="rId4" Type="http://schemas.openxmlformats.org/officeDocument/2006/relationships/hyperlink" Target="https://n9.cl/xhs1wq" TargetMode="External"/><Relationship Id="rId6" Type="http://schemas.openxmlformats.org/officeDocument/2006/relationships/hyperlink" Target="https://n9.cl/prxalu" TargetMode="External"/><Relationship Id="rId1" Type="http://schemas.openxmlformats.org/officeDocument/2006/relationships/image" Target="../media/image-10-1.png"/><Relationship Id="rId3" Type="http://schemas.openxmlformats.org/officeDocument/2006/relationships/image" Target="../media/image-10-2.png"/><Relationship Id="rId5" Type="http://schemas.openxmlformats.org/officeDocument/2006/relationships/image" Target="../media/image-10-3.png"/><Relationship Id="rId7" Type="http://schemas.openxmlformats.org/officeDocument/2006/relationships/slideLayout" Target="../slideLayouts/slideLayout2.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2.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hyperlink" Target="https://n9.cl/xhs1wq" TargetMode="External"/><Relationship Id="rId2" Type="http://schemas.openxmlformats.org/officeDocument/2006/relationships/hyperlink" Target="https://n9.cl/prxalu" TargetMode="External"/><Relationship Id="rId3" Type="http://schemas.openxmlformats.org/officeDocument/2006/relationships/hyperlink" Target="https://n9.cl/aku11e" TargetMode="External"/><Relationship Id="rId4" Type="http://schemas.openxmlformats.org/officeDocument/2006/relationships/slideLayout" Target="../slideLayouts/slideLayout2.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3.xml"/><Relationship Id="rId3"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457200" y="411480"/>
            <a:ext cx="4023360" cy="365760"/>
          </a:xfrm>
          <a:prstGeom prst="rect">
            <a:avLst/>
          </a:prstGeom>
          <a:noFill/>
          <a:ln/>
        </p:spPr>
        <p:txBody>
          <a:bodyPr wrap="square" lIns="0" tIns="0" rIns="0" bIns="0" rtlCol="0" anchor="ctr"/>
          <a:lstStyle/>
          <a:p>
            <a:pPr indent="0" marL="0">
              <a:buNone/>
            </a:pPr>
            <a:r>
              <a:rPr lang="en-US" sz="1100" dirty="0">
                <a:solidFill>
                  <a:schemeClr val="bg1"/>
                </a:solidFill>
                <a:latin typeface="Calibri" pitchFamily="34" charset="0"/>
                <a:ea typeface="Calibri" pitchFamily="34" charset="-122"/>
                <a:cs typeface="Calibri" pitchFamily="34" charset="-120"/>
              </a:rPr>
              <a:t>Maestría en Educación · Universidad Cristóbal Colón</a:t>
            </a:r>
            <a:endParaRPr lang="en-US" sz="1100" dirty="0"/>
          </a:p>
        </p:txBody>
      </p:sp>
      <p:sp>
        <p:nvSpPr>
          <p:cNvPr id="3" name="Text 1"/>
          <p:cNvSpPr/>
          <p:nvPr>
            <p:ph idx="101" type="title" hasCustomPrompt="1"/>
          </p:nvPr>
        </p:nvSpPr>
        <p:spPr>
          <a:xfrm>
            <a:off x="457200" y="914400"/>
            <a:ext cx="4023360" cy="1554480"/>
          </a:xfrm>
          <a:prstGeom prst="rect">
            <a:avLst/>
          </a:prstGeom>
          <a:noFill/>
          <a:ln/>
        </p:spPr>
        <p:txBody>
          <a:bodyPr wrap="square" lIns="0" tIns="0" rIns="0" bIns="0" rtlCol="0" anchor="t"/>
          <a:lstStyle/>
          <a:p>
            <a:pPr algn="l" indent="0" marL="0">
              <a:buNone/>
            </a:pPr>
            <a:r>
              <a:rPr lang="en-US" sz="2600" b="1" dirty="0">
                <a:solidFill>
                  <a:schemeClr val="bg1"/>
                </a:solidFill>
                <a:latin typeface="Cambria" pitchFamily="34" charset="0"/>
                <a:ea typeface="Cambria" pitchFamily="34" charset="-122"/>
                <a:cs typeface="Cambria" pitchFamily="34" charset="-120"/>
              </a:rPr>
              <a:t>Gestión de la Innovación Educativa en la Era Digital</a:t>
            </a:r>
            <a:endParaRPr lang="en-US" sz="2600" dirty="0"/>
          </a:p>
        </p:txBody>
      </p:sp>
      <p:sp>
        <p:nvSpPr>
          <p:cNvPr id="4" name="Text 2"/>
          <p:cNvSpPr txBox="1"/>
          <p:nvPr/>
        </p:nvSpPr>
        <p:spPr>
          <a:xfrm>
            <a:off x="457200" y="2606040"/>
            <a:ext cx="4023360" cy="640080"/>
          </a:xfrm>
          <a:prstGeom prst="rect">
            <a:avLst/>
          </a:prstGeom>
          <a:noFill/>
          <a:ln/>
        </p:spPr>
        <p:txBody>
          <a:bodyPr wrap="square" lIns="0" tIns="0" rIns="0" bIns="0" rtlCol="0" anchor="ctr"/>
          <a:lstStyle/>
          <a:p>
            <a:pPr indent="0" marL="0">
              <a:buNone/>
            </a:pPr>
            <a:r>
              <a:rPr lang="en-US" sz="1500" dirty="0">
                <a:solidFill>
                  <a:schemeClr val="accent3"/>
                </a:solidFill>
                <a:latin typeface="Calibri" pitchFamily="34" charset="0"/>
                <a:ea typeface="Calibri" pitchFamily="34" charset="-122"/>
                <a:cs typeface="Calibri" pitchFamily="34" charset="-120"/>
              </a:rPr>
              <a:t>Sesión 2 · Unidad 2. La innovación educativa en la era digital</a:t>
            </a:r>
            <a:endParaRPr lang="en-US" sz="1500" dirty="0"/>
          </a:p>
        </p:txBody>
      </p:sp>
      <p:sp>
        <p:nvSpPr>
          <p:cNvPr id="5" name="Text 3"/>
          <p:cNvSpPr txBox="1"/>
          <p:nvPr/>
        </p:nvSpPr>
        <p:spPr>
          <a:xfrm>
            <a:off x="457200" y="3429000"/>
            <a:ext cx="4023360" cy="594360"/>
          </a:xfrm>
          <a:prstGeom prst="rect">
            <a:avLst/>
          </a:prstGeom>
          <a:noFill/>
          <a:ln/>
        </p:spPr>
        <p:txBody>
          <a:bodyPr wrap="square" lIns="0" tIns="0" rIns="0" bIns="0" rtlCol="0" anchor="ctr"/>
          <a:lstStyle/>
          <a:p>
            <a:pPr indent="0" marL="0">
              <a:buNone/>
            </a:pPr>
            <a:r>
              <a:rPr lang="en-US" sz="1200" dirty="0">
                <a:solidFill>
                  <a:schemeClr val="bg1"/>
                </a:solidFill>
                <a:latin typeface="Calibri" pitchFamily="34" charset="0"/>
                <a:ea typeface="Calibri" pitchFamily="34" charset="-122"/>
                <a:cs typeface="Calibri" pitchFamily="34" charset="-120"/>
              </a:rPr>
              <a:t>Sábado 31 de Octubre de 2026 · 09:00h a 13:00h</a:t>
            </a:r>
            <a:endParaRPr lang="en-US" sz="1200" dirty="0"/>
          </a:p>
          <a:p>
            <a:pPr indent="0" marL="0">
              <a:buNone/>
            </a:pPr>
            <a:r>
              <a:rPr lang="en-US" sz="1200" dirty="0">
                <a:solidFill>
                  <a:schemeClr val="bg1"/>
                </a:solidFill>
                <a:latin typeface="Calibri" pitchFamily="34" charset="0"/>
                <a:ea typeface="Calibri" pitchFamily="34" charset="-122"/>
                <a:cs typeface="Calibri" pitchFamily="34" charset="-120"/>
              </a:rPr>
              <a:t>Sesión sincrónica por Zoom</a:t>
            </a:r>
            <a:endParaRPr lang="en-US" sz="1200" dirty="0"/>
          </a:p>
        </p:txBody>
      </p:sp>
      <p:sp>
        <p:nvSpPr>
          <p:cNvPr id="6" name="Text 4"/>
          <p:cNvSpPr txBox="1"/>
          <p:nvPr/>
        </p:nvSpPr>
        <p:spPr>
          <a:xfrm>
            <a:off x="457200" y="4434840"/>
            <a:ext cx="4023360" cy="274320"/>
          </a:xfrm>
          <a:prstGeom prst="rect">
            <a:avLst/>
          </a:prstGeom>
          <a:noFill/>
          <a:ln/>
        </p:spPr>
        <p:txBody>
          <a:bodyPr wrap="square" lIns="0" tIns="0" rIns="0" bIns="0" rtlCol="0" anchor="ctr"/>
          <a:lstStyle/>
          <a:p>
            <a:pPr indent="0" marL="0">
              <a:buNone/>
            </a:pPr>
            <a:r>
              <a:rPr lang="en-US" sz="1100" dirty="0">
                <a:solidFill>
                  <a:schemeClr val="accent3"/>
                </a:solidFill>
                <a:latin typeface="Calibri" pitchFamily="34" charset="0"/>
                <a:ea typeface="Calibri" pitchFamily="34" charset="-122"/>
                <a:cs typeface="Calibri" pitchFamily="34" charset="-120"/>
              </a:rPr>
              <a:t>Herson Alfonso Castellanos Celis</a:t>
            </a:r>
            <a:endParaRPr lang="en-US" sz="1100" dirty="0"/>
          </a:p>
        </p:txBody>
      </p:sp>
      <p:pic>
        <p:nvPicPr>
          <p:cNvPr id="7" name="Image 0" descr="Universidad Cristóbal Colón">    </p:cNvPr>
          <p:cNvPicPr>
            <a:picLocks noChangeAspect="1"/>
          </p:cNvPicPr>
          <p:nvPr/>
        </p:nvPicPr>
        <p:blipFill>
          <a:blip r:embed="rId1"/>
          <a:stretch>
            <a:fillRect/>
          </a:stretch>
        </p:blipFill>
        <p:spPr>
          <a:xfrm>
            <a:off x="5212080" y="365760"/>
            <a:ext cx="2834640" cy="1243584"/>
          </a:xfrm>
          <a:prstGeom prst="rect">
            <a:avLst/>
          </a:prstGeom>
        </p:spPr>
      </p:pic>
      <p:pic>
        <p:nvPicPr>
          <p:cNvPr id="8" name="Image 1" descr="Persona y estudiante frente a una pantalla con globo terráqueo y libros">    </p:cNvPr>
          <p:cNvPicPr>
            <a:picLocks noChangeAspect="1"/>
          </p:cNvPicPr>
          <p:nvPr/>
        </p:nvPicPr>
        <p:blipFill>
          <a:blip r:embed="rId2"/>
          <a:stretch>
            <a:fillRect/>
          </a:stretch>
        </p:blipFill>
        <p:spPr>
          <a:xfrm>
            <a:off x="4983480" y="1737360"/>
            <a:ext cx="3291840" cy="30175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Agenda de la sesión</a:t>
            </a:r>
            <a:endParaRPr lang="en-US" sz="2800" dirty="0"/>
          </a:p>
        </p:txBody>
      </p:sp>
      <p:sp>
        <p:nvSpPr>
          <p:cNvPr id="3" name="agenda 1"/>
          <p:cNvSpPr/>
          <p:nvPr/>
        </p:nvSpPr>
        <p:spPr>
          <a:xfrm>
            <a:off x="457200" y="1188720"/>
            <a:ext cx="1920240" cy="2834640"/>
          </a:xfrm>
          <a:prstGeom prst="roundRect">
            <a:avLst>
              <a:gd name="adj" fmla="val 4762"/>
            </a:avLst>
          </a:prstGeom>
          <a:solidFill>
            <a:schemeClr val="bg2"/>
          </a:solidFill>
          <a:ln w="12700">
            <a:solidFill>
              <a:schemeClr val="bg2"/>
            </a:solidFill>
            <a:prstDash val="solid"/>
          </a:ln>
        </p:spPr>
      </p:sp>
      <p:sp>
        <p:nvSpPr>
          <p:cNvPr id="4" name="Text 2"/>
          <p:cNvSpPr txBox="1"/>
          <p:nvPr/>
        </p:nvSpPr>
        <p:spPr>
          <a:xfrm>
            <a:off x="640080" y="1325880"/>
            <a:ext cx="1554480" cy="54864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1</a:t>
            </a:r>
            <a:endParaRPr lang="en-US" sz="3200" dirty="0"/>
          </a:p>
        </p:txBody>
      </p:sp>
      <p:sp>
        <p:nvSpPr>
          <p:cNvPr id="5" name="Text 3"/>
          <p:cNvSpPr txBox="1"/>
          <p:nvPr/>
        </p:nvSpPr>
        <p:spPr>
          <a:xfrm>
            <a:off x="640080" y="1920240"/>
            <a:ext cx="1554480" cy="548640"/>
          </a:xfrm>
          <a:prstGeom prst="rect">
            <a:avLst/>
          </a:prstGeom>
          <a:noFill/>
          <a:ln/>
        </p:spPr>
        <p:txBody>
          <a:bodyPr wrap="square" lIns="0" tIns="0" rIns="0" bIns="0" rtlCol="0" anchor="t"/>
          <a:lstStyle/>
          <a:p>
            <a:pPr indent="0" marL="0">
              <a:buNone/>
            </a:pPr>
            <a:r>
              <a:rPr lang="en-US" sz="1500" b="1" dirty="0">
                <a:solidFill>
                  <a:schemeClr val="tx2"/>
                </a:solidFill>
                <a:latin typeface="Calibri" pitchFamily="34" charset="0"/>
                <a:ea typeface="Calibri" pitchFamily="34" charset="-122"/>
                <a:cs typeface="Calibri" pitchFamily="34" charset="-120"/>
              </a:rPr>
              <a:t>Bienvenida y activación</a:t>
            </a:r>
            <a:endParaRPr lang="en-US" sz="1500" dirty="0"/>
          </a:p>
        </p:txBody>
      </p:sp>
      <p:sp>
        <p:nvSpPr>
          <p:cNvPr id="6" name="Text 4"/>
          <p:cNvSpPr txBox="1"/>
          <p:nvPr/>
        </p:nvSpPr>
        <p:spPr>
          <a:xfrm>
            <a:off x="640080" y="2514600"/>
            <a:ext cx="1554480" cy="1005840"/>
          </a:xfrm>
          <a:prstGeom prst="rect">
            <a:avLst/>
          </a:prstGeom>
          <a:noFill/>
          <a:ln/>
        </p:spPr>
        <p:txBody>
          <a:bodyPr wrap="square" lIns="0" tIns="0" rIns="0" bIns="0" rtlCol="0" anchor="t"/>
          <a:lstStyle/>
          <a:p>
            <a:pPr indent="0" marL="0">
              <a:buNone/>
            </a:pPr>
            <a:r>
              <a:rPr lang="en-US" sz="1250" dirty="0">
                <a:solidFill>
                  <a:schemeClr val="tx1"/>
                </a:solidFill>
                <a:latin typeface="Calibri" pitchFamily="34" charset="0"/>
                <a:ea typeface="Calibri" pitchFamily="34" charset="-122"/>
                <a:cs typeface="Calibri" pitchFamily="34" charset="-120"/>
              </a:rPr>
              <a:t>Retomamos la Unidad 1 y preguntamos qué cambia con lo digital.</a:t>
            </a:r>
            <a:endParaRPr lang="en-US" sz="1250" dirty="0"/>
          </a:p>
        </p:txBody>
      </p:sp>
      <p:sp>
        <p:nvSpPr>
          <p:cNvPr id="7" name="Text 5"/>
          <p:cNvSpPr txBox="1"/>
          <p:nvPr/>
        </p:nvSpPr>
        <p:spPr>
          <a:xfrm>
            <a:off x="640080" y="3611880"/>
            <a:ext cx="1554480" cy="274320"/>
          </a:xfrm>
          <a:prstGeom prst="rect">
            <a:avLst/>
          </a:prstGeom>
          <a:noFill/>
          <a:ln/>
        </p:spPr>
        <p:txBody>
          <a:bodyPr wrap="square" lIns="0" tIns="0" rIns="0" bIns="0" rtlCol="0" anchor="ctr"/>
          <a:lstStyle/>
          <a:p>
            <a:pPr indent="0" marL="0">
              <a:buNone/>
            </a:pPr>
            <a:r>
              <a:rPr lang="en-US" sz="1300" b="1" dirty="0">
                <a:solidFill>
                  <a:schemeClr val="accent1"/>
                </a:solidFill>
                <a:latin typeface="Calibri" pitchFamily="34" charset="0"/>
                <a:ea typeface="Calibri" pitchFamily="34" charset="-122"/>
                <a:cs typeface="Calibri" pitchFamily="34" charset="-120"/>
              </a:rPr>
              <a:t>25 min</a:t>
            </a:r>
            <a:endParaRPr lang="en-US" sz="1300" dirty="0"/>
          </a:p>
        </p:txBody>
      </p:sp>
      <p:sp>
        <p:nvSpPr>
          <p:cNvPr id="8" name="agenda 2"/>
          <p:cNvSpPr/>
          <p:nvPr/>
        </p:nvSpPr>
        <p:spPr>
          <a:xfrm>
            <a:off x="2560320" y="1188720"/>
            <a:ext cx="1920240" cy="2834640"/>
          </a:xfrm>
          <a:prstGeom prst="roundRect">
            <a:avLst>
              <a:gd name="adj" fmla="val 4762"/>
            </a:avLst>
          </a:prstGeom>
          <a:solidFill>
            <a:schemeClr val="bg2"/>
          </a:solidFill>
          <a:ln w="12700">
            <a:solidFill>
              <a:schemeClr val="bg2"/>
            </a:solidFill>
            <a:prstDash val="solid"/>
          </a:ln>
        </p:spPr>
      </p:sp>
      <p:sp>
        <p:nvSpPr>
          <p:cNvPr id="9" name="Text 7"/>
          <p:cNvSpPr txBox="1"/>
          <p:nvPr/>
        </p:nvSpPr>
        <p:spPr>
          <a:xfrm>
            <a:off x="2743200" y="1325880"/>
            <a:ext cx="1554480" cy="54864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2</a:t>
            </a:r>
            <a:endParaRPr lang="en-US" sz="3200" dirty="0"/>
          </a:p>
        </p:txBody>
      </p:sp>
      <p:sp>
        <p:nvSpPr>
          <p:cNvPr id="10" name="Text 8"/>
          <p:cNvSpPr txBox="1"/>
          <p:nvPr/>
        </p:nvSpPr>
        <p:spPr>
          <a:xfrm>
            <a:off x="2743200" y="1920240"/>
            <a:ext cx="1554480" cy="548640"/>
          </a:xfrm>
          <a:prstGeom prst="rect">
            <a:avLst/>
          </a:prstGeom>
          <a:noFill/>
          <a:ln/>
        </p:spPr>
        <p:txBody>
          <a:bodyPr wrap="square" lIns="0" tIns="0" rIns="0" bIns="0" rtlCol="0" anchor="t"/>
          <a:lstStyle/>
          <a:p>
            <a:pPr indent="0" marL="0">
              <a:buNone/>
            </a:pPr>
            <a:r>
              <a:rPr lang="en-US" sz="1500" b="1" dirty="0">
                <a:solidFill>
                  <a:schemeClr val="tx2"/>
                </a:solidFill>
                <a:latin typeface="Calibri" pitchFamily="34" charset="0"/>
                <a:ea typeface="Calibri" pitchFamily="34" charset="-122"/>
                <a:cs typeface="Calibri" pitchFamily="34" charset="-120"/>
              </a:rPr>
              <a:t>Unidad 2</a:t>
            </a:r>
            <a:endParaRPr lang="en-US" sz="1500" dirty="0"/>
          </a:p>
        </p:txBody>
      </p:sp>
      <p:sp>
        <p:nvSpPr>
          <p:cNvPr id="11" name="Text 9"/>
          <p:cNvSpPr txBox="1"/>
          <p:nvPr/>
        </p:nvSpPr>
        <p:spPr>
          <a:xfrm>
            <a:off x="2743200" y="2514600"/>
            <a:ext cx="1554480" cy="1005840"/>
          </a:xfrm>
          <a:prstGeom prst="rect">
            <a:avLst/>
          </a:prstGeom>
          <a:noFill/>
          <a:ln/>
        </p:spPr>
        <p:txBody>
          <a:bodyPr wrap="square" lIns="0" tIns="0" rIns="0" bIns="0" rtlCol="0" anchor="t"/>
          <a:lstStyle/>
          <a:p>
            <a:pPr indent="0" marL="0">
              <a:buNone/>
            </a:pPr>
            <a:r>
              <a:rPr lang="en-US" sz="1250" dirty="0">
                <a:solidFill>
                  <a:schemeClr val="tx1"/>
                </a:solidFill>
                <a:latin typeface="Calibri" pitchFamily="34" charset="0"/>
                <a:ea typeface="Calibri" pitchFamily="34" charset="-122"/>
                <a:cs typeface="Calibri" pitchFamily="34" charset="-120"/>
              </a:rPr>
              <a:t>Cinco temas para pensar la innovación educativa en la era digital.</a:t>
            </a:r>
            <a:endParaRPr lang="en-US" sz="1250" dirty="0"/>
          </a:p>
        </p:txBody>
      </p:sp>
      <p:sp>
        <p:nvSpPr>
          <p:cNvPr id="12" name="Text 10"/>
          <p:cNvSpPr txBox="1"/>
          <p:nvPr/>
        </p:nvSpPr>
        <p:spPr>
          <a:xfrm>
            <a:off x="2743200" y="3611880"/>
            <a:ext cx="1554480" cy="274320"/>
          </a:xfrm>
          <a:prstGeom prst="rect">
            <a:avLst/>
          </a:prstGeom>
          <a:noFill/>
          <a:ln/>
        </p:spPr>
        <p:txBody>
          <a:bodyPr wrap="square" lIns="0" tIns="0" rIns="0" bIns="0" rtlCol="0" anchor="ctr"/>
          <a:lstStyle/>
          <a:p>
            <a:pPr indent="0" marL="0">
              <a:buNone/>
            </a:pPr>
            <a:r>
              <a:rPr lang="en-US" sz="1300" b="1" dirty="0">
                <a:solidFill>
                  <a:schemeClr val="accent1"/>
                </a:solidFill>
                <a:latin typeface="Calibri" pitchFamily="34" charset="0"/>
                <a:ea typeface="Calibri" pitchFamily="34" charset="-122"/>
                <a:cs typeface="Calibri" pitchFamily="34" charset="-120"/>
              </a:rPr>
              <a:t>90 min</a:t>
            </a:r>
            <a:endParaRPr lang="en-US" sz="1300" dirty="0"/>
          </a:p>
        </p:txBody>
      </p:sp>
      <p:sp>
        <p:nvSpPr>
          <p:cNvPr id="13" name="agenda 3"/>
          <p:cNvSpPr/>
          <p:nvPr/>
        </p:nvSpPr>
        <p:spPr>
          <a:xfrm>
            <a:off x="4663440" y="1188720"/>
            <a:ext cx="1920240" cy="2834640"/>
          </a:xfrm>
          <a:prstGeom prst="roundRect">
            <a:avLst>
              <a:gd name="adj" fmla="val 4762"/>
            </a:avLst>
          </a:prstGeom>
          <a:solidFill>
            <a:schemeClr val="bg2"/>
          </a:solidFill>
          <a:ln w="12700">
            <a:solidFill>
              <a:schemeClr val="bg2"/>
            </a:solidFill>
            <a:prstDash val="solid"/>
          </a:ln>
        </p:spPr>
      </p:sp>
      <p:sp>
        <p:nvSpPr>
          <p:cNvPr id="14" name="Text 12"/>
          <p:cNvSpPr txBox="1"/>
          <p:nvPr/>
        </p:nvSpPr>
        <p:spPr>
          <a:xfrm>
            <a:off x="4846320" y="1325880"/>
            <a:ext cx="1554480" cy="54864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3</a:t>
            </a:r>
            <a:endParaRPr lang="en-US" sz="3200" dirty="0"/>
          </a:p>
        </p:txBody>
      </p:sp>
      <p:sp>
        <p:nvSpPr>
          <p:cNvPr id="15" name="Text 13"/>
          <p:cNvSpPr txBox="1"/>
          <p:nvPr/>
        </p:nvSpPr>
        <p:spPr>
          <a:xfrm>
            <a:off x="4846320" y="1920240"/>
            <a:ext cx="1554480" cy="548640"/>
          </a:xfrm>
          <a:prstGeom prst="rect">
            <a:avLst/>
          </a:prstGeom>
          <a:noFill/>
          <a:ln/>
        </p:spPr>
        <p:txBody>
          <a:bodyPr wrap="square" lIns="0" tIns="0" rIns="0" bIns="0" rtlCol="0" anchor="t"/>
          <a:lstStyle/>
          <a:p>
            <a:pPr indent="0" marL="0">
              <a:buNone/>
            </a:pPr>
            <a:r>
              <a:rPr lang="en-US" sz="1500" b="1" dirty="0">
                <a:solidFill>
                  <a:schemeClr val="tx2"/>
                </a:solidFill>
                <a:latin typeface="Calibri" pitchFamily="34" charset="0"/>
                <a:ea typeface="Calibri" pitchFamily="34" charset="-122"/>
                <a:cs typeface="Calibri" pitchFamily="34" charset="-120"/>
              </a:rPr>
              <a:t>Ejercicios en Zoom</a:t>
            </a:r>
            <a:endParaRPr lang="en-US" sz="1500" dirty="0"/>
          </a:p>
        </p:txBody>
      </p:sp>
      <p:sp>
        <p:nvSpPr>
          <p:cNvPr id="16" name="Text 14"/>
          <p:cNvSpPr txBox="1"/>
          <p:nvPr/>
        </p:nvSpPr>
        <p:spPr>
          <a:xfrm>
            <a:off x="4846320" y="2514600"/>
            <a:ext cx="1554480" cy="1005840"/>
          </a:xfrm>
          <a:prstGeom prst="rect">
            <a:avLst/>
          </a:prstGeom>
          <a:noFill/>
          <a:ln/>
        </p:spPr>
        <p:txBody>
          <a:bodyPr wrap="square" lIns="0" tIns="0" rIns="0" bIns="0" rtlCol="0" anchor="t"/>
          <a:lstStyle/>
          <a:p>
            <a:pPr indent="0" marL="0">
              <a:buNone/>
            </a:pPr>
            <a:r>
              <a:rPr lang="en-US" sz="1250" dirty="0">
                <a:solidFill>
                  <a:schemeClr val="tx1"/>
                </a:solidFill>
                <a:latin typeface="Calibri" pitchFamily="34" charset="0"/>
                <a:ea typeface="Calibri" pitchFamily="34" charset="-122"/>
                <a:cs typeface="Calibri" pitchFamily="34" charset="-120"/>
              </a:rPr>
              <a:t>Dos ejercicios sincrónicos, en salas de grupos.</a:t>
            </a:r>
            <a:endParaRPr lang="en-US" sz="1250" dirty="0"/>
          </a:p>
        </p:txBody>
      </p:sp>
      <p:sp>
        <p:nvSpPr>
          <p:cNvPr id="17" name="Text 15"/>
          <p:cNvSpPr txBox="1"/>
          <p:nvPr/>
        </p:nvSpPr>
        <p:spPr>
          <a:xfrm>
            <a:off x="4846320" y="3611880"/>
            <a:ext cx="1554480" cy="274320"/>
          </a:xfrm>
          <a:prstGeom prst="rect">
            <a:avLst/>
          </a:prstGeom>
          <a:noFill/>
          <a:ln/>
        </p:spPr>
        <p:txBody>
          <a:bodyPr wrap="square" lIns="0" tIns="0" rIns="0" bIns="0" rtlCol="0" anchor="ctr"/>
          <a:lstStyle/>
          <a:p>
            <a:pPr indent="0" marL="0">
              <a:buNone/>
            </a:pPr>
            <a:r>
              <a:rPr lang="en-US" sz="1300" b="1" dirty="0">
                <a:solidFill>
                  <a:schemeClr val="accent1"/>
                </a:solidFill>
                <a:latin typeface="Calibri" pitchFamily="34" charset="0"/>
                <a:ea typeface="Calibri" pitchFamily="34" charset="-122"/>
                <a:cs typeface="Calibri" pitchFamily="34" charset="-120"/>
              </a:rPr>
              <a:t>75 min</a:t>
            </a:r>
            <a:endParaRPr lang="en-US" sz="1300" dirty="0"/>
          </a:p>
        </p:txBody>
      </p:sp>
      <p:sp>
        <p:nvSpPr>
          <p:cNvPr id="18" name="agenda 4"/>
          <p:cNvSpPr/>
          <p:nvPr/>
        </p:nvSpPr>
        <p:spPr>
          <a:xfrm>
            <a:off x="6766560" y="1188720"/>
            <a:ext cx="1920240" cy="2834640"/>
          </a:xfrm>
          <a:prstGeom prst="roundRect">
            <a:avLst>
              <a:gd name="adj" fmla="val 4762"/>
            </a:avLst>
          </a:prstGeom>
          <a:solidFill>
            <a:schemeClr val="bg2"/>
          </a:solidFill>
          <a:ln w="12700">
            <a:solidFill>
              <a:schemeClr val="bg2"/>
            </a:solidFill>
            <a:prstDash val="solid"/>
          </a:ln>
        </p:spPr>
      </p:sp>
      <p:sp>
        <p:nvSpPr>
          <p:cNvPr id="19" name="Text 17"/>
          <p:cNvSpPr txBox="1"/>
          <p:nvPr/>
        </p:nvSpPr>
        <p:spPr>
          <a:xfrm>
            <a:off x="6949440" y="1325880"/>
            <a:ext cx="1554480" cy="54864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4</a:t>
            </a:r>
            <a:endParaRPr lang="en-US" sz="3200" dirty="0"/>
          </a:p>
        </p:txBody>
      </p:sp>
      <p:sp>
        <p:nvSpPr>
          <p:cNvPr id="20" name="Text 18"/>
          <p:cNvSpPr txBox="1"/>
          <p:nvPr/>
        </p:nvSpPr>
        <p:spPr>
          <a:xfrm>
            <a:off x="6949440" y="1920240"/>
            <a:ext cx="1554480" cy="548640"/>
          </a:xfrm>
          <a:prstGeom prst="rect">
            <a:avLst/>
          </a:prstGeom>
          <a:noFill/>
          <a:ln/>
        </p:spPr>
        <p:txBody>
          <a:bodyPr wrap="square" lIns="0" tIns="0" rIns="0" bIns="0" rtlCol="0" anchor="t"/>
          <a:lstStyle/>
          <a:p>
            <a:pPr indent="0" marL="0">
              <a:buNone/>
            </a:pPr>
            <a:r>
              <a:rPr lang="en-US" sz="1500" b="1" dirty="0">
                <a:solidFill>
                  <a:schemeClr val="tx2"/>
                </a:solidFill>
                <a:latin typeface="Calibri" pitchFamily="34" charset="0"/>
                <a:ea typeface="Calibri" pitchFamily="34" charset="-122"/>
                <a:cs typeface="Calibri" pitchFamily="34" charset="-120"/>
              </a:rPr>
              <a:t>Foro 2 y cierre</a:t>
            </a:r>
            <a:endParaRPr lang="en-US" sz="1500" dirty="0"/>
          </a:p>
        </p:txBody>
      </p:sp>
      <p:sp>
        <p:nvSpPr>
          <p:cNvPr id="21" name="Text 19"/>
          <p:cNvSpPr txBox="1"/>
          <p:nvPr/>
        </p:nvSpPr>
        <p:spPr>
          <a:xfrm>
            <a:off x="6949440" y="2514600"/>
            <a:ext cx="1554480" cy="1005840"/>
          </a:xfrm>
          <a:prstGeom prst="rect">
            <a:avLst/>
          </a:prstGeom>
          <a:noFill/>
          <a:ln/>
        </p:spPr>
        <p:txBody>
          <a:bodyPr wrap="square" lIns="0" tIns="0" rIns="0" bIns="0" rtlCol="0" anchor="t"/>
          <a:lstStyle/>
          <a:p>
            <a:pPr indent="0" marL="0">
              <a:buNone/>
            </a:pPr>
            <a:r>
              <a:rPr lang="en-US" sz="1250" dirty="0">
                <a:solidFill>
                  <a:schemeClr val="tx1"/>
                </a:solidFill>
                <a:latin typeface="Calibri" pitchFamily="34" charset="0"/>
                <a:ea typeface="Calibri" pitchFamily="34" charset="-122"/>
                <a:cs typeface="Calibri" pitchFamily="34" charset="-120"/>
              </a:rPr>
              <a:t>Identificación de necesidades y próximas entregas.</a:t>
            </a:r>
            <a:endParaRPr lang="en-US" sz="1250" dirty="0"/>
          </a:p>
        </p:txBody>
      </p:sp>
      <p:sp>
        <p:nvSpPr>
          <p:cNvPr id="22" name="Text 20"/>
          <p:cNvSpPr txBox="1"/>
          <p:nvPr/>
        </p:nvSpPr>
        <p:spPr>
          <a:xfrm>
            <a:off x="6949440" y="3611880"/>
            <a:ext cx="1554480" cy="274320"/>
          </a:xfrm>
          <a:prstGeom prst="rect">
            <a:avLst/>
          </a:prstGeom>
          <a:noFill/>
          <a:ln/>
        </p:spPr>
        <p:txBody>
          <a:bodyPr wrap="square" lIns="0" tIns="0" rIns="0" bIns="0" rtlCol="0" anchor="ctr"/>
          <a:lstStyle/>
          <a:p>
            <a:pPr indent="0" marL="0">
              <a:buNone/>
            </a:pPr>
            <a:r>
              <a:rPr lang="en-US" sz="1300" b="1" dirty="0">
                <a:solidFill>
                  <a:schemeClr val="accent1"/>
                </a:solidFill>
                <a:latin typeface="Calibri" pitchFamily="34" charset="0"/>
                <a:ea typeface="Calibri" pitchFamily="34" charset="-122"/>
                <a:cs typeface="Calibri" pitchFamily="34" charset="-120"/>
              </a:rPr>
              <a:t>30 min</a:t>
            </a:r>
            <a:endParaRPr lang="en-US" sz="1300" dirty="0"/>
          </a:p>
        </p:txBody>
      </p:sp>
      <p:sp>
        <p:nvSpPr>
          <p:cNvPr id="23" name="Text 21"/>
          <p:cNvSpPr txBox="1"/>
          <p:nvPr/>
        </p:nvSpPr>
        <p:spPr>
          <a:xfrm>
            <a:off x="457200" y="4160520"/>
            <a:ext cx="8229600" cy="320040"/>
          </a:xfrm>
          <a:prstGeom prst="rect">
            <a:avLst/>
          </a:prstGeom>
          <a:noFill/>
          <a:ln/>
        </p:spPr>
        <p:txBody>
          <a:bodyPr wrap="square" lIns="0" tIns="0" rIns="0" bIns="0" rtlCol="0" anchor="ctr"/>
          <a:lstStyle/>
          <a:p>
            <a:pPr indent="0" marL="0">
              <a:buNone/>
            </a:pPr>
            <a:r>
              <a:rPr lang="en-US" sz="1100" dirty="0">
                <a:solidFill>
                  <a:schemeClr val="accent4"/>
                </a:solidFill>
                <a:latin typeface="Calibri" pitchFamily="34" charset="0"/>
                <a:ea typeface="Calibri" pitchFamily="34" charset="-122"/>
                <a:cs typeface="Calibri" pitchFamily="34" charset="-120"/>
              </a:rPr>
              <a:t>Incluye una pausa de 20 minutos entre la Unidad 2 y los ejercicios.</a:t>
            </a:r>
            <a:endParaRPr lang="en-US" sz="1100" dirty="0"/>
          </a:p>
        </p:txBody>
      </p:sp>
      <p:sp>
        <p:nvSpPr>
          <p:cNvPr id="25" name="Slide Number Placeholder 0"/>
          <p:cNvSpPr>
            <a:spLocks noGrp="1"/>
          </p:cNvSpPr>
          <p:nvPr>
            <p:ph type="sldNum" sz="quarter" idx="4294967295"/>
          </p:nvPr>
        </p:nvSpPr>
        <p:spPr>
          <a:xfrm>
            <a:off x="8229600" y="470001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Dónde estamos</a:t>
            </a:r>
            <a:endParaRPr lang="en-US" sz="2800" dirty="0"/>
          </a:p>
        </p:txBody>
      </p:sp>
      <p:sp>
        <p:nvSpPr>
          <p:cNvPr id="3" name="hilo conductor"/>
          <p:cNvSpPr/>
          <p:nvPr/>
        </p:nvSpPr>
        <p:spPr>
          <a:xfrm>
            <a:off x="457200" y="1188720"/>
            <a:ext cx="3657600" cy="3108960"/>
          </a:xfrm>
          <a:prstGeom prst="roundRect">
            <a:avLst>
              <a:gd name="adj" fmla="val 2941"/>
            </a:avLst>
          </a:prstGeom>
          <a:solidFill>
            <a:schemeClr val="tx2"/>
          </a:solidFill>
          <a:ln w="12700">
            <a:solidFill>
              <a:schemeClr val="tx2"/>
            </a:solidFill>
            <a:prstDash val="solid"/>
          </a:ln>
        </p:spPr>
      </p:sp>
      <p:sp>
        <p:nvSpPr>
          <p:cNvPr id="4" name="Text 2"/>
          <p:cNvSpPr txBox="1"/>
          <p:nvPr/>
        </p:nvSpPr>
        <p:spPr>
          <a:xfrm>
            <a:off x="685800" y="1371600"/>
            <a:ext cx="3200400" cy="274320"/>
          </a:xfrm>
          <a:prstGeom prst="rect">
            <a:avLst/>
          </a:prstGeom>
          <a:noFill/>
          <a:ln/>
        </p:spPr>
        <p:txBody>
          <a:bodyPr wrap="square" lIns="0" tIns="0" rIns="0" bIns="0" rtlCol="0" anchor="ctr"/>
          <a:lstStyle/>
          <a:p>
            <a:pPr indent="0" marL="0">
              <a:buNone/>
            </a:pPr>
            <a:r>
              <a:rPr lang="en-US" sz="1100" b="1" dirty="0">
                <a:solidFill>
                  <a:schemeClr val="accent3"/>
                </a:solidFill>
                <a:latin typeface="Calibri" pitchFamily="34" charset="0"/>
                <a:ea typeface="Calibri" pitchFamily="34" charset="-122"/>
                <a:cs typeface="Calibri" pitchFamily="34" charset="-120"/>
              </a:rPr>
              <a:t>Hilo conductor</a:t>
            </a:r>
            <a:endParaRPr lang="en-US" sz="1100" dirty="0"/>
          </a:p>
        </p:txBody>
      </p:sp>
      <p:sp>
        <p:nvSpPr>
          <p:cNvPr id="5" name="Text 3"/>
          <p:cNvSpPr txBox="1"/>
          <p:nvPr/>
        </p:nvSpPr>
        <p:spPr>
          <a:xfrm>
            <a:off x="685800" y="1737360"/>
            <a:ext cx="3200400" cy="1737360"/>
          </a:xfrm>
          <a:prstGeom prst="rect">
            <a:avLst/>
          </a:prstGeom>
          <a:noFill/>
          <a:ln/>
        </p:spPr>
        <p:txBody>
          <a:bodyPr wrap="square" lIns="0" tIns="0" rIns="0" bIns="0" rtlCol="0" anchor="t"/>
          <a:lstStyle/>
          <a:p>
            <a:pPr indent="0" marL="0">
              <a:buNone/>
            </a:pPr>
            <a:r>
              <a:rPr lang="en-US" sz="1700" dirty="0">
                <a:solidFill>
                  <a:schemeClr val="bg1"/>
                </a:solidFill>
                <a:latin typeface="Cambria" pitchFamily="34" charset="0"/>
                <a:ea typeface="Cambria" pitchFamily="34" charset="-122"/>
                <a:cs typeface="Cambria" pitchFamily="34" charset="-120"/>
              </a:rPr>
              <a:t>En la sesión 1 ubicaste las dimensiones, los tipos y la mirada sistémica de la innovación. Hoy preguntamos qué ocurre con ella cuando se vive en la era digital.</a:t>
            </a:r>
            <a:endParaRPr lang="en-US" sz="1700" dirty="0"/>
          </a:p>
        </p:txBody>
      </p:sp>
      <p:sp>
        <p:nvSpPr>
          <p:cNvPr id="6" name="Text 4"/>
          <p:cNvSpPr txBox="1"/>
          <p:nvPr/>
        </p:nvSpPr>
        <p:spPr>
          <a:xfrm>
            <a:off x="685800" y="3840480"/>
            <a:ext cx="3200400" cy="274320"/>
          </a:xfrm>
          <a:prstGeom prst="rect">
            <a:avLst/>
          </a:prstGeom>
          <a:noFill/>
          <a:ln/>
        </p:spPr>
        <p:txBody>
          <a:bodyPr wrap="square" lIns="0" tIns="0" rIns="0" bIns="0" rtlCol="0" anchor="ctr"/>
          <a:lstStyle/>
          <a:p>
            <a:pPr indent="0" marL="0">
              <a:buNone/>
            </a:pPr>
            <a:r>
              <a:rPr lang="en-US" sz="1200" b="1" dirty="0">
                <a:solidFill>
                  <a:schemeClr val="bg1"/>
                </a:solidFill>
                <a:latin typeface="Calibri" pitchFamily="34" charset="0"/>
                <a:ea typeface="Calibri" pitchFamily="34" charset="-122"/>
                <a:cs typeface="Calibri" pitchFamily="34" charset="-120"/>
              </a:rPr>
              <a:t>Unidad 2 · Cinco temas</a:t>
            </a:r>
            <a:endParaRPr lang="en-US" sz="1200" dirty="0"/>
          </a:p>
        </p:txBody>
      </p:sp>
      <p:sp>
        <p:nvSpPr>
          <p:cNvPr id="7" name="Text 5"/>
          <p:cNvSpPr txBox="1"/>
          <p:nvPr/>
        </p:nvSpPr>
        <p:spPr>
          <a:xfrm>
            <a:off x="4389120" y="1188720"/>
            <a:ext cx="4297680" cy="274320"/>
          </a:xfrm>
          <a:prstGeom prst="rect">
            <a:avLst/>
          </a:prstGeom>
          <a:noFill/>
          <a:ln/>
        </p:spPr>
        <p:txBody>
          <a:bodyPr wrap="square" lIns="0" tIns="0" rIns="0" bIns="0" rtlCol="0" anchor="ctr"/>
          <a:lstStyle/>
          <a:p>
            <a:pPr indent="0" marL="0">
              <a:buNone/>
            </a:pPr>
            <a:r>
              <a:rPr lang="en-US" sz="1400" b="1" dirty="0">
                <a:solidFill>
                  <a:schemeClr val="accent1"/>
                </a:solidFill>
                <a:latin typeface="Calibri" pitchFamily="34" charset="0"/>
                <a:ea typeface="Calibri" pitchFamily="34" charset="-122"/>
                <a:cs typeface="Calibri" pitchFamily="34" charset="-120"/>
              </a:rPr>
              <a:t>Tus próximas entregas</a:t>
            </a:r>
            <a:endParaRPr lang="en-US" sz="1400" dirty="0"/>
          </a:p>
        </p:txBody>
      </p:sp>
      <p:sp>
        <p:nvSpPr>
          <p:cNvPr id="8" name="entrega 1"/>
          <p:cNvSpPr/>
          <p:nvPr/>
        </p:nvSpPr>
        <p:spPr>
          <a:xfrm>
            <a:off x="4389120" y="1554480"/>
            <a:ext cx="4297680" cy="777240"/>
          </a:xfrm>
          <a:prstGeom prst="roundRect">
            <a:avLst>
              <a:gd name="adj" fmla="val 11765"/>
            </a:avLst>
          </a:prstGeom>
          <a:solidFill>
            <a:schemeClr val="bg2"/>
          </a:solidFill>
          <a:ln w="12700">
            <a:solidFill>
              <a:schemeClr val="bg2"/>
            </a:solidFill>
            <a:prstDash val="solid"/>
          </a:ln>
        </p:spPr>
      </p:sp>
      <p:sp>
        <p:nvSpPr>
          <p:cNvPr id="9" name="fecha 1"/>
          <p:cNvSpPr/>
          <p:nvPr/>
        </p:nvSpPr>
        <p:spPr>
          <a:xfrm>
            <a:off x="4526280" y="1737360"/>
            <a:ext cx="1051560" cy="411480"/>
          </a:xfrm>
          <a:prstGeom prst="roundRect">
            <a:avLst>
              <a:gd name="adj" fmla="val 17778"/>
            </a:avLst>
          </a:prstGeom>
          <a:solidFill>
            <a:schemeClr val="accent1"/>
          </a:solidFill>
          <a:ln w="12700">
            <a:solidFill>
              <a:schemeClr val="accent1"/>
            </a:solidFill>
            <a:prstDash val="solid"/>
          </a:ln>
        </p:spPr>
      </p:sp>
      <p:sp>
        <p:nvSpPr>
          <p:cNvPr id="10" name="Text 8"/>
          <p:cNvSpPr txBox="1"/>
          <p:nvPr/>
        </p:nvSpPr>
        <p:spPr>
          <a:xfrm>
            <a:off x="4526280" y="1737360"/>
            <a:ext cx="1051560" cy="41148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Dom 1 Nov</a:t>
            </a:r>
            <a:endParaRPr lang="en-US" sz="1300" dirty="0"/>
          </a:p>
        </p:txBody>
      </p:sp>
      <p:sp>
        <p:nvSpPr>
          <p:cNvPr id="11" name="Text 9"/>
          <p:cNvSpPr txBox="1"/>
          <p:nvPr/>
        </p:nvSpPr>
        <p:spPr>
          <a:xfrm>
            <a:off x="5760720" y="1664208"/>
            <a:ext cx="2834640" cy="320040"/>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Actividad 1: Cartografía conceptual</a:t>
            </a:r>
            <a:endParaRPr lang="en-US" sz="1400" dirty="0"/>
          </a:p>
        </p:txBody>
      </p:sp>
      <p:sp>
        <p:nvSpPr>
          <p:cNvPr id="12" name="Text 10"/>
          <p:cNvSpPr txBox="1"/>
          <p:nvPr/>
        </p:nvSpPr>
        <p:spPr>
          <a:xfrm>
            <a:off x="5760720" y="1984248"/>
            <a:ext cx="2834640" cy="256032"/>
          </a:xfrm>
          <a:prstGeom prst="rect">
            <a:avLst/>
          </a:prstGeom>
          <a:noFill/>
          <a:ln/>
        </p:spPr>
        <p:txBody>
          <a:bodyPr wrap="square" lIns="0" tIns="0" rIns="0" bIns="0" rtlCol="0" anchor="ctr"/>
          <a:lstStyle/>
          <a:p>
            <a:pPr indent="0" marL="0">
              <a:buNone/>
            </a:pPr>
            <a:r>
              <a:rPr lang="en-US" sz="1200" dirty="0">
                <a:solidFill>
                  <a:schemeClr val="accent4"/>
                </a:solidFill>
                <a:latin typeface="Calibri" pitchFamily="34" charset="0"/>
                <a:ea typeface="Calibri" pitchFamily="34" charset="-122"/>
                <a:cs typeface="Calibri" pitchFamily="34" charset="-120"/>
              </a:rPr>
              <a:t>10% de tu calificación final</a:t>
            </a:r>
            <a:endParaRPr lang="en-US" sz="1200" dirty="0"/>
          </a:p>
        </p:txBody>
      </p:sp>
      <p:sp>
        <p:nvSpPr>
          <p:cNvPr id="13" name="entrega 2"/>
          <p:cNvSpPr/>
          <p:nvPr/>
        </p:nvSpPr>
        <p:spPr>
          <a:xfrm>
            <a:off x="4389120" y="2468880"/>
            <a:ext cx="4297680" cy="777240"/>
          </a:xfrm>
          <a:prstGeom prst="roundRect">
            <a:avLst>
              <a:gd name="adj" fmla="val 11765"/>
            </a:avLst>
          </a:prstGeom>
          <a:solidFill>
            <a:schemeClr val="bg2"/>
          </a:solidFill>
          <a:ln w="12700">
            <a:solidFill>
              <a:schemeClr val="bg2"/>
            </a:solidFill>
            <a:prstDash val="solid"/>
          </a:ln>
        </p:spPr>
      </p:sp>
      <p:sp>
        <p:nvSpPr>
          <p:cNvPr id="14" name="fecha 2"/>
          <p:cNvSpPr/>
          <p:nvPr/>
        </p:nvSpPr>
        <p:spPr>
          <a:xfrm>
            <a:off x="4526280" y="2651760"/>
            <a:ext cx="1051560" cy="411480"/>
          </a:xfrm>
          <a:prstGeom prst="roundRect">
            <a:avLst>
              <a:gd name="adj" fmla="val 17778"/>
            </a:avLst>
          </a:prstGeom>
          <a:solidFill>
            <a:schemeClr val="accent1"/>
          </a:solidFill>
          <a:ln w="12700">
            <a:solidFill>
              <a:schemeClr val="accent1"/>
            </a:solidFill>
            <a:prstDash val="solid"/>
          </a:ln>
        </p:spPr>
      </p:sp>
      <p:sp>
        <p:nvSpPr>
          <p:cNvPr id="15" name="Text 13"/>
          <p:cNvSpPr txBox="1"/>
          <p:nvPr/>
        </p:nvSpPr>
        <p:spPr>
          <a:xfrm>
            <a:off x="4526280" y="2651760"/>
            <a:ext cx="1051560" cy="41148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Mié 4 Nov</a:t>
            </a:r>
            <a:endParaRPr lang="en-US" sz="1300" dirty="0"/>
          </a:p>
        </p:txBody>
      </p:sp>
      <p:sp>
        <p:nvSpPr>
          <p:cNvPr id="16" name="Text 14"/>
          <p:cNvSpPr txBox="1"/>
          <p:nvPr/>
        </p:nvSpPr>
        <p:spPr>
          <a:xfrm>
            <a:off x="5760720" y="2578608"/>
            <a:ext cx="2834640" cy="320040"/>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Foro: Identificación de necesidades</a:t>
            </a:r>
            <a:endParaRPr lang="en-US" sz="1400" dirty="0"/>
          </a:p>
        </p:txBody>
      </p:sp>
      <p:sp>
        <p:nvSpPr>
          <p:cNvPr id="17" name="Text 15"/>
          <p:cNvSpPr txBox="1"/>
          <p:nvPr/>
        </p:nvSpPr>
        <p:spPr>
          <a:xfrm>
            <a:off x="5760720" y="2898648"/>
            <a:ext cx="2834640" cy="256032"/>
          </a:xfrm>
          <a:prstGeom prst="rect">
            <a:avLst/>
          </a:prstGeom>
          <a:noFill/>
          <a:ln/>
        </p:spPr>
        <p:txBody>
          <a:bodyPr wrap="square" lIns="0" tIns="0" rIns="0" bIns="0" rtlCol="0" anchor="ctr"/>
          <a:lstStyle/>
          <a:p>
            <a:pPr indent="0" marL="0">
              <a:buNone/>
            </a:pPr>
            <a:r>
              <a:rPr lang="en-US" sz="1200" dirty="0">
                <a:solidFill>
                  <a:schemeClr val="accent4"/>
                </a:solidFill>
                <a:latin typeface="Calibri" pitchFamily="34" charset="0"/>
                <a:ea typeface="Calibri" pitchFamily="34" charset="-122"/>
                <a:cs typeface="Calibri" pitchFamily="34" charset="-120"/>
              </a:rPr>
              <a:t>10% de tu calificación final</a:t>
            </a:r>
            <a:endParaRPr lang="en-US" sz="1200" dirty="0"/>
          </a:p>
        </p:txBody>
      </p:sp>
      <p:sp>
        <p:nvSpPr>
          <p:cNvPr id="18" name="entrega 3"/>
          <p:cNvSpPr/>
          <p:nvPr/>
        </p:nvSpPr>
        <p:spPr>
          <a:xfrm>
            <a:off x="4389120" y="3383280"/>
            <a:ext cx="4297680" cy="777240"/>
          </a:xfrm>
          <a:prstGeom prst="roundRect">
            <a:avLst>
              <a:gd name="adj" fmla="val 11765"/>
            </a:avLst>
          </a:prstGeom>
          <a:solidFill>
            <a:schemeClr val="bg2"/>
          </a:solidFill>
          <a:ln w="12700">
            <a:solidFill>
              <a:schemeClr val="bg2"/>
            </a:solidFill>
            <a:prstDash val="solid"/>
          </a:ln>
        </p:spPr>
      </p:sp>
      <p:sp>
        <p:nvSpPr>
          <p:cNvPr id="19" name="fecha 3"/>
          <p:cNvSpPr/>
          <p:nvPr/>
        </p:nvSpPr>
        <p:spPr>
          <a:xfrm>
            <a:off x="4526280" y="3566160"/>
            <a:ext cx="1051560" cy="411480"/>
          </a:xfrm>
          <a:prstGeom prst="roundRect">
            <a:avLst>
              <a:gd name="adj" fmla="val 17778"/>
            </a:avLst>
          </a:prstGeom>
          <a:solidFill>
            <a:schemeClr val="accent1"/>
          </a:solidFill>
          <a:ln w="12700">
            <a:solidFill>
              <a:schemeClr val="accent1"/>
            </a:solidFill>
            <a:prstDash val="solid"/>
          </a:ln>
        </p:spPr>
      </p:sp>
      <p:sp>
        <p:nvSpPr>
          <p:cNvPr id="20" name="Text 18"/>
          <p:cNvSpPr txBox="1"/>
          <p:nvPr/>
        </p:nvSpPr>
        <p:spPr>
          <a:xfrm>
            <a:off x="4526280" y="3566160"/>
            <a:ext cx="1051560" cy="41148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Dom 8 Nov</a:t>
            </a:r>
            <a:endParaRPr lang="en-US" sz="1300" dirty="0"/>
          </a:p>
        </p:txBody>
      </p:sp>
      <p:sp>
        <p:nvSpPr>
          <p:cNvPr id="21" name="Text 19"/>
          <p:cNvSpPr txBox="1"/>
          <p:nvPr/>
        </p:nvSpPr>
        <p:spPr>
          <a:xfrm>
            <a:off x="5760720" y="3493008"/>
            <a:ext cx="2834640" cy="320040"/>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Actividad 2: Detección de necesidades</a:t>
            </a:r>
            <a:endParaRPr lang="en-US" sz="1400" dirty="0"/>
          </a:p>
        </p:txBody>
      </p:sp>
      <p:sp>
        <p:nvSpPr>
          <p:cNvPr id="22" name="Text 20"/>
          <p:cNvSpPr txBox="1"/>
          <p:nvPr/>
        </p:nvSpPr>
        <p:spPr>
          <a:xfrm>
            <a:off x="5760720" y="3813048"/>
            <a:ext cx="2834640" cy="256032"/>
          </a:xfrm>
          <a:prstGeom prst="rect">
            <a:avLst/>
          </a:prstGeom>
          <a:noFill/>
          <a:ln/>
        </p:spPr>
        <p:txBody>
          <a:bodyPr wrap="square" lIns="0" tIns="0" rIns="0" bIns="0" rtlCol="0" anchor="ctr"/>
          <a:lstStyle/>
          <a:p>
            <a:pPr indent="0" marL="0">
              <a:buNone/>
            </a:pPr>
            <a:r>
              <a:rPr lang="en-US" sz="1200" dirty="0">
                <a:solidFill>
                  <a:schemeClr val="accent4"/>
                </a:solidFill>
                <a:latin typeface="Calibri" pitchFamily="34" charset="0"/>
                <a:ea typeface="Calibri" pitchFamily="34" charset="-122"/>
                <a:cs typeface="Calibri" pitchFamily="34" charset="-120"/>
              </a:rPr>
              <a:t>10% de tu calificación final</a:t>
            </a:r>
            <a:endParaRPr lang="en-US" sz="1200" dirty="0"/>
          </a:p>
        </p:txBody>
      </p:sp>
      <p:sp>
        <p:nvSpPr>
          <p:cNvPr id="25" name="Slide Number Placeholder 0"/>
          <p:cNvSpPr>
            <a:spLocks noGrp="1"/>
          </p:cNvSpPr>
          <p:nvPr>
            <p:ph type="sldNum" sz="quarter" idx="4294967295"/>
          </p:nvPr>
        </p:nvSpPr>
        <p:spPr>
          <a:xfrm>
            <a:off x="8229600" y="470001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640080"/>
            <a:ext cx="4572000" cy="274320"/>
          </a:xfrm>
          <a:prstGeom prst="rect">
            <a:avLst/>
          </a:prstGeom>
          <a:noFill/>
          <a:ln/>
        </p:spPr>
        <p:txBody>
          <a:bodyPr wrap="square" lIns="0" tIns="0" rIns="0" bIns="0" rtlCol="0" anchor="ctr"/>
          <a:lstStyle/>
          <a:p>
            <a:pPr indent="0" marL="0">
              <a:buNone/>
            </a:pPr>
            <a:r>
              <a:rPr lang="en-US" sz="1300" b="1" dirty="0">
                <a:solidFill>
                  <a:schemeClr val="accent3"/>
                </a:solidFill>
                <a:latin typeface="Calibri" pitchFamily="34" charset="0"/>
                <a:ea typeface="Calibri" pitchFamily="34" charset="-122"/>
                <a:cs typeface="Calibri" pitchFamily="34" charset="-120"/>
              </a:rPr>
              <a:t>Para comenzar</a:t>
            </a:r>
            <a:endParaRPr lang="en-US" sz="1300" dirty="0"/>
          </a:p>
        </p:txBody>
      </p:sp>
      <p:sp>
        <p:nvSpPr>
          <p:cNvPr id="3" name="Text 1"/>
          <p:cNvSpPr/>
          <p:nvPr>
            <p:ph idx="101" type="title" hasCustomPrompt="1"/>
          </p:nvPr>
        </p:nvSpPr>
        <p:spPr>
          <a:xfrm>
            <a:off x="457200" y="1234440"/>
            <a:ext cx="5486400" cy="1371600"/>
          </a:xfrm>
          <a:prstGeom prst="rect">
            <a:avLst/>
          </a:prstGeom>
          <a:noFill/>
          <a:ln/>
        </p:spPr>
        <p:txBody>
          <a:bodyPr wrap="square" lIns="0" tIns="0" rIns="0" bIns="0" rtlCol="0" anchor="t"/>
          <a:lstStyle/>
          <a:p>
            <a:pPr algn="l" indent="0" marL="0">
              <a:buNone/>
            </a:pPr>
            <a:r>
              <a:rPr lang="en-US" sz="3400" b="1" dirty="0">
                <a:solidFill>
                  <a:schemeClr val="bg1"/>
                </a:solidFill>
                <a:latin typeface="Cambria" pitchFamily="34" charset="0"/>
                <a:ea typeface="Cambria" pitchFamily="34" charset="-122"/>
                <a:cs typeface="Cambria" pitchFamily="34" charset="-120"/>
              </a:rPr>
              <a:t>¿Qué cambió en tu institución con lo digital?</a:t>
            </a:r>
            <a:endParaRPr lang="en-US" sz="3400" dirty="0"/>
          </a:p>
        </p:txBody>
      </p:sp>
      <p:sp>
        <p:nvSpPr>
          <p:cNvPr id="4" name="Text 2"/>
          <p:cNvSpPr txBox="1"/>
          <p:nvPr/>
        </p:nvSpPr>
        <p:spPr>
          <a:xfrm>
            <a:off x="457200" y="2743200"/>
            <a:ext cx="7772400" cy="365760"/>
          </a:xfrm>
          <a:prstGeom prst="rect">
            <a:avLst/>
          </a:prstGeom>
          <a:noFill/>
          <a:ln/>
        </p:spPr>
        <p:txBody>
          <a:bodyPr wrap="square" lIns="0" tIns="0" rIns="0" bIns="0" rtlCol="0" anchor="ctr"/>
          <a:lstStyle/>
          <a:p>
            <a:pPr indent="0" marL="0">
              <a:buNone/>
            </a:pPr>
            <a:r>
              <a:rPr lang="en-US" sz="1700" dirty="0">
                <a:solidFill>
                  <a:schemeClr val="bg1"/>
                </a:solidFill>
                <a:latin typeface="Calibri" pitchFamily="34" charset="0"/>
                <a:ea typeface="Calibri" pitchFamily="34" charset="-122"/>
                <a:cs typeface="Calibri" pitchFamily="34" charset="-120"/>
              </a:rPr>
              <a:t>Durante un minuto, escribe en el chat de Zoom sin consultar nada:</a:t>
            </a:r>
            <a:endParaRPr lang="en-US" sz="1700" dirty="0"/>
          </a:p>
        </p:txBody>
      </p:sp>
      <p:sp>
        <p:nvSpPr>
          <p:cNvPr id="5" name="indicación 1"/>
          <p:cNvSpPr/>
          <p:nvPr/>
        </p:nvSpPr>
        <p:spPr>
          <a:xfrm>
            <a:off x="457200" y="3383280"/>
            <a:ext cx="2468880" cy="640080"/>
          </a:xfrm>
          <a:prstGeom prst="roundRect">
            <a:avLst>
              <a:gd name="adj" fmla="val 14286"/>
            </a:avLst>
          </a:prstGeom>
          <a:solidFill>
            <a:schemeClr val="tx2"/>
          </a:solidFill>
          <a:ln w="12700">
            <a:solidFill>
              <a:schemeClr val="tx2"/>
            </a:solidFill>
            <a:prstDash val="solid"/>
          </a:ln>
        </p:spPr>
      </p:sp>
      <p:sp>
        <p:nvSpPr>
          <p:cNvPr id="6" name="Text 4"/>
          <p:cNvSpPr txBox="1"/>
          <p:nvPr/>
        </p:nvSpPr>
        <p:spPr>
          <a:xfrm>
            <a:off x="457200" y="3383280"/>
            <a:ext cx="2468880" cy="64008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Una herramienta</a:t>
            </a:r>
            <a:endParaRPr lang="en-US" sz="1600" dirty="0"/>
          </a:p>
        </p:txBody>
      </p:sp>
      <p:sp>
        <p:nvSpPr>
          <p:cNvPr id="7" name="indicación 2"/>
          <p:cNvSpPr/>
          <p:nvPr/>
        </p:nvSpPr>
        <p:spPr>
          <a:xfrm>
            <a:off x="3154680" y="3383280"/>
            <a:ext cx="2468880" cy="640080"/>
          </a:xfrm>
          <a:prstGeom prst="roundRect">
            <a:avLst>
              <a:gd name="adj" fmla="val 14286"/>
            </a:avLst>
          </a:prstGeom>
          <a:solidFill>
            <a:schemeClr val="tx2"/>
          </a:solidFill>
          <a:ln w="12700">
            <a:solidFill>
              <a:schemeClr val="tx2"/>
            </a:solidFill>
            <a:prstDash val="solid"/>
          </a:ln>
        </p:spPr>
      </p:sp>
      <p:sp>
        <p:nvSpPr>
          <p:cNvPr id="8" name="Text 6"/>
          <p:cNvSpPr txBox="1"/>
          <p:nvPr/>
        </p:nvSpPr>
        <p:spPr>
          <a:xfrm>
            <a:off x="3154680" y="3383280"/>
            <a:ext cx="2468880" cy="64008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Un cambio</a:t>
            </a:r>
            <a:endParaRPr lang="en-US" sz="1600" dirty="0"/>
          </a:p>
        </p:txBody>
      </p:sp>
      <p:sp>
        <p:nvSpPr>
          <p:cNvPr id="9" name="indicación 3"/>
          <p:cNvSpPr/>
          <p:nvPr/>
        </p:nvSpPr>
        <p:spPr>
          <a:xfrm>
            <a:off x="5852160" y="3383280"/>
            <a:ext cx="2468880" cy="640080"/>
          </a:xfrm>
          <a:prstGeom prst="roundRect">
            <a:avLst>
              <a:gd name="adj" fmla="val 14286"/>
            </a:avLst>
          </a:prstGeom>
          <a:solidFill>
            <a:schemeClr val="tx2"/>
          </a:solidFill>
          <a:ln w="12700">
            <a:solidFill>
              <a:schemeClr val="tx2"/>
            </a:solidFill>
            <a:prstDash val="solid"/>
          </a:ln>
        </p:spPr>
      </p:sp>
      <p:sp>
        <p:nvSpPr>
          <p:cNvPr id="10" name="Text 8"/>
          <p:cNvSpPr txBox="1"/>
          <p:nvPr/>
        </p:nvSpPr>
        <p:spPr>
          <a:xfrm>
            <a:off x="5852160" y="3383280"/>
            <a:ext cx="2468880" cy="64008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Algo que siguió igual</a:t>
            </a:r>
            <a:endParaRPr lang="en-US" sz="1600" dirty="0"/>
          </a:p>
        </p:txBody>
      </p:sp>
      <p:sp>
        <p:nvSpPr>
          <p:cNvPr id="25" name="Slide Number Placeholder 0"/>
          <p:cNvSpPr>
            <a:spLocks noGrp="1"/>
          </p:cNvSpPr>
          <p:nvPr>
            <p:ph type="sldNum" sz="quarter" idx="4294967295"/>
          </p:nvPr>
        </p:nvSpPr>
        <p:spPr>
          <a:xfrm>
            <a:off x="8229600" y="470001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bg1"/>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2.1 La educación para toda la vida</a:t>
            </a:r>
            <a:endParaRPr lang="en-US" sz="2800" dirty="0"/>
          </a:p>
        </p:txBody>
      </p:sp>
      <p:sp>
        <p:nvSpPr>
          <p:cNvPr id="3" name="tipo Formal"/>
          <p:cNvSpPr/>
          <p:nvPr/>
        </p:nvSpPr>
        <p:spPr>
          <a:xfrm>
            <a:off x="457200" y="1188720"/>
            <a:ext cx="2651760" cy="2468880"/>
          </a:xfrm>
          <a:prstGeom prst="roundRect">
            <a:avLst>
              <a:gd name="adj" fmla="val 3704"/>
            </a:avLst>
          </a:prstGeom>
          <a:solidFill>
            <a:schemeClr val="bg2"/>
          </a:solidFill>
          <a:ln w="12700">
            <a:solidFill>
              <a:schemeClr val="bg2"/>
            </a:solidFill>
            <a:prstDash val="solid"/>
          </a:ln>
        </p:spPr>
      </p:sp>
      <p:sp>
        <p:nvSpPr>
          <p:cNvPr id="4" name="círculo FaUniversity"/>
          <p:cNvSpPr/>
          <p:nvPr/>
        </p:nvSpPr>
        <p:spPr>
          <a:xfrm>
            <a:off x="685800" y="1417320"/>
            <a:ext cx="640080" cy="640080"/>
          </a:xfrm>
          <a:prstGeom prst="ellipse">
            <a:avLst/>
          </a:prstGeom>
          <a:solidFill>
            <a:schemeClr val="accent1"/>
          </a:solidFill>
          <a:ln w="12700">
            <a:solidFill>
              <a:schemeClr val="accent1"/>
            </a:solidFill>
            <a:prstDash val="solid"/>
          </a:ln>
        </p:spPr>
      </p:sp>
      <p:pic>
        <p:nvPicPr>
          <p:cNvPr id="5" name="Image 0" descr="Ícono FaUniversity">    </p:cNvPr>
          <p:cNvPicPr>
            <a:picLocks noChangeAspect="1"/>
          </p:cNvPicPr>
          <p:nvPr/>
        </p:nvPicPr>
        <p:blipFill>
          <a:blip r:embed="rId1"/>
          <a:stretch>
            <a:fillRect/>
          </a:stretch>
        </p:blipFill>
        <p:spPr>
          <a:xfrm>
            <a:off x="845820" y="1577340"/>
            <a:ext cx="320040" cy="320040"/>
          </a:xfrm>
          <a:prstGeom prst="rect">
            <a:avLst/>
          </a:prstGeom>
        </p:spPr>
      </p:pic>
      <p:sp>
        <p:nvSpPr>
          <p:cNvPr id="6" name="Text 3"/>
          <p:cNvSpPr txBox="1"/>
          <p:nvPr/>
        </p:nvSpPr>
        <p:spPr>
          <a:xfrm>
            <a:off x="685800" y="2194560"/>
            <a:ext cx="2194560" cy="365760"/>
          </a:xfrm>
          <a:prstGeom prst="rect">
            <a:avLst/>
          </a:prstGeom>
          <a:noFill/>
          <a:ln/>
        </p:spPr>
        <p:txBody>
          <a:bodyPr wrap="square" lIns="0" tIns="0" rIns="0" bIns="0" rtlCol="0" anchor="ctr"/>
          <a:lstStyle/>
          <a:p>
            <a:pPr indent="0" marL="0">
              <a:buNone/>
            </a:pPr>
            <a:r>
              <a:rPr lang="en-US" sz="1700" b="1" dirty="0">
                <a:solidFill>
                  <a:schemeClr val="tx2"/>
                </a:solidFill>
                <a:latin typeface="Calibri" pitchFamily="34" charset="0"/>
                <a:ea typeface="Calibri" pitchFamily="34" charset="-122"/>
                <a:cs typeface="Calibri" pitchFamily="34" charset="-120"/>
              </a:rPr>
              <a:t>Formal</a:t>
            </a:r>
            <a:endParaRPr lang="en-US" sz="1700" dirty="0"/>
          </a:p>
        </p:txBody>
      </p:sp>
      <p:sp>
        <p:nvSpPr>
          <p:cNvPr id="7" name="Text 4"/>
          <p:cNvSpPr txBox="1"/>
          <p:nvPr/>
        </p:nvSpPr>
        <p:spPr>
          <a:xfrm>
            <a:off x="685800" y="2606040"/>
            <a:ext cx="2240280" cy="9144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Escuelas, universidades y programas con certificación.</a:t>
            </a:r>
            <a:endParaRPr lang="en-US" sz="1400" dirty="0"/>
          </a:p>
        </p:txBody>
      </p:sp>
      <p:sp>
        <p:nvSpPr>
          <p:cNvPr id="8" name="tipo No formal"/>
          <p:cNvSpPr/>
          <p:nvPr/>
        </p:nvSpPr>
        <p:spPr>
          <a:xfrm>
            <a:off x="3291840" y="1188720"/>
            <a:ext cx="2651760" cy="2468880"/>
          </a:xfrm>
          <a:prstGeom prst="roundRect">
            <a:avLst>
              <a:gd name="adj" fmla="val 3704"/>
            </a:avLst>
          </a:prstGeom>
          <a:solidFill>
            <a:schemeClr val="bg2"/>
          </a:solidFill>
          <a:ln w="12700">
            <a:solidFill>
              <a:schemeClr val="bg2"/>
            </a:solidFill>
            <a:prstDash val="solid"/>
          </a:ln>
        </p:spPr>
      </p:sp>
      <p:sp>
        <p:nvSpPr>
          <p:cNvPr id="9" name="círculo FaChalkboardTeacher"/>
          <p:cNvSpPr/>
          <p:nvPr/>
        </p:nvSpPr>
        <p:spPr>
          <a:xfrm>
            <a:off x="3520440" y="1417320"/>
            <a:ext cx="640080" cy="640080"/>
          </a:xfrm>
          <a:prstGeom prst="ellipse">
            <a:avLst/>
          </a:prstGeom>
          <a:solidFill>
            <a:schemeClr val="accent1"/>
          </a:solidFill>
          <a:ln w="12700">
            <a:solidFill>
              <a:schemeClr val="accent1"/>
            </a:solidFill>
            <a:prstDash val="solid"/>
          </a:ln>
        </p:spPr>
      </p:sp>
      <p:pic>
        <p:nvPicPr>
          <p:cNvPr id="10" name="Image 1" descr="Ícono FaChalkboardTeacher">    </p:cNvPr>
          <p:cNvPicPr>
            <a:picLocks noChangeAspect="1"/>
          </p:cNvPicPr>
          <p:nvPr/>
        </p:nvPicPr>
        <p:blipFill>
          <a:blip r:embed="rId2"/>
          <a:stretch>
            <a:fillRect/>
          </a:stretch>
        </p:blipFill>
        <p:spPr>
          <a:xfrm>
            <a:off x="3680460" y="1577340"/>
            <a:ext cx="320040" cy="320040"/>
          </a:xfrm>
          <a:prstGeom prst="rect">
            <a:avLst/>
          </a:prstGeom>
        </p:spPr>
      </p:pic>
      <p:sp>
        <p:nvSpPr>
          <p:cNvPr id="11" name="Text 7"/>
          <p:cNvSpPr txBox="1"/>
          <p:nvPr/>
        </p:nvSpPr>
        <p:spPr>
          <a:xfrm>
            <a:off x="3520440" y="2194560"/>
            <a:ext cx="2194560" cy="365760"/>
          </a:xfrm>
          <a:prstGeom prst="rect">
            <a:avLst/>
          </a:prstGeom>
          <a:noFill/>
          <a:ln/>
        </p:spPr>
        <p:txBody>
          <a:bodyPr wrap="square" lIns="0" tIns="0" rIns="0" bIns="0" rtlCol="0" anchor="ctr"/>
          <a:lstStyle/>
          <a:p>
            <a:pPr indent="0" marL="0">
              <a:buNone/>
            </a:pPr>
            <a:r>
              <a:rPr lang="en-US" sz="1700" b="1" dirty="0">
                <a:solidFill>
                  <a:schemeClr val="tx2"/>
                </a:solidFill>
                <a:latin typeface="Calibri" pitchFamily="34" charset="0"/>
                <a:ea typeface="Calibri" pitchFamily="34" charset="-122"/>
                <a:cs typeface="Calibri" pitchFamily="34" charset="-120"/>
              </a:rPr>
              <a:t>No formal</a:t>
            </a:r>
            <a:endParaRPr lang="en-US" sz="1700" dirty="0"/>
          </a:p>
        </p:txBody>
      </p:sp>
      <p:sp>
        <p:nvSpPr>
          <p:cNvPr id="12" name="Text 8"/>
          <p:cNvSpPr txBox="1"/>
          <p:nvPr/>
        </p:nvSpPr>
        <p:spPr>
          <a:xfrm>
            <a:off x="3520440" y="2606040"/>
            <a:ext cx="2240280" cy="9144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Cursos, talleres y capacitación fuera del currículo.</a:t>
            </a:r>
            <a:endParaRPr lang="en-US" sz="1400" dirty="0"/>
          </a:p>
        </p:txBody>
      </p:sp>
      <p:sp>
        <p:nvSpPr>
          <p:cNvPr id="13" name="tipo Informal"/>
          <p:cNvSpPr/>
          <p:nvPr/>
        </p:nvSpPr>
        <p:spPr>
          <a:xfrm>
            <a:off x="6126480" y="1188720"/>
            <a:ext cx="2651760" cy="2468880"/>
          </a:xfrm>
          <a:prstGeom prst="roundRect">
            <a:avLst>
              <a:gd name="adj" fmla="val 3704"/>
            </a:avLst>
          </a:prstGeom>
          <a:solidFill>
            <a:schemeClr val="bg2"/>
          </a:solidFill>
          <a:ln w="12700">
            <a:solidFill>
              <a:schemeClr val="bg2"/>
            </a:solidFill>
            <a:prstDash val="solid"/>
          </a:ln>
        </p:spPr>
      </p:sp>
      <p:sp>
        <p:nvSpPr>
          <p:cNvPr id="14" name="círculo FaUsers"/>
          <p:cNvSpPr/>
          <p:nvPr/>
        </p:nvSpPr>
        <p:spPr>
          <a:xfrm>
            <a:off x="6355080" y="1417320"/>
            <a:ext cx="640080" cy="640080"/>
          </a:xfrm>
          <a:prstGeom prst="ellipse">
            <a:avLst/>
          </a:prstGeom>
          <a:solidFill>
            <a:schemeClr val="accent1"/>
          </a:solidFill>
          <a:ln w="12700">
            <a:solidFill>
              <a:schemeClr val="accent1"/>
            </a:solidFill>
            <a:prstDash val="solid"/>
          </a:ln>
        </p:spPr>
      </p:sp>
      <p:pic>
        <p:nvPicPr>
          <p:cNvPr id="15" name="Image 2" descr="Ícono FaUsers">    </p:cNvPr>
          <p:cNvPicPr>
            <a:picLocks noChangeAspect="1"/>
          </p:cNvPicPr>
          <p:nvPr/>
        </p:nvPicPr>
        <p:blipFill>
          <a:blip r:embed="rId3"/>
          <a:stretch>
            <a:fillRect/>
          </a:stretch>
        </p:blipFill>
        <p:spPr>
          <a:xfrm>
            <a:off x="6515100" y="1577340"/>
            <a:ext cx="320040" cy="320040"/>
          </a:xfrm>
          <a:prstGeom prst="rect">
            <a:avLst/>
          </a:prstGeom>
        </p:spPr>
      </p:pic>
      <p:sp>
        <p:nvSpPr>
          <p:cNvPr id="16" name="Text 11"/>
          <p:cNvSpPr txBox="1"/>
          <p:nvPr/>
        </p:nvSpPr>
        <p:spPr>
          <a:xfrm>
            <a:off x="6355080" y="2194560"/>
            <a:ext cx="2194560" cy="365760"/>
          </a:xfrm>
          <a:prstGeom prst="rect">
            <a:avLst/>
          </a:prstGeom>
          <a:noFill/>
          <a:ln/>
        </p:spPr>
        <p:txBody>
          <a:bodyPr wrap="square" lIns="0" tIns="0" rIns="0" bIns="0" rtlCol="0" anchor="ctr"/>
          <a:lstStyle/>
          <a:p>
            <a:pPr indent="0" marL="0">
              <a:buNone/>
            </a:pPr>
            <a:r>
              <a:rPr lang="en-US" sz="1700" b="1" dirty="0">
                <a:solidFill>
                  <a:schemeClr val="tx2"/>
                </a:solidFill>
                <a:latin typeface="Calibri" pitchFamily="34" charset="0"/>
                <a:ea typeface="Calibri" pitchFamily="34" charset="-122"/>
                <a:cs typeface="Calibri" pitchFamily="34" charset="-120"/>
              </a:rPr>
              <a:t>Informal</a:t>
            </a:r>
            <a:endParaRPr lang="en-US" sz="1700" dirty="0"/>
          </a:p>
        </p:txBody>
      </p:sp>
      <p:sp>
        <p:nvSpPr>
          <p:cNvPr id="17" name="Text 12"/>
          <p:cNvSpPr txBox="1"/>
          <p:nvPr/>
        </p:nvSpPr>
        <p:spPr>
          <a:xfrm>
            <a:off x="6355080" y="2606040"/>
            <a:ext cx="2240280" cy="9144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Comunidades, lecturas, videos y experiencias del día a día.</a:t>
            </a:r>
            <a:endParaRPr lang="en-US" sz="1400" dirty="0"/>
          </a:p>
        </p:txBody>
      </p:sp>
      <p:sp>
        <p:nvSpPr>
          <p:cNvPr id="18" name="Text 13"/>
          <p:cNvSpPr txBox="1"/>
          <p:nvPr/>
        </p:nvSpPr>
        <p:spPr>
          <a:xfrm>
            <a:off x="457200" y="3931920"/>
            <a:ext cx="8229600" cy="365760"/>
          </a:xfrm>
          <a:prstGeom prst="rect">
            <a:avLst/>
          </a:prstGeom>
          <a:noFill/>
          <a:ln/>
        </p:spPr>
        <p:txBody>
          <a:bodyPr wrap="square" lIns="0" tIns="0" rIns="0" bIns="0" rtlCol="0" anchor="ctr"/>
          <a:lstStyle/>
          <a:p>
            <a:pPr indent="0" marL="0">
              <a:buNone/>
            </a:pPr>
            <a:r>
              <a:rPr lang="en-US" sz="1400" b="1" dirty="0">
                <a:solidFill>
                  <a:schemeClr val="accent1"/>
                </a:solidFill>
                <a:latin typeface="Calibri" pitchFamily="34" charset="0"/>
                <a:ea typeface="Calibri" pitchFamily="34" charset="-122"/>
                <a:cs typeface="Calibri" pitchFamily="34" charset="-120"/>
              </a:rPr>
              <a:t>Pregunta guía: ¿qué aprendiste fuera de la escuela en el último año?</a:t>
            </a:r>
            <a:endParaRPr lang="en-US" sz="1400" dirty="0"/>
          </a:p>
        </p:txBody>
      </p:sp>
      <p:sp>
        <p:nvSpPr>
          <p:cNvPr id="25" name="Slide Number Placeholder 0"/>
          <p:cNvSpPr>
            <a:spLocks noGrp="1"/>
          </p:cNvSpPr>
          <p:nvPr>
            <p:ph type="sldNum" sz="quarter" idx="4294967295"/>
          </p:nvPr>
        </p:nvSpPr>
        <p:spPr>
          <a:xfrm>
            <a:off x="8229600" y="470001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2.2 La diversificación y la multiculturalidad</a:t>
            </a:r>
            <a:endParaRPr lang="en-US" sz="2800" dirty="0"/>
          </a:p>
        </p:txBody>
      </p:sp>
      <p:sp>
        <p:nvSpPr>
          <p:cNvPr id="3" name="diversidad 1"/>
          <p:cNvSpPr/>
          <p:nvPr/>
        </p:nvSpPr>
        <p:spPr>
          <a:xfrm>
            <a:off x="457200" y="1188720"/>
            <a:ext cx="4023360" cy="1234440"/>
          </a:xfrm>
          <a:prstGeom prst="roundRect">
            <a:avLst>
              <a:gd name="adj" fmla="val 7407"/>
            </a:avLst>
          </a:prstGeom>
          <a:solidFill>
            <a:schemeClr val="bg2"/>
          </a:solidFill>
          <a:ln w="12700">
            <a:solidFill>
              <a:schemeClr val="bg2"/>
            </a:solidFill>
            <a:prstDash val="solid"/>
          </a:ln>
        </p:spPr>
      </p:sp>
      <p:sp>
        <p:nvSpPr>
          <p:cNvPr id="4" name="círculo FaGlobeAmericas"/>
          <p:cNvSpPr/>
          <p:nvPr/>
        </p:nvSpPr>
        <p:spPr>
          <a:xfrm>
            <a:off x="640080" y="1490472"/>
            <a:ext cx="640080" cy="640080"/>
          </a:xfrm>
          <a:prstGeom prst="ellipse">
            <a:avLst/>
          </a:prstGeom>
          <a:solidFill>
            <a:schemeClr val="accent1"/>
          </a:solidFill>
          <a:ln w="12700">
            <a:solidFill>
              <a:schemeClr val="accent1"/>
            </a:solidFill>
            <a:prstDash val="solid"/>
          </a:ln>
        </p:spPr>
      </p:sp>
      <p:pic>
        <p:nvPicPr>
          <p:cNvPr id="5" name="Image 0" descr="Ícono FaGlobeAmericas">    </p:cNvPr>
          <p:cNvPicPr>
            <a:picLocks noChangeAspect="1"/>
          </p:cNvPicPr>
          <p:nvPr/>
        </p:nvPicPr>
        <p:blipFill>
          <a:blip r:embed="rId1"/>
          <a:stretch>
            <a:fillRect/>
          </a:stretch>
        </p:blipFill>
        <p:spPr>
          <a:xfrm>
            <a:off x="800100" y="1650492"/>
            <a:ext cx="320040" cy="320040"/>
          </a:xfrm>
          <a:prstGeom prst="rect">
            <a:avLst/>
          </a:prstGeom>
        </p:spPr>
      </p:pic>
      <p:sp>
        <p:nvSpPr>
          <p:cNvPr id="6" name="Text 3"/>
          <p:cNvSpPr txBox="1"/>
          <p:nvPr/>
        </p:nvSpPr>
        <p:spPr>
          <a:xfrm>
            <a:off x="1463040" y="1325880"/>
            <a:ext cx="2834640" cy="32004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Lenguas y culturas</a:t>
            </a:r>
            <a:endParaRPr lang="en-US" sz="1500" dirty="0"/>
          </a:p>
        </p:txBody>
      </p:sp>
      <p:sp>
        <p:nvSpPr>
          <p:cNvPr id="7" name="Text 4"/>
          <p:cNvSpPr txBox="1"/>
          <p:nvPr/>
        </p:nvSpPr>
        <p:spPr>
          <a:xfrm>
            <a:off x="1463040" y="1664208"/>
            <a:ext cx="2880360" cy="68580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Personas con orígenes, saberes y formas de comunicarse distintas.</a:t>
            </a:r>
            <a:endParaRPr lang="en-US" sz="1300" dirty="0"/>
          </a:p>
        </p:txBody>
      </p:sp>
      <p:sp>
        <p:nvSpPr>
          <p:cNvPr id="8" name="diversidad 2"/>
          <p:cNvSpPr/>
          <p:nvPr/>
        </p:nvSpPr>
        <p:spPr>
          <a:xfrm>
            <a:off x="4663440" y="1188720"/>
            <a:ext cx="4023360" cy="1234440"/>
          </a:xfrm>
          <a:prstGeom prst="roundRect">
            <a:avLst>
              <a:gd name="adj" fmla="val 7407"/>
            </a:avLst>
          </a:prstGeom>
          <a:solidFill>
            <a:schemeClr val="bg2"/>
          </a:solidFill>
          <a:ln w="12700">
            <a:solidFill>
              <a:schemeClr val="bg2"/>
            </a:solidFill>
            <a:prstDash val="solid"/>
          </a:ln>
        </p:spPr>
      </p:sp>
      <p:sp>
        <p:nvSpPr>
          <p:cNvPr id="9" name="círculo FaRoute"/>
          <p:cNvSpPr/>
          <p:nvPr/>
        </p:nvSpPr>
        <p:spPr>
          <a:xfrm>
            <a:off x="4846320" y="1490472"/>
            <a:ext cx="640080" cy="640080"/>
          </a:xfrm>
          <a:prstGeom prst="ellipse">
            <a:avLst/>
          </a:prstGeom>
          <a:solidFill>
            <a:schemeClr val="accent1"/>
          </a:solidFill>
          <a:ln w="12700">
            <a:solidFill>
              <a:schemeClr val="accent1"/>
            </a:solidFill>
            <a:prstDash val="solid"/>
          </a:ln>
        </p:spPr>
      </p:sp>
      <p:pic>
        <p:nvPicPr>
          <p:cNvPr id="10" name="Image 1" descr="Ícono FaRoute">    </p:cNvPr>
          <p:cNvPicPr>
            <a:picLocks noChangeAspect="1"/>
          </p:cNvPicPr>
          <p:nvPr/>
        </p:nvPicPr>
        <p:blipFill>
          <a:blip r:embed="rId2"/>
          <a:stretch>
            <a:fillRect/>
          </a:stretch>
        </p:blipFill>
        <p:spPr>
          <a:xfrm>
            <a:off x="5006340" y="1650492"/>
            <a:ext cx="320040" cy="320040"/>
          </a:xfrm>
          <a:prstGeom prst="rect">
            <a:avLst/>
          </a:prstGeom>
        </p:spPr>
      </p:pic>
      <p:sp>
        <p:nvSpPr>
          <p:cNvPr id="11" name="Text 7"/>
          <p:cNvSpPr txBox="1"/>
          <p:nvPr/>
        </p:nvSpPr>
        <p:spPr>
          <a:xfrm>
            <a:off x="5669280" y="1325880"/>
            <a:ext cx="2834640" cy="32004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Ritmos y trayectorias</a:t>
            </a:r>
            <a:endParaRPr lang="en-US" sz="1500" dirty="0"/>
          </a:p>
        </p:txBody>
      </p:sp>
      <p:sp>
        <p:nvSpPr>
          <p:cNvPr id="12" name="Text 8"/>
          <p:cNvSpPr txBox="1"/>
          <p:nvPr/>
        </p:nvSpPr>
        <p:spPr>
          <a:xfrm>
            <a:off x="5669280" y="1664208"/>
            <a:ext cx="2880360" cy="68580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Cada persona avanza por caminos y tiempos propios.</a:t>
            </a:r>
            <a:endParaRPr lang="en-US" sz="1300" dirty="0"/>
          </a:p>
        </p:txBody>
      </p:sp>
      <p:sp>
        <p:nvSpPr>
          <p:cNvPr id="13" name="diversidad 3"/>
          <p:cNvSpPr/>
          <p:nvPr/>
        </p:nvSpPr>
        <p:spPr>
          <a:xfrm>
            <a:off x="457200" y="2560320"/>
            <a:ext cx="4023360" cy="1234440"/>
          </a:xfrm>
          <a:prstGeom prst="roundRect">
            <a:avLst>
              <a:gd name="adj" fmla="val 7407"/>
            </a:avLst>
          </a:prstGeom>
          <a:solidFill>
            <a:schemeClr val="bg2"/>
          </a:solidFill>
          <a:ln w="12700">
            <a:solidFill>
              <a:schemeClr val="bg2"/>
            </a:solidFill>
            <a:prstDash val="solid"/>
          </a:ln>
        </p:spPr>
      </p:sp>
      <p:sp>
        <p:nvSpPr>
          <p:cNvPr id="14" name="círculo FaWifi"/>
          <p:cNvSpPr/>
          <p:nvPr/>
        </p:nvSpPr>
        <p:spPr>
          <a:xfrm>
            <a:off x="640080" y="2862072"/>
            <a:ext cx="640080" cy="640080"/>
          </a:xfrm>
          <a:prstGeom prst="ellipse">
            <a:avLst/>
          </a:prstGeom>
          <a:solidFill>
            <a:schemeClr val="accent1"/>
          </a:solidFill>
          <a:ln w="12700">
            <a:solidFill>
              <a:schemeClr val="accent1"/>
            </a:solidFill>
            <a:prstDash val="solid"/>
          </a:ln>
        </p:spPr>
      </p:sp>
      <p:pic>
        <p:nvPicPr>
          <p:cNvPr id="15" name="Image 2" descr="Ícono FaWifi">    </p:cNvPr>
          <p:cNvPicPr>
            <a:picLocks noChangeAspect="1"/>
          </p:cNvPicPr>
          <p:nvPr/>
        </p:nvPicPr>
        <p:blipFill>
          <a:blip r:embed="rId3"/>
          <a:stretch>
            <a:fillRect/>
          </a:stretch>
        </p:blipFill>
        <p:spPr>
          <a:xfrm>
            <a:off x="800100" y="3022092"/>
            <a:ext cx="320040" cy="320040"/>
          </a:xfrm>
          <a:prstGeom prst="rect">
            <a:avLst/>
          </a:prstGeom>
        </p:spPr>
      </p:pic>
      <p:sp>
        <p:nvSpPr>
          <p:cNvPr id="16" name="Text 11"/>
          <p:cNvSpPr txBox="1"/>
          <p:nvPr/>
        </p:nvSpPr>
        <p:spPr>
          <a:xfrm>
            <a:off x="1463040" y="2697480"/>
            <a:ext cx="2834640" cy="32004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Contextos y acceso</a:t>
            </a:r>
            <a:endParaRPr lang="en-US" sz="1500" dirty="0"/>
          </a:p>
        </p:txBody>
      </p:sp>
      <p:sp>
        <p:nvSpPr>
          <p:cNvPr id="17" name="Text 12"/>
          <p:cNvSpPr txBox="1"/>
          <p:nvPr/>
        </p:nvSpPr>
        <p:spPr>
          <a:xfrm>
            <a:off x="1463040" y="3035808"/>
            <a:ext cx="2880360" cy="68580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Conectividad, dispositivos y condiciones de estudio desiguales.</a:t>
            </a:r>
            <a:endParaRPr lang="en-US" sz="1300" dirty="0"/>
          </a:p>
        </p:txBody>
      </p:sp>
      <p:sp>
        <p:nvSpPr>
          <p:cNvPr id="18" name="diversidad 4"/>
          <p:cNvSpPr/>
          <p:nvPr/>
        </p:nvSpPr>
        <p:spPr>
          <a:xfrm>
            <a:off x="4663440" y="2560320"/>
            <a:ext cx="4023360" cy="1234440"/>
          </a:xfrm>
          <a:prstGeom prst="roundRect">
            <a:avLst>
              <a:gd name="adj" fmla="val 7407"/>
            </a:avLst>
          </a:prstGeom>
          <a:solidFill>
            <a:schemeClr val="bg2"/>
          </a:solidFill>
          <a:ln w="12700">
            <a:solidFill>
              <a:schemeClr val="bg2"/>
            </a:solidFill>
            <a:prstDash val="solid"/>
          </a:ln>
        </p:spPr>
      </p:sp>
      <p:sp>
        <p:nvSpPr>
          <p:cNvPr id="19" name="círculo FaHandsHelping"/>
          <p:cNvSpPr/>
          <p:nvPr/>
        </p:nvSpPr>
        <p:spPr>
          <a:xfrm>
            <a:off x="4846320" y="2862072"/>
            <a:ext cx="640080" cy="640080"/>
          </a:xfrm>
          <a:prstGeom prst="ellipse">
            <a:avLst/>
          </a:prstGeom>
          <a:solidFill>
            <a:schemeClr val="accent1"/>
          </a:solidFill>
          <a:ln w="12700">
            <a:solidFill>
              <a:schemeClr val="accent1"/>
            </a:solidFill>
            <a:prstDash val="solid"/>
          </a:ln>
        </p:spPr>
      </p:sp>
      <p:pic>
        <p:nvPicPr>
          <p:cNvPr id="20" name="Image 3" descr="Ícono FaHandsHelping">    </p:cNvPr>
          <p:cNvPicPr>
            <a:picLocks noChangeAspect="1"/>
          </p:cNvPicPr>
          <p:nvPr/>
        </p:nvPicPr>
        <p:blipFill>
          <a:blip r:embed="rId4"/>
          <a:stretch>
            <a:fillRect/>
          </a:stretch>
        </p:blipFill>
        <p:spPr>
          <a:xfrm>
            <a:off x="5006340" y="3022092"/>
            <a:ext cx="320040" cy="320040"/>
          </a:xfrm>
          <a:prstGeom prst="rect">
            <a:avLst/>
          </a:prstGeom>
        </p:spPr>
      </p:pic>
      <p:sp>
        <p:nvSpPr>
          <p:cNvPr id="21" name="Text 15"/>
          <p:cNvSpPr txBox="1"/>
          <p:nvPr/>
        </p:nvSpPr>
        <p:spPr>
          <a:xfrm>
            <a:off x="5669280" y="2697480"/>
            <a:ext cx="2834640" cy="32004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Condiciones y apoyos</a:t>
            </a:r>
            <a:endParaRPr lang="en-US" sz="1500" dirty="0"/>
          </a:p>
        </p:txBody>
      </p:sp>
      <p:sp>
        <p:nvSpPr>
          <p:cNvPr id="22" name="Text 16"/>
          <p:cNvSpPr txBox="1"/>
          <p:nvPr/>
        </p:nvSpPr>
        <p:spPr>
          <a:xfrm>
            <a:off x="5669280" y="3035808"/>
            <a:ext cx="2880360" cy="68580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Ajustes y apoyos para que todas las personas participen.</a:t>
            </a:r>
            <a:endParaRPr lang="en-US" sz="1300" dirty="0"/>
          </a:p>
        </p:txBody>
      </p:sp>
      <p:sp>
        <p:nvSpPr>
          <p:cNvPr id="23" name="Text 17"/>
          <p:cNvSpPr txBox="1"/>
          <p:nvPr/>
        </p:nvSpPr>
        <p:spPr>
          <a:xfrm>
            <a:off x="457200" y="4023360"/>
            <a:ext cx="8229600" cy="365760"/>
          </a:xfrm>
          <a:prstGeom prst="rect">
            <a:avLst/>
          </a:prstGeom>
          <a:noFill/>
          <a:ln/>
        </p:spPr>
        <p:txBody>
          <a:bodyPr wrap="square" lIns="0" tIns="0" rIns="0" bIns="0" rtlCol="0" anchor="ctr"/>
          <a:lstStyle/>
          <a:p>
            <a:pPr indent="0" marL="0">
              <a:buNone/>
            </a:pPr>
            <a:r>
              <a:rPr lang="en-US" sz="1400" b="1" dirty="0">
                <a:solidFill>
                  <a:schemeClr val="accent1"/>
                </a:solidFill>
                <a:latin typeface="Calibri" pitchFamily="34" charset="0"/>
                <a:ea typeface="Calibri" pitchFamily="34" charset="-122"/>
                <a:cs typeface="Calibri" pitchFamily="34" charset="-120"/>
              </a:rPr>
              <a:t>Innovar también es diseñar para la diversidad real del grupo.</a:t>
            </a:r>
            <a:endParaRPr lang="en-US" sz="1400" dirty="0"/>
          </a:p>
        </p:txBody>
      </p:sp>
      <p:sp>
        <p:nvSpPr>
          <p:cNvPr id="25" name="Slide Number Placeholder 0"/>
          <p:cNvSpPr>
            <a:spLocks noGrp="1"/>
          </p:cNvSpPr>
          <p:nvPr>
            <p:ph type="sldNum" sz="quarter" idx="4294967295"/>
          </p:nvPr>
        </p:nvSpPr>
        <p:spPr>
          <a:xfrm>
            <a:off x="8229600" y="470001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2.3 La integración de la tecnología y la innovación</a:t>
            </a:r>
            <a:endParaRPr lang="en-US" sz="2800" dirty="0"/>
          </a:p>
        </p:txBody>
      </p:sp>
      <p:sp>
        <p:nvSpPr>
          <p:cNvPr id="3" name="peldaño 1"/>
          <p:cNvSpPr/>
          <p:nvPr/>
        </p:nvSpPr>
        <p:spPr>
          <a:xfrm>
            <a:off x="457200" y="2286000"/>
            <a:ext cx="2651760" cy="1691640"/>
          </a:xfrm>
          <a:prstGeom prst="roundRect">
            <a:avLst>
              <a:gd name="adj" fmla="val 5405"/>
            </a:avLst>
          </a:prstGeom>
          <a:solidFill>
            <a:schemeClr val="accent3"/>
          </a:solidFill>
          <a:ln w="12700">
            <a:solidFill>
              <a:schemeClr val="accent3"/>
            </a:solidFill>
            <a:prstDash val="solid"/>
          </a:ln>
        </p:spPr>
      </p:sp>
      <p:sp>
        <p:nvSpPr>
          <p:cNvPr id="4" name="Text 2"/>
          <p:cNvSpPr txBox="1"/>
          <p:nvPr/>
        </p:nvSpPr>
        <p:spPr>
          <a:xfrm>
            <a:off x="640080" y="2395728"/>
            <a:ext cx="548640" cy="45720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1</a:t>
            </a:r>
            <a:endParaRPr lang="en-US" sz="2800" dirty="0"/>
          </a:p>
        </p:txBody>
      </p:sp>
      <p:sp>
        <p:nvSpPr>
          <p:cNvPr id="5" name="Text 3"/>
          <p:cNvSpPr txBox="1"/>
          <p:nvPr/>
        </p:nvSpPr>
        <p:spPr>
          <a:xfrm>
            <a:off x="640080" y="2880360"/>
            <a:ext cx="2286000" cy="548640"/>
          </a:xfrm>
          <a:prstGeom prst="rect">
            <a:avLst/>
          </a:prstGeom>
          <a:noFill/>
          <a:ln/>
        </p:spPr>
        <p:txBody>
          <a:bodyPr wrap="square" lIns="0" tIns="0" rIns="0" bIns="0" rtlCol="0" anchor="t"/>
          <a:lstStyle/>
          <a:p>
            <a:pPr indent="0" marL="0">
              <a:buNone/>
            </a:pPr>
            <a:r>
              <a:rPr lang="en-US" sz="1500" b="1" dirty="0">
                <a:solidFill>
                  <a:schemeClr val="tx2"/>
                </a:solidFill>
                <a:latin typeface="Calibri" pitchFamily="34" charset="0"/>
                <a:ea typeface="Calibri" pitchFamily="34" charset="-122"/>
                <a:cs typeface="Calibri" pitchFamily="34" charset="-120"/>
              </a:rPr>
              <a:t>Cambia el soporte</a:t>
            </a:r>
            <a:endParaRPr lang="en-US" sz="1500" dirty="0"/>
          </a:p>
        </p:txBody>
      </p:sp>
      <p:sp>
        <p:nvSpPr>
          <p:cNvPr id="6" name="Text 4"/>
          <p:cNvSpPr txBox="1"/>
          <p:nvPr/>
        </p:nvSpPr>
        <p:spPr>
          <a:xfrm>
            <a:off x="640080" y="3474720"/>
            <a:ext cx="2286000" cy="45720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Se digitaliza lo que ya se hacía.</a:t>
            </a:r>
            <a:endParaRPr lang="en-US" sz="1300" dirty="0"/>
          </a:p>
        </p:txBody>
      </p:sp>
      <p:sp>
        <p:nvSpPr>
          <p:cNvPr id="7" name="peldaño 2"/>
          <p:cNvSpPr/>
          <p:nvPr/>
        </p:nvSpPr>
        <p:spPr>
          <a:xfrm>
            <a:off x="3291840" y="1828800"/>
            <a:ext cx="2651760" cy="2148840"/>
          </a:xfrm>
          <a:prstGeom prst="roundRect">
            <a:avLst>
              <a:gd name="adj" fmla="val 4255"/>
            </a:avLst>
          </a:prstGeom>
          <a:solidFill>
            <a:schemeClr val="accent2"/>
          </a:solidFill>
          <a:ln w="12700">
            <a:solidFill>
              <a:schemeClr val="accent2"/>
            </a:solidFill>
            <a:prstDash val="solid"/>
          </a:ln>
        </p:spPr>
      </p:sp>
      <p:sp>
        <p:nvSpPr>
          <p:cNvPr id="8" name="Text 6"/>
          <p:cNvSpPr txBox="1"/>
          <p:nvPr/>
        </p:nvSpPr>
        <p:spPr>
          <a:xfrm>
            <a:off x="3474720" y="1938528"/>
            <a:ext cx="548640" cy="457200"/>
          </a:xfrm>
          <a:prstGeom prst="rect">
            <a:avLst/>
          </a:prstGeom>
          <a:noFill/>
          <a:ln/>
        </p:spPr>
        <p:txBody>
          <a:bodyPr wrap="square" lIns="0" tIns="0" rIns="0" bIns="0" rtlCol="0" anchor="ctr"/>
          <a:lstStyle/>
          <a:p>
            <a:pPr indent="0" marL="0">
              <a:buNone/>
            </a:pPr>
            <a:r>
              <a:rPr lang="en-US" sz="2800" b="1" dirty="0">
                <a:solidFill>
                  <a:schemeClr val="bg1"/>
                </a:solidFill>
                <a:latin typeface="Cambria" pitchFamily="34" charset="0"/>
                <a:ea typeface="Cambria" pitchFamily="34" charset="-122"/>
                <a:cs typeface="Cambria" pitchFamily="34" charset="-120"/>
              </a:rPr>
              <a:t>2</a:t>
            </a:r>
            <a:endParaRPr lang="en-US" sz="2800" dirty="0"/>
          </a:p>
        </p:txBody>
      </p:sp>
      <p:sp>
        <p:nvSpPr>
          <p:cNvPr id="9" name="Text 7"/>
          <p:cNvSpPr txBox="1"/>
          <p:nvPr/>
        </p:nvSpPr>
        <p:spPr>
          <a:xfrm>
            <a:off x="3474720" y="2423160"/>
            <a:ext cx="2286000" cy="548640"/>
          </a:xfrm>
          <a:prstGeom prst="rect">
            <a:avLst/>
          </a:prstGeom>
          <a:noFill/>
          <a:ln/>
        </p:spPr>
        <p:txBody>
          <a:bodyPr wrap="square" lIns="0" tIns="0" rIns="0" bIns="0" rtlCol="0" anchor="t"/>
          <a:lstStyle/>
          <a:p>
            <a:pPr indent="0" marL="0">
              <a:buNone/>
            </a:pPr>
            <a:r>
              <a:rPr lang="en-US" sz="1500" b="1" dirty="0">
                <a:solidFill>
                  <a:schemeClr val="bg1"/>
                </a:solidFill>
                <a:latin typeface="Calibri" pitchFamily="34" charset="0"/>
                <a:ea typeface="Calibri" pitchFamily="34" charset="-122"/>
                <a:cs typeface="Calibri" pitchFamily="34" charset="-120"/>
              </a:rPr>
              <a:t>Mejora la tarea</a:t>
            </a:r>
            <a:endParaRPr lang="en-US" sz="1500" dirty="0"/>
          </a:p>
        </p:txBody>
      </p:sp>
      <p:sp>
        <p:nvSpPr>
          <p:cNvPr id="10" name="Text 8"/>
          <p:cNvSpPr txBox="1"/>
          <p:nvPr/>
        </p:nvSpPr>
        <p:spPr>
          <a:xfrm>
            <a:off x="3474720" y="3017520"/>
            <a:ext cx="2286000" cy="45720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La herramienta vuelve la actividad más ágil o accesible.</a:t>
            </a:r>
            <a:endParaRPr lang="en-US" sz="1300" dirty="0"/>
          </a:p>
        </p:txBody>
      </p:sp>
      <p:sp>
        <p:nvSpPr>
          <p:cNvPr id="11" name="peldaño 3"/>
          <p:cNvSpPr/>
          <p:nvPr/>
        </p:nvSpPr>
        <p:spPr>
          <a:xfrm>
            <a:off x="6126480" y="1371600"/>
            <a:ext cx="2651760" cy="2606040"/>
          </a:xfrm>
          <a:prstGeom prst="roundRect">
            <a:avLst>
              <a:gd name="adj" fmla="val 3509"/>
            </a:avLst>
          </a:prstGeom>
          <a:solidFill>
            <a:schemeClr val="tx2"/>
          </a:solidFill>
          <a:ln w="12700">
            <a:solidFill>
              <a:schemeClr val="tx2"/>
            </a:solidFill>
            <a:prstDash val="solid"/>
          </a:ln>
        </p:spPr>
      </p:sp>
      <p:sp>
        <p:nvSpPr>
          <p:cNvPr id="12" name="Text 10"/>
          <p:cNvSpPr txBox="1"/>
          <p:nvPr/>
        </p:nvSpPr>
        <p:spPr>
          <a:xfrm>
            <a:off x="6309360" y="1481328"/>
            <a:ext cx="548640" cy="457200"/>
          </a:xfrm>
          <a:prstGeom prst="rect">
            <a:avLst/>
          </a:prstGeom>
          <a:noFill/>
          <a:ln/>
        </p:spPr>
        <p:txBody>
          <a:bodyPr wrap="square" lIns="0" tIns="0" rIns="0" bIns="0" rtlCol="0" anchor="ctr"/>
          <a:lstStyle/>
          <a:p>
            <a:pPr indent="0" marL="0">
              <a:buNone/>
            </a:pPr>
            <a:r>
              <a:rPr lang="en-US" sz="2800" b="1" dirty="0">
                <a:solidFill>
                  <a:schemeClr val="bg1"/>
                </a:solidFill>
                <a:latin typeface="Cambria" pitchFamily="34" charset="0"/>
                <a:ea typeface="Cambria" pitchFamily="34" charset="-122"/>
                <a:cs typeface="Cambria" pitchFamily="34" charset="-120"/>
              </a:rPr>
              <a:t>3</a:t>
            </a:r>
            <a:endParaRPr lang="en-US" sz="2800" dirty="0"/>
          </a:p>
        </p:txBody>
      </p:sp>
      <p:sp>
        <p:nvSpPr>
          <p:cNvPr id="13" name="Text 11"/>
          <p:cNvSpPr txBox="1"/>
          <p:nvPr/>
        </p:nvSpPr>
        <p:spPr>
          <a:xfrm>
            <a:off x="6309360" y="1965960"/>
            <a:ext cx="2286000" cy="548640"/>
          </a:xfrm>
          <a:prstGeom prst="rect">
            <a:avLst/>
          </a:prstGeom>
          <a:noFill/>
          <a:ln/>
        </p:spPr>
        <p:txBody>
          <a:bodyPr wrap="square" lIns="0" tIns="0" rIns="0" bIns="0" rtlCol="0" anchor="t"/>
          <a:lstStyle/>
          <a:p>
            <a:pPr indent="0" marL="0">
              <a:buNone/>
            </a:pPr>
            <a:r>
              <a:rPr lang="en-US" sz="1500" b="1" dirty="0">
                <a:solidFill>
                  <a:schemeClr val="bg1"/>
                </a:solidFill>
                <a:latin typeface="Calibri" pitchFamily="34" charset="0"/>
                <a:ea typeface="Calibri" pitchFamily="34" charset="-122"/>
                <a:cs typeface="Calibri" pitchFamily="34" charset="-120"/>
              </a:rPr>
              <a:t>Cambia la forma de aprender</a:t>
            </a:r>
            <a:endParaRPr lang="en-US" sz="1500" dirty="0"/>
          </a:p>
        </p:txBody>
      </p:sp>
      <p:sp>
        <p:nvSpPr>
          <p:cNvPr id="14" name="Text 12"/>
          <p:cNvSpPr txBox="1"/>
          <p:nvPr/>
        </p:nvSpPr>
        <p:spPr>
          <a:xfrm>
            <a:off x="6309360" y="2560320"/>
            <a:ext cx="2286000" cy="45720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Nacen tareas que antes no eran posibles.</a:t>
            </a:r>
            <a:endParaRPr lang="en-US" sz="1300" dirty="0"/>
          </a:p>
        </p:txBody>
      </p:sp>
      <p:sp>
        <p:nvSpPr>
          <p:cNvPr id="15" name="Text 13"/>
          <p:cNvSpPr txBox="1"/>
          <p:nvPr/>
        </p:nvSpPr>
        <p:spPr>
          <a:xfrm>
            <a:off x="457200" y="4114800"/>
            <a:ext cx="8229600" cy="365760"/>
          </a:xfrm>
          <a:prstGeom prst="rect">
            <a:avLst/>
          </a:prstGeom>
          <a:noFill/>
          <a:ln/>
        </p:spPr>
        <p:txBody>
          <a:bodyPr wrap="square" lIns="0" tIns="0" rIns="0" bIns="0" rtlCol="0" anchor="ctr"/>
          <a:lstStyle/>
          <a:p>
            <a:pPr indent="0" marL="0">
              <a:buNone/>
            </a:pPr>
            <a:r>
              <a:rPr lang="en-US" sz="1400" b="1" dirty="0">
                <a:solidFill>
                  <a:schemeClr val="accent1"/>
                </a:solidFill>
                <a:latin typeface="Calibri" pitchFamily="34" charset="0"/>
                <a:ea typeface="Calibri" pitchFamily="34" charset="-122"/>
                <a:cs typeface="Calibri" pitchFamily="34" charset="-120"/>
              </a:rPr>
              <a:t>Pregunta guía: ¿qué herramienta de tu institución solo cambió el soporte?</a:t>
            </a:r>
            <a:endParaRPr lang="en-US" sz="1400" dirty="0"/>
          </a:p>
        </p:txBody>
      </p:sp>
      <p:sp>
        <p:nvSpPr>
          <p:cNvPr id="25" name="Slide Number Placeholder 0"/>
          <p:cNvSpPr>
            <a:spLocks noGrp="1"/>
          </p:cNvSpPr>
          <p:nvPr>
            <p:ph type="sldNum" sz="quarter" idx="4294967295"/>
          </p:nvPr>
        </p:nvSpPr>
        <p:spPr>
          <a:xfrm>
            <a:off x="8229600" y="470001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2.4 La era digital: una nueva misión en la escuela</a:t>
            </a:r>
            <a:endParaRPr lang="en-US" sz="2800" dirty="0"/>
          </a:p>
        </p:txBody>
      </p:sp>
      <p:sp>
        <p:nvSpPr>
          <p:cNvPr id="3" name="misión"/>
          <p:cNvSpPr/>
          <p:nvPr/>
        </p:nvSpPr>
        <p:spPr>
          <a:xfrm>
            <a:off x="457200" y="1188720"/>
            <a:ext cx="3383280" cy="3017520"/>
          </a:xfrm>
          <a:prstGeom prst="roundRect">
            <a:avLst>
              <a:gd name="adj" fmla="val 3030"/>
            </a:avLst>
          </a:prstGeom>
          <a:solidFill>
            <a:schemeClr val="tx2"/>
          </a:solidFill>
          <a:ln w="12700">
            <a:solidFill>
              <a:schemeClr val="tx2"/>
            </a:solidFill>
            <a:prstDash val="solid"/>
          </a:ln>
        </p:spPr>
      </p:sp>
      <p:sp>
        <p:nvSpPr>
          <p:cNvPr id="4" name="Text 2"/>
          <p:cNvSpPr txBox="1"/>
          <p:nvPr/>
        </p:nvSpPr>
        <p:spPr>
          <a:xfrm>
            <a:off x="685800" y="1371600"/>
            <a:ext cx="2926080" cy="274320"/>
          </a:xfrm>
          <a:prstGeom prst="rect">
            <a:avLst/>
          </a:prstGeom>
          <a:noFill/>
          <a:ln/>
        </p:spPr>
        <p:txBody>
          <a:bodyPr wrap="square" lIns="0" tIns="0" rIns="0" bIns="0" rtlCol="0" anchor="ctr"/>
          <a:lstStyle/>
          <a:p>
            <a:pPr indent="0" marL="0">
              <a:buNone/>
            </a:pPr>
            <a:r>
              <a:rPr lang="en-US" sz="1100" b="1" dirty="0">
                <a:solidFill>
                  <a:schemeClr val="accent3"/>
                </a:solidFill>
                <a:latin typeface="Calibri" pitchFamily="34" charset="0"/>
                <a:ea typeface="Calibri" pitchFamily="34" charset="-122"/>
                <a:cs typeface="Calibri" pitchFamily="34" charset="-120"/>
              </a:rPr>
              <a:t>Nueva misión</a:t>
            </a:r>
            <a:endParaRPr lang="en-US" sz="1100" dirty="0"/>
          </a:p>
        </p:txBody>
      </p:sp>
      <p:sp>
        <p:nvSpPr>
          <p:cNvPr id="5" name="Text 3"/>
          <p:cNvSpPr txBox="1"/>
          <p:nvPr/>
        </p:nvSpPr>
        <p:spPr>
          <a:xfrm>
            <a:off x="685800" y="1737360"/>
            <a:ext cx="2926080" cy="2194560"/>
          </a:xfrm>
          <a:prstGeom prst="rect">
            <a:avLst/>
          </a:prstGeom>
          <a:noFill/>
          <a:ln/>
        </p:spPr>
        <p:txBody>
          <a:bodyPr wrap="square" lIns="0" tIns="0" rIns="0" bIns="0" rtlCol="0" anchor="t"/>
          <a:lstStyle/>
          <a:p>
            <a:pPr indent="0" marL="0">
              <a:buNone/>
            </a:pPr>
            <a:r>
              <a:rPr lang="en-US" sz="1900" dirty="0">
                <a:solidFill>
                  <a:schemeClr val="bg1"/>
                </a:solidFill>
                <a:latin typeface="Cambria" pitchFamily="34" charset="0"/>
                <a:ea typeface="Cambria" pitchFamily="34" charset="-122"/>
                <a:cs typeface="Cambria" pitchFamily="34" charset="-120"/>
              </a:rPr>
              <a:t>La escuela pasa de transmitir información a formar criterio para vivir en un mundo mediado por lo digital.</a:t>
            </a:r>
            <a:endParaRPr lang="en-US" sz="1900" dirty="0"/>
          </a:p>
        </p:txBody>
      </p:sp>
      <p:sp>
        <p:nvSpPr>
          <p:cNvPr id="6" name="capacidad 1"/>
          <p:cNvSpPr/>
          <p:nvPr/>
        </p:nvSpPr>
        <p:spPr>
          <a:xfrm>
            <a:off x="4114800" y="1188720"/>
            <a:ext cx="4572000" cy="685800"/>
          </a:xfrm>
          <a:prstGeom prst="roundRect">
            <a:avLst>
              <a:gd name="adj" fmla="val 13333"/>
            </a:avLst>
          </a:prstGeom>
          <a:solidFill>
            <a:schemeClr val="bg2"/>
          </a:solidFill>
          <a:ln w="12700">
            <a:solidFill>
              <a:schemeClr val="bg2"/>
            </a:solidFill>
            <a:prstDash val="solid"/>
          </a:ln>
        </p:spPr>
      </p:sp>
      <p:sp>
        <p:nvSpPr>
          <p:cNvPr id="7" name="círculo FaSearch"/>
          <p:cNvSpPr/>
          <p:nvPr/>
        </p:nvSpPr>
        <p:spPr>
          <a:xfrm>
            <a:off x="4251960" y="1280160"/>
            <a:ext cx="502920" cy="502920"/>
          </a:xfrm>
          <a:prstGeom prst="ellipse">
            <a:avLst/>
          </a:prstGeom>
          <a:solidFill>
            <a:schemeClr val="accent1"/>
          </a:solidFill>
          <a:ln w="12700">
            <a:solidFill>
              <a:schemeClr val="accent1"/>
            </a:solidFill>
            <a:prstDash val="solid"/>
          </a:ln>
        </p:spPr>
      </p:sp>
      <p:pic>
        <p:nvPicPr>
          <p:cNvPr id="8" name="Image 0" descr="Ícono FaSearch">    </p:cNvPr>
          <p:cNvPicPr>
            <a:picLocks noChangeAspect="1"/>
          </p:cNvPicPr>
          <p:nvPr/>
        </p:nvPicPr>
        <p:blipFill>
          <a:blip r:embed="rId1"/>
          <a:stretch>
            <a:fillRect/>
          </a:stretch>
        </p:blipFill>
        <p:spPr>
          <a:xfrm>
            <a:off x="4377690" y="1405890"/>
            <a:ext cx="251460" cy="251460"/>
          </a:xfrm>
          <a:prstGeom prst="rect">
            <a:avLst/>
          </a:prstGeom>
        </p:spPr>
      </p:pic>
      <p:sp>
        <p:nvSpPr>
          <p:cNvPr id="9" name="Text 6"/>
          <p:cNvSpPr txBox="1"/>
          <p:nvPr/>
        </p:nvSpPr>
        <p:spPr>
          <a:xfrm>
            <a:off x="4937760" y="1188720"/>
            <a:ext cx="3611880" cy="68580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Discernir lo que circula en la red.</a:t>
            </a:r>
            <a:endParaRPr lang="en-US" sz="1400" dirty="0"/>
          </a:p>
        </p:txBody>
      </p:sp>
      <p:sp>
        <p:nvSpPr>
          <p:cNvPr id="10" name="capacidad 2"/>
          <p:cNvSpPr/>
          <p:nvPr/>
        </p:nvSpPr>
        <p:spPr>
          <a:xfrm>
            <a:off x="4114800" y="1965960"/>
            <a:ext cx="4572000" cy="685800"/>
          </a:xfrm>
          <a:prstGeom prst="roundRect">
            <a:avLst>
              <a:gd name="adj" fmla="val 13333"/>
            </a:avLst>
          </a:prstGeom>
          <a:solidFill>
            <a:schemeClr val="bg2"/>
          </a:solidFill>
          <a:ln w="12700">
            <a:solidFill>
              <a:schemeClr val="bg2"/>
            </a:solidFill>
            <a:prstDash val="solid"/>
          </a:ln>
        </p:spPr>
      </p:sp>
      <p:sp>
        <p:nvSpPr>
          <p:cNvPr id="11" name="círculo FaHandshake"/>
          <p:cNvSpPr/>
          <p:nvPr/>
        </p:nvSpPr>
        <p:spPr>
          <a:xfrm>
            <a:off x="4251960" y="2057400"/>
            <a:ext cx="502920" cy="502920"/>
          </a:xfrm>
          <a:prstGeom prst="ellipse">
            <a:avLst/>
          </a:prstGeom>
          <a:solidFill>
            <a:schemeClr val="accent1"/>
          </a:solidFill>
          <a:ln w="12700">
            <a:solidFill>
              <a:schemeClr val="accent1"/>
            </a:solidFill>
            <a:prstDash val="solid"/>
          </a:ln>
        </p:spPr>
      </p:sp>
      <p:pic>
        <p:nvPicPr>
          <p:cNvPr id="12" name="Image 1" descr="Ícono FaHandshake">    </p:cNvPr>
          <p:cNvPicPr>
            <a:picLocks noChangeAspect="1"/>
          </p:cNvPicPr>
          <p:nvPr/>
        </p:nvPicPr>
        <p:blipFill>
          <a:blip r:embed="rId2"/>
          <a:stretch>
            <a:fillRect/>
          </a:stretch>
        </p:blipFill>
        <p:spPr>
          <a:xfrm>
            <a:off x="4377690" y="2183130"/>
            <a:ext cx="251460" cy="251460"/>
          </a:xfrm>
          <a:prstGeom prst="rect">
            <a:avLst/>
          </a:prstGeom>
        </p:spPr>
      </p:pic>
      <p:sp>
        <p:nvSpPr>
          <p:cNvPr id="13" name="Text 9"/>
          <p:cNvSpPr txBox="1"/>
          <p:nvPr/>
        </p:nvSpPr>
        <p:spPr>
          <a:xfrm>
            <a:off x="4937760" y="1965960"/>
            <a:ext cx="3611880" cy="68580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Colaborar y participar en comunidades.</a:t>
            </a:r>
            <a:endParaRPr lang="en-US" sz="1400" dirty="0"/>
          </a:p>
        </p:txBody>
      </p:sp>
      <p:sp>
        <p:nvSpPr>
          <p:cNvPr id="14" name="capacidad 3"/>
          <p:cNvSpPr/>
          <p:nvPr/>
        </p:nvSpPr>
        <p:spPr>
          <a:xfrm>
            <a:off x="4114800" y="2743200"/>
            <a:ext cx="4572000" cy="685800"/>
          </a:xfrm>
          <a:prstGeom prst="roundRect">
            <a:avLst>
              <a:gd name="adj" fmla="val 13333"/>
            </a:avLst>
          </a:prstGeom>
          <a:solidFill>
            <a:schemeClr val="bg2"/>
          </a:solidFill>
          <a:ln w="12700">
            <a:solidFill>
              <a:schemeClr val="bg2"/>
            </a:solidFill>
            <a:prstDash val="solid"/>
          </a:ln>
        </p:spPr>
      </p:sp>
      <p:sp>
        <p:nvSpPr>
          <p:cNvPr id="15" name="círculo FaShieldAlt"/>
          <p:cNvSpPr/>
          <p:nvPr/>
        </p:nvSpPr>
        <p:spPr>
          <a:xfrm>
            <a:off x="4251960" y="2834640"/>
            <a:ext cx="502920" cy="502920"/>
          </a:xfrm>
          <a:prstGeom prst="ellipse">
            <a:avLst/>
          </a:prstGeom>
          <a:solidFill>
            <a:schemeClr val="accent1"/>
          </a:solidFill>
          <a:ln w="12700">
            <a:solidFill>
              <a:schemeClr val="accent1"/>
            </a:solidFill>
            <a:prstDash val="solid"/>
          </a:ln>
        </p:spPr>
      </p:sp>
      <p:pic>
        <p:nvPicPr>
          <p:cNvPr id="16" name="Image 2" descr="Ícono FaShieldAlt">    </p:cNvPr>
          <p:cNvPicPr>
            <a:picLocks noChangeAspect="1"/>
          </p:cNvPicPr>
          <p:nvPr/>
        </p:nvPicPr>
        <p:blipFill>
          <a:blip r:embed="rId3"/>
          <a:stretch>
            <a:fillRect/>
          </a:stretch>
        </p:blipFill>
        <p:spPr>
          <a:xfrm>
            <a:off x="4377690" y="2960370"/>
            <a:ext cx="251460" cy="251460"/>
          </a:xfrm>
          <a:prstGeom prst="rect">
            <a:avLst/>
          </a:prstGeom>
        </p:spPr>
      </p:pic>
      <p:sp>
        <p:nvSpPr>
          <p:cNvPr id="17" name="Text 12"/>
          <p:cNvSpPr txBox="1"/>
          <p:nvPr/>
        </p:nvSpPr>
        <p:spPr>
          <a:xfrm>
            <a:off x="4937760" y="2743200"/>
            <a:ext cx="3611880" cy="68580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Cuidar los datos, la identidad y el bienestar.</a:t>
            </a:r>
            <a:endParaRPr lang="en-US" sz="1400" dirty="0"/>
          </a:p>
        </p:txBody>
      </p:sp>
      <p:sp>
        <p:nvSpPr>
          <p:cNvPr id="18" name="capacidad 4"/>
          <p:cNvSpPr/>
          <p:nvPr/>
        </p:nvSpPr>
        <p:spPr>
          <a:xfrm>
            <a:off x="4114800" y="3520440"/>
            <a:ext cx="4572000" cy="685800"/>
          </a:xfrm>
          <a:prstGeom prst="roundRect">
            <a:avLst>
              <a:gd name="adj" fmla="val 13333"/>
            </a:avLst>
          </a:prstGeom>
          <a:solidFill>
            <a:schemeClr val="bg2"/>
          </a:solidFill>
          <a:ln w="12700">
            <a:solidFill>
              <a:schemeClr val="bg2"/>
            </a:solidFill>
            <a:prstDash val="solid"/>
          </a:ln>
        </p:spPr>
      </p:sp>
      <p:sp>
        <p:nvSpPr>
          <p:cNvPr id="19" name="círculo FaInfinity"/>
          <p:cNvSpPr/>
          <p:nvPr/>
        </p:nvSpPr>
        <p:spPr>
          <a:xfrm>
            <a:off x="4251960" y="3611880"/>
            <a:ext cx="502920" cy="502920"/>
          </a:xfrm>
          <a:prstGeom prst="ellipse">
            <a:avLst/>
          </a:prstGeom>
          <a:solidFill>
            <a:schemeClr val="accent1"/>
          </a:solidFill>
          <a:ln w="12700">
            <a:solidFill>
              <a:schemeClr val="accent1"/>
            </a:solidFill>
            <a:prstDash val="solid"/>
          </a:ln>
        </p:spPr>
      </p:sp>
      <p:pic>
        <p:nvPicPr>
          <p:cNvPr id="20" name="Image 3" descr="Ícono FaInfinity">    </p:cNvPr>
          <p:cNvPicPr>
            <a:picLocks noChangeAspect="1"/>
          </p:cNvPicPr>
          <p:nvPr/>
        </p:nvPicPr>
        <p:blipFill>
          <a:blip r:embed="rId4"/>
          <a:stretch>
            <a:fillRect/>
          </a:stretch>
        </p:blipFill>
        <p:spPr>
          <a:xfrm>
            <a:off x="4377690" y="3737610"/>
            <a:ext cx="251460" cy="251460"/>
          </a:xfrm>
          <a:prstGeom prst="rect">
            <a:avLst/>
          </a:prstGeom>
        </p:spPr>
      </p:pic>
      <p:sp>
        <p:nvSpPr>
          <p:cNvPr id="21" name="Text 15"/>
          <p:cNvSpPr txBox="1"/>
          <p:nvPr/>
        </p:nvSpPr>
        <p:spPr>
          <a:xfrm>
            <a:off x="4937760" y="3520440"/>
            <a:ext cx="3611880" cy="68580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Seguir aprendiendo a lo largo de la vida.</a:t>
            </a:r>
            <a:endParaRPr lang="en-US" sz="1400" dirty="0"/>
          </a:p>
        </p:txBody>
      </p:sp>
      <p:sp>
        <p:nvSpPr>
          <p:cNvPr id="25" name="Slide Number Placeholder 0"/>
          <p:cNvSpPr>
            <a:spLocks noGrp="1"/>
          </p:cNvSpPr>
          <p:nvPr>
            <p:ph type="sldNum" sz="quarter" idx="4294967295"/>
          </p:nvPr>
        </p:nvSpPr>
        <p:spPr>
          <a:xfrm>
            <a:off x="8229600" y="470001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2.5 El impacto de la tecnología en la innovación</a:t>
            </a:r>
            <a:endParaRPr lang="en-US" sz="2800" dirty="0"/>
          </a:p>
        </p:txBody>
      </p:sp>
      <p:sp>
        <p:nvSpPr>
          <p:cNvPr id="3" name="Favorable"/>
          <p:cNvSpPr/>
          <p:nvPr/>
        </p:nvSpPr>
        <p:spPr>
          <a:xfrm>
            <a:off x="457200" y="1188720"/>
            <a:ext cx="4023360" cy="2697480"/>
          </a:xfrm>
          <a:prstGeom prst="roundRect">
            <a:avLst>
              <a:gd name="adj" fmla="val 3390"/>
            </a:avLst>
          </a:prstGeom>
          <a:solidFill>
            <a:schemeClr val="bg2"/>
          </a:solidFill>
          <a:ln w="12700">
            <a:solidFill>
              <a:schemeClr val="bg2"/>
            </a:solidFill>
            <a:prstDash val="solid"/>
          </a:ln>
        </p:spPr>
      </p:sp>
      <p:sp>
        <p:nvSpPr>
          <p:cNvPr id="4" name="Text 2"/>
          <p:cNvSpPr txBox="1"/>
          <p:nvPr/>
        </p:nvSpPr>
        <p:spPr>
          <a:xfrm>
            <a:off x="685800" y="1325880"/>
            <a:ext cx="3566160" cy="365760"/>
          </a:xfrm>
          <a:prstGeom prst="rect">
            <a:avLst/>
          </a:prstGeom>
          <a:noFill/>
          <a:ln/>
        </p:spPr>
        <p:txBody>
          <a:bodyPr wrap="square" lIns="0" tIns="0" rIns="0" bIns="0" rtlCol="0" anchor="ctr"/>
          <a:lstStyle/>
          <a:p>
            <a:pPr indent="0" marL="0">
              <a:buNone/>
            </a:pPr>
            <a:r>
              <a:rPr lang="en-US" sz="1700" b="1" dirty="0">
                <a:solidFill>
                  <a:schemeClr val="accent1"/>
                </a:solidFill>
                <a:latin typeface="Calibri" pitchFamily="34" charset="0"/>
                <a:ea typeface="Calibri" pitchFamily="34" charset="-122"/>
                <a:cs typeface="Calibri" pitchFamily="34" charset="-120"/>
              </a:rPr>
              <a:t>Favorable</a:t>
            </a:r>
            <a:endParaRPr lang="en-US" sz="1700" dirty="0"/>
          </a:p>
        </p:txBody>
      </p:sp>
      <p:sp>
        <p:nvSpPr>
          <p:cNvPr id="5" name="Text 3"/>
          <p:cNvSpPr txBox="1"/>
          <p:nvPr/>
        </p:nvSpPr>
        <p:spPr>
          <a:xfrm>
            <a:off x="685800" y="1783080"/>
            <a:ext cx="3611880" cy="19202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Amplía el acceso a recursos y a personas.</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Permite personalizar el aprendizaje.</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Facilita colaborar a distancia.</a:t>
            </a:r>
            <a:endParaRPr lang="en-US" sz="1400" dirty="0"/>
          </a:p>
        </p:txBody>
      </p:sp>
      <p:sp>
        <p:nvSpPr>
          <p:cNvPr id="6" name="No tan favorable"/>
          <p:cNvSpPr/>
          <p:nvPr/>
        </p:nvSpPr>
        <p:spPr>
          <a:xfrm>
            <a:off x="4663440" y="1188720"/>
            <a:ext cx="4023360" cy="2697480"/>
          </a:xfrm>
          <a:prstGeom prst="roundRect">
            <a:avLst>
              <a:gd name="adj" fmla="val 3390"/>
            </a:avLst>
          </a:prstGeom>
          <a:solidFill>
            <a:schemeClr val="bg2"/>
          </a:solidFill>
          <a:ln w="12700">
            <a:solidFill>
              <a:schemeClr val="bg2"/>
            </a:solidFill>
            <a:prstDash val="solid"/>
          </a:ln>
        </p:spPr>
      </p:sp>
      <p:sp>
        <p:nvSpPr>
          <p:cNvPr id="7" name="Text 5"/>
          <p:cNvSpPr txBox="1"/>
          <p:nvPr/>
        </p:nvSpPr>
        <p:spPr>
          <a:xfrm>
            <a:off x="4892040" y="1325880"/>
            <a:ext cx="3566160" cy="365760"/>
          </a:xfrm>
          <a:prstGeom prst="rect">
            <a:avLst/>
          </a:prstGeom>
          <a:noFill/>
          <a:ln/>
        </p:spPr>
        <p:txBody>
          <a:bodyPr wrap="square" lIns="0" tIns="0" rIns="0" bIns="0" rtlCol="0" anchor="ctr"/>
          <a:lstStyle/>
          <a:p>
            <a:pPr indent="0" marL="0">
              <a:buNone/>
            </a:pPr>
            <a:r>
              <a:rPr lang="en-US" sz="1700" b="1" dirty="0">
                <a:solidFill>
                  <a:schemeClr val="accent4"/>
                </a:solidFill>
                <a:latin typeface="Calibri" pitchFamily="34" charset="0"/>
                <a:ea typeface="Calibri" pitchFamily="34" charset="-122"/>
                <a:cs typeface="Calibri" pitchFamily="34" charset="-120"/>
              </a:rPr>
              <a:t>No tan favorable</a:t>
            </a:r>
            <a:endParaRPr lang="en-US" sz="1700" dirty="0"/>
          </a:p>
        </p:txBody>
      </p:sp>
      <p:sp>
        <p:nvSpPr>
          <p:cNvPr id="8" name="Text 6"/>
          <p:cNvSpPr txBox="1"/>
          <p:nvPr/>
        </p:nvSpPr>
        <p:spPr>
          <a:xfrm>
            <a:off x="4892040" y="1783080"/>
            <a:ext cx="3611880" cy="19202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Puede ampliar las brechas de acceso.</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Distrae si no hay intención pedagógica.</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Suma carga al personal docente sin formación.</a:t>
            </a:r>
            <a:endParaRPr lang="en-US" sz="1400" dirty="0"/>
          </a:p>
        </p:txBody>
      </p:sp>
      <p:sp>
        <p:nvSpPr>
          <p:cNvPr id="9" name="Text 7"/>
          <p:cNvSpPr txBox="1"/>
          <p:nvPr/>
        </p:nvSpPr>
        <p:spPr>
          <a:xfrm>
            <a:off x="457200" y="4023360"/>
            <a:ext cx="8229600" cy="365760"/>
          </a:xfrm>
          <a:prstGeom prst="rect">
            <a:avLst/>
          </a:prstGeom>
          <a:noFill/>
          <a:ln/>
        </p:spPr>
        <p:txBody>
          <a:bodyPr wrap="square" lIns="0" tIns="0" rIns="0" bIns="0" rtlCol="0" anchor="ctr"/>
          <a:lstStyle/>
          <a:p>
            <a:pPr indent="0" marL="0">
              <a:buNone/>
            </a:pPr>
            <a:r>
              <a:rPr lang="en-US" sz="1400" b="1" dirty="0">
                <a:solidFill>
                  <a:schemeClr val="accent1"/>
                </a:solidFill>
                <a:latin typeface="Calibri" pitchFamily="34" charset="0"/>
                <a:ea typeface="Calibri" pitchFamily="34" charset="-122"/>
                <a:cs typeface="Calibri" pitchFamily="34" charset="-120"/>
              </a:rPr>
              <a:t>Pregunta guía: ¿qué impacto observas en tu institución?</a:t>
            </a:r>
            <a:endParaRPr lang="en-US" sz="1400" dirty="0"/>
          </a:p>
        </p:txBody>
      </p:sp>
      <p:sp>
        <p:nvSpPr>
          <p:cNvPr id="25" name="Slide Number Placeholder 0"/>
          <p:cNvSpPr>
            <a:spLocks noGrp="1"/>
          </p:cNvSpPr>
          <p:nvPr>
            <p:ph type="sldNum" sz="quarter" idx="4294967295"/>
          </p:nvPr>
        </p:nvSpPr>
        <p:spPr>
          <a:xfrm>
            <a:off x="8229600" y="470001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Para ver y comentar</a:t>
            </a:r>
            <a:endParaRPr lang="en-US" sz="2800" dirty="0"/>
          </a:p>
        </p:txBody>
      </p:sp>
      <p:sp>
        <p:nvSpPr>
          <p:cNvPr id="3" name="video 1"/>
          <p:cNvSpPr/>
          <p:nvPr/>
        </p:nvSpPr>
        <p:spPr>
          <a:xfrm>
            <a:off x="457200" y="1188720"/>
            <a:ext cx="8229600" cy="804672"/>
          </a:xfrm>
          <a:prstGeom prst="roundRect">
            <a:avLst>
              <a:gd name="adj" fmla="val 11364"/>
            </a:avLst>
          </a:prstGeom>
          <a:solidFill>
            <a:schemeClr val="bg2"/>
          </a:solidFill>
          <a:ln w="12700">
            <a:solidFill>
              <a:schemeClr val="bg2"/>
            </a:solidFill>
            <a:prstDash val="solid"/>
          </a:ln>
        </p:spPr>
      </p:sp>
      <p:sp>
        <p:nvSpPr>
          <p:cNvPr id="4" name="círculo FaPlay"/>
          <p:cNvSpPr/>
          <p:nvPr/>
        </p:nvSpPr>
        <p:spPr>
          <a:xfrm>
            <a:off x="640080" y="1335024"/>
            <a:ext cx="512064" cy="512064"/>
          </a:xfrm>
          <a:prstGeom prst="ellipse">
            <a:avLst/>
          </a:prstGeom>
          <a:solidFill>
            <a:schemeClr val="accent1"/>
          </a:solidFill>
          <a:ln w="12700">
            <a:solidFill>
              <a:schemeClr val="accent1"/>
            </a:solidFill>
            <a:prstDash val="solid"/>
          </a:ln>
        </p:spPr>
      </p:sp>
      <p:pic>
        <p:nvPicPr>
          <p:cNvPr id="5" name="Image 0" descr="Ícono FaPlay">    </p:cNvPr>
          <p:cNvPicPr>
            <a:picLocks noChangeAspect="1"/>
          </p:cNvPicPr>
          <p:nvPr/>
        </p:nvPicPr>
        <p:blipFill>
          <a:blip r:embed="rId1"/>
          <a:stretch>
            <a:fillRect/>
          </a:stretch>
        </p:blipFill>
        <p:spPr>
          <a:xfrm>
            <a:off x="768096" y="1463040"/>
            <a:ext cx="256032" cy="256032"/>
          </a:xfrm>
          <a:prstGeom prst="rect">
            <a:avLst/>
          </a:prstGeom>
        </p:spPr>
      </p:pic>
      <p:sp>
        <p:nvSpPr>
          <p:cNvPr id="6" name="Text 3"/>
          <p:cNvSpPr txBox="1"/>
          <p:nvPr/>
        </p:nvSpPr>
        <p:spPr>
          <a:xfrm>
            <a:off x="1371600" y="1280160"/>
            <a:ext cx="7132320" cy="256032"/>
          </a:xfrm>
          <a:prstGeom prst="rect">
            <a:avLst/>
          </a:prstGeom>
          <a:noFill/>
          <a:ln/>
        </p:spPr>
        <p:txBody>
          <a:bodyPr wrap="square" lIns="0" tIns="0" rIns="0" bIns="0" rtlCol="0" anchor="ctr"/>
          <a:lstStyle/>
          <a:p>
            <a:pPr indent="0" marL="0">
              <a:buNone/>
            </a:pPr>
            <a:r>
              <a:rPr lang="en-US" sz="1100" dirty="0">
                <a:solidFill>
                  <a:schemeClr val="accent4"/>
                </a:solidFill>
                <a:latin typeface="Calibri" pitchFamily="34" charset="0"/>
                <a:ea typeface="Calibri" pitchFamily="34" charset="-122"/>
                <a:cs typeface="Calibri" pitchFamily="34" charset="-120"/>
              </a:rPr>
              <a:t>TEDx Talks [TED</a:t>
            </a:r>
            <a:pPr indent="0" marL="0">
              <a:buNone/>
            </a:pPr>
            <a:r>
              <a:rPr lang="en-US" sz="1100" baseline="30000" dirty="0">
                <a:solidFill>
                  <a:schemeClr val="accent4"/>
                </a:solidFill>
                <a:latin typeface="Calibri" pitchFamily="34" charset="0"/>
                <a:ea typeface="Calibri" pitchFamily="34" charset="-122"/>
                <a:cs typeface="Calibri" pitchFamily="34" charset="-120"/>
              </a:rPr>
              <a:t>x</a:t>
            </a:r>
            <a:pPr indent="0" marL="0">
              <a:buNone/>
            </a:pPr>
            <a:r>
              <a:rPr lang="en-US" sz="1100" dirty="0">
                <a:solidFill>
                  <a:schemeClr val="accent4"/>
                </a:solidFill>
                <a:latin typeface="Calibri" pitchFamily="34" charset="0"/>
                <a:ea typeface="Calibri" pitchFamily="34" charset="-122"/>
                <a:cs typeface="Calibri" pitchFamily="34" charset="-120"/>
              </a:rPr>
              <a:t>] (2023)</a:t>
            </a:r>
            <a:endParaRPr lang="en-US" sz="1100" dirty="0"/>
          </a:p>
        </p:txBody>
      </p:sp>
      <p:sp>
        <p:nvSpPr>
          <p:cNvPr id="7" name="Text 4">
            <a:hlinkClick r:id="rId2" tooltip="https://n9.cl/aku11e"/>
          </p:cNvPr>
          <p:cNvSpPr txBox="1"/>
          <p:nvPr/>
        </p:nvSpPr>
        <p:spPr>
          <a:xfrm>
            <a:off x="1371600" y="1554480"/>
            <a:ext cx="7132320" cy="347472"/>
          </a:xfrm>
          <a:prstGeom prst="rect">
            <a:avLst/>
          </a:prstGeom>
          <a:noFill/>
          <a:ln/>
        </p:spPr>
        <p:txBody>
          <a:bodyPr wrap="square" lIns="0" tIns="0" rIns="0" bIns="0" rtlCol="0" anchor="ctr"/>
          <a:lstStyle/>
          <a:p>
            <a:pPr indent="0" marL="0">
              <a:buNone/>
            </a:pPr>
            <a:r>
              <a:rPr lang="en-US" sz="1500" b="1" u="sng" dirty="0">
                <a:solidFill>
                  <a:schemeClr val="accent1"/>
                </a:solidFill>
                <a:latin typeface="Calibri" pitchFamily="34" charset="0"/>
                <a:ea typeface="Calibri" pitchFamily="34" charset="-122"/>
                <a:cs typeface="Calibri" pitchFamily="34" charset="-120"/>
                <a:hlinkClick r:id="rId2" invalidUrl="" action="" tgtFrame="" tooltip="https://n9.cl/aku11e" history="1" highlightClick="0" endSnd="0">
                  <a:extLst>
                    <a:ext uri="{A12FA001-AC4F-418D-AE19-62706E023703}">
                      <ahyp:hlinkClr xmlns:ahyp="http://schemas.microsoft.com/office/drawing/2018/hyperlinkcolor" val="tx"/>
                    </a:ext>
                  </a:extLst>
                </a:hlinkClick>
              </a:rPr>
              <a:t>Aprendizaje a lo largo de la vida | Vanesa Baños</a:t>
            </a:r>
            <a:endParaRPr lang="en-US" sz="1500" dirty="0"/>
          </a:p>
        </p:txBody>
      </p:sp>
      <p:sp>
        <p:nvSpPr>
          <p:cNvPr id="8" name="video 2"/>
          <p:cNvSpPr/>
          <p:nvPr/>
        </p:nvSpPr>
        <p:spPr>
          <a:xfrm>
            <a:off x="457200" y="2103120"/>
            <a:ext cx="8229600" cy="804672"/>
          </a:xfrm>
          <a:prstGeom prst="roundRect">
            <a:avLst>
              <a:gd name="adj" fmla="val 11364"/>
            </a:avLst>
          </a:prstGeom>
          <a:solidFill>
            <a:schemeClr val="bg2"/>
          </a:solidFill>
          <a:ln w="12700">
            <a:solidFill>
              <a:schemeClr val="bg2"/>
            </a:solidFill>
            <a:prstDash val="solid"/>
          </a:ln>
        </p:spPr>
      </p:sp>
      <p:sp>
        <p:nvSpPr>
          <p:cNvPr id="9" name="círculo FaPlay"/>
          <p:cNvSpPr/>
          <p:nvPr/>
        </p:nvSpPr>
        <p:spPr>
          <a:xfrm>
            <a:off x="640080" y="2249424"/>
            <a:ext cx="512064" cy="512064"/>
          </a:xfrm>
          <a:prstGeom prst="ellipse">
            <a:avLst/>
          </a:prstGeom>
          <a:solidFill>
            <a:schemeClr val="accent1"/>
          </a:solidFill>
          <a:ln w="12700">
            <a:solidFill>
              <a:schemeClr val="accent1"/>
            </a:solidFill>
            <a:prstDash val="solid"/>
          </a:ln>
        </p:spPr>
      </p:sp>
      <p:pic>
        <p:nvPicPr>
          <p:cNvPr id="10" name="Image 1" descr="Ícono FaPlay">    </p:cNvPr>
          <p:cNvPicPr>
            <a:picLocks noChangeAspect="1"/>
          </p:cNvPicPr>
          <p:nvPr/>
        </p:nvPicPr>
        <p:blipFill>
          <a:blip r:embed="rId3"/>
          <a:stretch>
            <a:fillRect/>
          </a:stretch>
        </p:blipFill>
        <p:spPr>
          <a:xfrm>
            <a:off x="768096" y="2377440"/>
            <a:ext cx="256032" cy="256032"/>
          </a:xfrm>
          <a:prstGeom prst="rect">
            <a:avLst/>
          </a:prstGeom>
        </p:spPr>
      </p:pic>
      <p:sp>
        <p:nvSpPr>
          <p:cNvPr id="11" name="Text 7"/>
          <p:cNvSpPr txBox="1"/>
          <p:nvPr/>
        </p:nvSpPr>
        <p:spPr>
          <a:xfrm>
            <a:off x="1371600" y="2194560"/>
            <a:ext cx="7132320" cy="256032"/>
          </a:xfrm>
          <a:prstGeom prst="rect">
            <a:avLst/>
          </a:prstGeom>
          <a:noFill/>
          <a:ln/>
        </p:spPr>
        <p:txBody>
          <a:bodyPr wrap="square" lIns="0" tIns="0" rIns="0" bIns="0" rtlCol="0" anchor="ctr"/>
          <a:lstStyle/>
          <a:p>
            <a:pPr indent="0" marL="0">
              <a:buNone/>
            </a:pPr>
            <a:r>
              <a:rPr lang="en-US" sz="1100" dirty="0">
                <a:solidFill>
                  <a:schemeClr val="accent4"/>
                </a:solidFill>
                <a:latin typeface="Calibri" pitchFamily="34" charset="0"/>
                <a:ea typeface="Calibri" pitchFamily="34" charset="-122"/>
                <a:cs typeface="Calibri" pitchFamily="34" charset="-120"/>
              </a:rPr>
              <a:t>TEDx Talks [TED</a:t>
            </a:r>
            <a:pPr indent="0" marL="0">
              <a:buNone/>
            </a:pPr>
            <a:r>
              <a:rPr lang="en-US" sz="1100" baseline="30000" dirty="0">
                <a:solidFill>
                  <a:schemeClr val="accent4"/>
                </a:solidFill>
                <a:latin typeface="Calibri" pitchFamily="34" charset="0"/>
                <a:ea typeface="Calibri" pitchFamily="34" charset="-122"/>
                <a:cs typeface="Calibri" pitchFamily="34" charset="-120"/>
              </a:rPr>
              <a:t>x</a:t>
            </a:r>
            <a:pPr indent="0" marL="0">
              <a:buNone/>
            </a:pPr>
            <a:r>
              <a:rPr lang="en-US" sz="1100" dirty="0">
                <a:solidFill>
                  <a:schemeClr val="accent4"/>
                </a:solidFill>
                <a:latin typeface="Calibri" pitchFamily="34" charset="0"/>
                <a:ea typeface="Calibri" pitchFamily="34" charset="-122"/>
                <a:cs typeface="Calibri" pitchFamily="34" charset="-120"/>
              </a:rPr>
              <a:t>] (2017)</a:t>
            </a:r>
            <a:endParaRPr lang="en-US" sz="1100" dirty="0"/>
          </a:p>
        </p:txBody>
      </p:sp>
      <p:sp>
        <p:nvSpPr>
          <p:cNvPr id="12" name="Text 8">
            <a:hlinkClick r:id="rId4" tooltip="https://n9.cl/xhs1wq"/>
          </p:cNvPr>
          <p:cNvSpPr txBox="1"/>
          <p:nvPr/>
        </p:nvSpPr>
        <p:spPr>
          <a:xfrm>
            <a:off x="1371600" y="2468880"/>
            <a:ext cx="7132320" cy="347472"/>
          </a:xfrm>
          <a:prstGeom prst="rect">
            <a:avLst/>
          </a:prstGeom>
          <a:noFill/>
          <a:ln/>
        </p:spPr>
        <p:txBody>
          <a:bodyPr wrap="square" lIns="0" tIns="0" rIns="0" bIns="0" rtlCol="0" anchor="ctr"/>
          <a:lstStyle/>
          <a:p>
            <a:pPr indent="0" marL="0">
              <a:buNone/>
            </a:pPr>
            <a:r>
              <a:rPr lang="en-US" sz="1500" b="1" u="sng" dirty="0">
                <a:solidFill>
                  <a:schemeClr val="accent1"/>
                </a:solidFill>
                <a:latin typeface="Calibri" pitchFamily="34" charset="0"/>
                <a:ea typeface="Calibri" pitchFamily="34" charset="-122"/>
                <a:cs typeface="Calibri" pitchFamily="34" charset="-120"/>
                <a:hlinkClick r:id="rId4" invalidUrl="" action="" tgtFrame="" tooltip="https://n9.cl/xhs1wq" history="1" highlightClick="0" endSnd="0">
                  <a:extLst>
                    <a:ext uri="{A12FA001-AC4F-418D-AE19-62706E023703}">
                      <ahyp:hlinkClr xmlns:ahyp="http://schemas.microsoft.com/office/drawing/2018/hyperlinkcolor" val="tx"/>
                    </a:ext>
                  </a:extLst>
                </a:hlinkClick>
              </a:rPr>
              <a:t>¿Porqué innovar en educación? | Inés Aguerrondo</a:t>
            </a:r>
            <a:endParaRPr lang="en-US" sz="1500" dirty="0"/>
          </a:p>
        </p:txBody>
      </p:sp>
      <p:sp>
        <p:nvSpPr>
          <p:cNvPr id="13" name="video 3"/>
          <p:cNvSpPr/>
          <p:nvPr/>
        </p:nvSpPr>
        <p:spPr>
          <a:xfrm>
            <a:off x="457200" y="3017520"/>
            <a:ext cx="8229600" cy="804672"/>
          </a:xfrm>
          <a:prstGeom prst="roundRect">
            <a:avLst>
              <a:gd name="adj" fmla="val 11364"/>
            </a:avLst>
          </a:prstGeom>
          <a:solidFill>
            <a:schemeClr val="bg2"/>
          </a:solidFill>
          <a:ln w="12700">
            <a:solidFill>
              <a:schemeClr val="bg2"/>
            </a:solidFill>
            <a:prstDash val="solid"/>
          </a:ln>
        </p:spPr>
      </p:sp>
      <p:sp>
        <p:nvSpPr>
          <p:cNvPr id="14" name="círculo FaPlay"/>
          <p:cNvSpPr/>
          <p:nvPr/>
        </p:nvSpPr>
        <p:spPr>
          <a:xfrm>
            <a:off x="640080" y="3163824"/>
            <a:ext cx="512064" cy="512064"/>
          </a:xfrm>
          <a:prstGeom prst="ellipse">
            <a:avLst/>
          </a:prstGeom>
          <a:solidFill>
            <a:schemeClr val="accent1"/>
          </a:solidFill>
          <a:ln w="12700">
            <a:solidFill>
              <a:schemeClr val="accent1"/>
            </a:solidFill>
            <a:prstDash val="solid"/>
          </a:ln>
        </p:spPr>
      </p:sp>
      <p:pic>
        <p:nvPicPr>
          <p:cNvPr id="15" name="Image 2" descr="Ícono FaPlay">    </p:cNvPr>
          <p:cNvPicPr>
            <a:picLocks noChangeAspect="1"/>
          </p:cNvPicPr>
          <p:nvPr/>
        </p:nvPicPr>
        <p:blipFill>
          <a:blip r:embed="rId5"/>
          <a:stretch>
            <a:fillRect/>
          </a:stretch>
        </p:blipFill>
        <p:spPr>
          <a:xfrm>
            <a:off x="768096" y="3291840"/>
            <a:ext cx="256032" cy="256032"/>
          </a:xfrm>
          <a:prstGeom prst="rect">
            <a:avLst/>
          </a:prstGeom>
        </p:spPr>
      </p:pic>
      <p:sp>
        <p:nvSpPr>
          <p:cNvPr id="16" name="Text 11"/>
          <p:cNvSpPr txBox="1"/>
          <p:nvPr/>
        </p:nvSpPr>
        <p:spPr>
          <a:xfrm>
            <a:off x="1371600" y="3108960"/>
            <a:ext cx="7132320" cy="256032"/>
          </a:xfrm>
          <a:prstGeom prst="rect">
            <a:avLst/>
          </a:prstGeom>
          <a:noFill/>
          <a:ln/>
        </p:spPr>
        <p:txBody>
          <a:bodyPr wrap="square" lIns="0" tIns="0" rIns="0" bIns="0" rtlCol="0" anchor="ctr"/>
          <a:lstStyle/>
          <a:p>
            <a:pPr indent="0" marL="0">
              <a:buNone/>
            </a:pPr>
            <a:r>
              <a:rPr lang="en-US" sz="1100" dirty="0">
                <a:solidFill>
                  <a:schemeClr val="accent4"/>
                </a:solidFill>
                <a:latin typeface="Calibri" pitchFamily="34" charset="0"/>
                <a:ea typeface="Calibri" pitchFamily="34" charset="-122"/>
                <a:cs typeface="Calibri" pitchFamily="34" charset="-120"/>
              </a:rPr>
              <a:t>TEDx Talks [TED</a:t>
            </a:r>
            <a:pPr indent="0" marL="0">
              <a:buNone/>
            </a:pPr>
            <a:r>
              <a:rPr lang="en-US" sz="1100" baseline="30000" dirty="0">
                <a:solidFill>
                  <a:schemeClr val="accent4"/>
                </a:solidFill>
                <a:latin typeface="Calibri" pitchFamily="34" charset="0"/>
                <a:ea typeface="Calibri" pitchFamily="34" charset="-122"/>
                <a:cs typeface="Calibri" pitchFamily="34" charset="-120"/>
              </a:rPr>
              <a:t>x</a:t>
            </a:r>
            <a:pPr indent="0" marL="0">
              <a:buNone/>
            </a:pPr>
            <a:r>
              <a:rPr lang="en-US" sz="1100" dirty="0">
                <a:solidFill>
                  <a:schemeClr val="accent4"/>
                </a:solidFill>
                <a:latin typeface="Calibri" pitchFamily="34" charset="0"/>
                <a:ea typeface="Calibri" pitchFamily="34" charset="-122"/>
                <a:cs typeface="Calibri" pitchFamily="34" charset="-120"/>
              </a:rPr>
              <a:t>] (2022)</a:t>
            </a:r>
            <a:endParaRPr lang="en-US" sz="1100" dirty="0"/>
          </a:p>
        </p:txBody>
      </p:sp>
      <p:sp>
        <p:nvSpPr>
          <p:cNvPr id="17" name="Text 12">
            <a:hlinkClick r:id="rId6" tooltip="https://n9.cl/prxalu"/>
          </p:cNvPr>
          <p:cNvSpPr txBox="1"/>
          <p:nvPr/>
        </p:nvSpPr>
        <p:spPr>
          <a:xfrm>
            <a:off x="1371600" y="3383280"/>
            <a:ext cx="7132320" cy="347472"/>
          </a:xfrm>
          <a:prstGeom prst="rect">
            <a:avLst/>
          </a:prstGeom>
          <a:noFill/>
          <a:ln/>
        </p:spPr>
        <p:txBody>
          <a:bodyPr wrap="square" lIns="0" tIns="0" rIns="0" bIns="0" rtlCol="0" anchor="ctr"/>
          <a:lstStyle/>
          <a:p>
            <a:pPr indent="0" marL="0">
              <a:buNone/>
            </a:pPr>
            <a:r>
              <a:rPr lang="en-US" sz="1500" b="1" u="sng" dirty="0">
                <a:solidFill>
                  <a:schemeClr val="accent1"/>
                </a:solidFill>
                <a:latin typeface="Calibri" pitchFamily="34" charset="0"/>
                <a:ea typeface="Calibri" pitchFamily="34" charset="-122"/>
                <a:cs typeface="Calibri" pitchFamily="34" charset="-120"/>
                <a:hlinkClick r:id="rId6" invalidUrl="" action="" tgtFrame="" tooltip="https://n9.cl/prxalu" history="1" highlightClick="0" endSnd="0">
                  <a:extLst>
                    <a:ext uri="{A12FA001-AC4F-418D-AE19-62706E023703}">
                      <ahyp:hlinkClr xmlns:ahyp="http://schemas.microsoft.com/office/drawing/2018/hyperlinkcolor" val="tx"/>
                    </a:ext>
                  </a:extLst>
                </a:hlinkClick>
              </a:rPr>
              <a:t>Educación 4.0: emocionar para enseñar y aprender | Diego Apolo</a:t>
            </a:r>
            <a:endParaRPr lang="en-US" sz="1500" dirty="0"/>
          </a:p>
        </p:txBody>
      </p:sp>
      <p:sp>
        <p:nvSpPr>
          <p:cNvPr id="18" name="Text 13"/>
          <p:cNvSpPr txBox="1"/>
          <p:nvPr/>
        </p:nvSpPr>
        <p:spPr>
          <a:xfrm>
            <a:off x="457200" y="4023360"/>
            <a:ext cx="8229600" cy="365760"/>
          </a:xfrm>
          <a:prstGeom prst="rect">
            <a:avLst/>
          </a:prstGeom>
          <a:noFill/>
          <a:ln/>
        </p:spPr>
        <p:txBody>
          <a:bodyPr wrap="square" lIns="0" tIns="0" rIns="0" bIns="0" rtlCol="0" anchor="ctr"/>
          <a:lstStyle/>
          <a:p>
            <a:pPr indent="0" marL="0">
              <a:buNone/>
            </a:pPr>
            <a:r>
              <a:rPr lang="en-US" sz="1400" b="1" dirty="0">
                <a:solidFill>
                  <a:schemeClr val="accent1"/>
                </a:solidFill>
                <a:latin typeface="Calibri" pitchFamily="34" charset="0"/>
                <a:ea typeface="Calibri" pitchFamily="34" charset="-122"/>
                <a:cs typeface="Calibri" pitchFamily="34" charset="-120"/>
              </a:rPr>
              <a:t>Mientras ves, anota: ¿qué cambia en la manera de aprender?</a:t>
            </a:r>
            <a:endParaRPr lang="en-US" sz="1400" dirty="0"/>
          </a:p>
        </p:txBody>
      </p:sp>
      <p:sp>
        <p:nvSpPr>
          <p:cNvPr id="25" name="Slide Number Placeholder 0"/>
          <p:cNvSpPr>
            <a:spLocks noGrp="1"/>
          </p:cNvSpPr>
          <p:nvPr>
            <p:ph type="sldNum" sz="quarter" idx="4294967295"/>
          </p:nvPr>
        </p:nvSpPr>
        <p:spPr>
          <a:xfrm>
            <a:off x="8229600" y="470001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640080"/>
            <a:ext cx="4572000" cy="274320"/>
          </a:xfrm>
          <a:prstGeom prst="rect">
            <a:avLst/>
          </a:prstGeom>
          <a:noFill/>
          <a:ln/>
        </p:spPr>
        <p:txBody>
          <a:bodyPr wrap="square" lIns="0" tIns="0" rIns="0" bIns="0" rtlCol="0" anchor="ctr"/>
          <a:lstStyle/>
          <a:p>
            <a:pPr indent="0" marL="0">
              <a:buNone/>
            </a:pPr>
            <a:r>
              <a:rPr lang="en-US" sz="1300" b="1" dirty="0">
                <a:solidFill>
                  <a:schemeClr val="accent3"/>
                </a:solidFill>
                <a:latin typeface="Calibri" pitchFamily="34" charset="0"/>
                <a:ea typeface="Calibri" pitchFamily="34" charset="-122"/>
                <a:cs typeface="Calibri" pitchFamily="34" charset="-120"/>
              </a:rPr>
              <a:t>Ejercicios en Zoom</a:t>
            </a:r>
            <a:endParaRPr lang="en-US" sz="1300" dirty="0"/>
          </a:p>
        </p:txBody>
      </p:sp>
      <p:sp>
        <p:nvSpPr>
          <p:cNvPr id="3" name="Text 1"/>
          <p:cNvSpPr/>
          <p:nvPr>
            <p:ph idx="101" type="title" hasCustomPrompt="1"/>
          </p:nvPr>
        </p:nvSpPr>
        <p:spPr>
          <a:xfrm>
            <a:off x="457200" y="1234440"/>
            <a:ext cx="5486400" cy="1371600"/>
          </a:xfrm>
          <a:prstGeom prst="rect">
            <a:avLst/>
          </a:prstGeom>
          <a:noFill/>
          <a:ln/>
        </p:spPr>
        <p:txBody>
          <a:bodyPr wrap="square" lIns="0" tIns="0" rIns="0" bIns="0" rtlCol="0" anchor="t"/>
          <a:lstStyle/>
          <a:p>
            <a:pPr algn="l" indent="0" marL="0">
              <a:buNone/>
            </a:pPr>
            <a:r>
              <a:rPr lang="en-US" sz="3400" b="1" dirty="0">
                <a:solidFill>
                  <a:schemeClr val="bg1"/>
                </a:solidFill>
                <a:latin typeface="Cambria" pitchFamily="34" charset="0"/>
                <a:ea typeface="Cambria" pitchFamily="34" charset="-122"/>
                <a:cs typeface="Cambria" pitchFamily="34" charset="-120"/>
              </a:rPr>
              <a:t>Dos ejercicios, en vivo y en equipos</a:t>
            </a:r>
            <a:endParaRPr lang="en-US" sz="3400" dirty="0"/>
          </a:p>
        </p:txBody>
      </p:sp>
      <p:sp>
        <p:nvSpPr>
          <p:cNvPr id="4" name="Text 2"/>
          <p:cNvSpPr txBox="1"/>
          <p:nvPr/>
        </p:nvSpPr>
        <p:spPr>
          <a:xfrm>
            <a:off x="457200" y="2743200"/>
            <a:ext cx="4937760" cy="1097280"/>
          </a:xfrm>
          <a:prstGeom prst="rect">
            <a:avLst/>
          </a:prstGeom>
          <a:noFill/>
          <a:ln/>
        </p:spPr>
        <p:txBody>
          <a:bodyPr wrap="square" lIns="0" tIns="0" rIns="0" bIns="0" rtlCol="0" anchor="t"/>
          <a:lstStyle/>
          <a:p>
            <a:pPr indent="0" marL="0">
              <a:buNone/>
            </a:pPr>
            <a:r>
              <a:rPr lang="en-US" sz="1600" dirty="0">
                <a:solidFill>
                  <a:schemeClr val="bg1"/>
                </a:solidFill>
                <a:latin typeface="Calibri" pitchFamily="34" charset="0"/>
                <a:ea typeface="Calibri" pitchFamily="34" charset="-122"/>
                <a:cs typeface="Calibri" pitchFamily="34" charset="-120"/>
              </a:rPr>
              <a:t>Trabajaremos de manera sincrónica: primero analizamos casos y después ensayamos el formato del Foro 2.</a:t>
            </a:r>
            <a:endParaRPr lang="en-US" sz="1600" dirty="0"/>
          </a:p>
        </p:txBody>
      </p:sp>
      <p:pic>
        <p:nvPicPr>
          <p:cNvPr id="5" name="Image 0" descr="Persona conversando en línea desde su laptop">    </p:cNvPr>
          <p:cNvPicPr>
            <a:picLocks noChangeAspect="1"/>
          </p:cNvPicPr>
          <p:nvPr/>
        </p:nvPicPr>
        <p:blipFill>
          <a:blip r:embed="rId1"/>
          <a:stretch>
            <a:fillRect/>
          </a:stretch>
        </p:blipFill>
        <p:spPr>
          <a:xfrm>
            <a:off x="5669280" y="1371600"/>
            <a:ext cx="3017520" cy="1389888"/>
          </a:xfrm>
          <a:prstGeom prst="rect">
            <a:avLst/>
          </a:prstGeom>
        </p:spPr>
      </p:pic>
      <p:sp>
        <p:nvSpPr>
          <p:cNvPr id="25" name="Slide Number Placeholder 0"/>
          <p:cNvSpPr>
            <a:spLocks noGrp="1"/>
          </p:cNvSpPr>
          <p:nvPr>
            <p:ph type="sldNum" sz="quarter" idx="4294967295"/>
          </p:nvPr>
        </p:nvSpPr>
        <p:spPr>
          <a:xfrm>
            <a:off x="8229600" y="470001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bg1"/>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Cómo trabajaremos en Zoom</a:t>
            </a:r>
            <a:endParaRPr lang="en-US" sz="2800" dirty="0"/>
          </a:p>
        </p:txBody>
      </p:sp>
      <p:sp>
        <p:nvSpPr>
          <p:cNvPr id="3" name="herramienta 1"/>
          <p:cNvSpPr/>
          <p:nvPr/>
        </p:nvSpPr>
        <p:spPr>
          <a:xfrm>
            <a:off x="457200" y="1188720"/>
            <a:ext cx="4023360" cy="1234440"/>
          </a:xfrm>
          <a:prstGeom prst="roundRect">
            <a:avLst>
              <a:gd name="adj" fmla="val 7407"/>
            </a:avLst>
          </a:prstGeom>
          <a:solidFill>
            <a:schemeClr val="bg2"/>
          </a:solidFill>
          <a:ln w="12700">
            <a:solidFill>
              <a:schemeClr val="bg2"/>
            </a:solidFill>
            <a:prstDash val="solid"/>
          </a:ln>
        </p:spPr>
      </p:sp>
      <p:sp>
        <p:nvSpPr>
          <p:cNvPr id="4" name="círculo FaPoll"/>
          <p:cNvSpPr/>
          <p:nvPr/>
        </p:nvSpPr>
        <p:spPr>
          <a:xfrm>
            <a:off x="640080" y="1490472"/>
            <a:ext cx="640080" cy="640080"/>
          </a:xfrm>
          <a:prstGeom prst="ellipse">
            <a:avLst/>
          </a:prstGeom>
          <a:solidFill>
            <a:schemeClr val="accent1"/>
          </a:solidFill>
          <a:ln w="12700">
            <a:solidFill>
              <a:schemeClr val="accent1"/>
            </a:solidFill>
            <a:prstDash val="solid"/>
          </a:ln>
        </p:spPr>
      </p:sp>
      <p:pic>
        <p:nvPicPr>
          <p:cNvPr id="5" name="Image 0" descr="Ícono FaPoll">    </p:cNvPr>
          <p:cNvPicPr>
            <a:picLocks noChangeAspect="1"/>
          </p:cNvPicPr>
          <p:nvPr/>
        </p:nvPicPr>
        <p:blipFill>
          <a:blip r:embed="rId1"/>
          <a:stretch>
            <a:fillRect/>
          </a:stretch>
        </p:blipFill>
        <p:spPr>
          <a:xfrm>
            <a:off x="800100" y="1650492"/>
            <a:ext cx="320040" cy="320040"/>
          </a:xfrm>
          <a:prstGeom prst="rect">
            <a:avLst/>
          </a:prstGeom>
        </p:spPr>
      </p:pic>
      <p:sp>
        <p:nvSpPr>
          <p:cNvPr id="6" name="Text 3"/>
          <p:cNvSpPr txBox="1"/>
          <p:nvPr/>
        </p:nvSpPr>
        <p:spPr>
          <a:xfrm>
            <a:off x="1463040" y="1325880"/>
            <a:ext cx="2834640" cy="32004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Encuesta</a:t>
            </a:r>
            <a:endParaRPr lang="en-US" sz="1500" dirty="0"/>
          </a:p>
        </p:txBody>
      </p:sp>
      <p:sp>
        <p:nvSpPr>
          <p:cNvPr id="7" name="Text 4"/>
          <p:cNvSpPr txBox="1"/>
          <p:nvPr/>
        </p:nvSpPr>
        <p:spPr>
          <a:xfrm>
            <a:off x="1463040" y="1664208"/>
            <a:ext cx="2880360" cy="68580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Votas desde tu pantalla en cada caso.</a:t>
            </a:r>
            <a:endParaRPr lang="en-US" sz="1300" dirty="0"/>
          </a:p>
        </p:txBody>
      </p:sp>
      <p:sp>
        <p:nvSpPr>
          <p:cNvPr id="8" name="herramienta 2"/>
          <p:cNvSpPr/>
          <p:nvPr/>
        </p:nvSpPr>
        <p:spPr>
          <a:xfrm>
            <a:off x="4663440" y="1188720"/>
            <a:ext cx="4023360" cy="1234440"/>
          </a:xfrm>
          <a:prstGeom prst="roundRect">
            <a:avLst>
              <a:gd name="adj" fmla="val 7407"/>
            </a:avLst>
          </a:prstGeom>
          <a:solidFill>
            <a:schemeClr val="bg2"/>
          </a:solidFill>
          <a:ln w="12700">
            <a:solidFill>
              <a:schemeClr val="bg2"/>
            </a:solidFill>
            <a:prstDash val="solid"/>
          </a:ln>
        </p:spPr>
      </p:sp>
      <p:sp>
        <p:nvSpPr>
          <p:cNvPr id="9" name="círculo FaUsers"/>
          <p:cNvSpPr/>
          <p:nvPr/>
        </p:nvSpPr>
        <p:spPr>
          <a:xfrm>
            <a:off x="4846320" y="1490472"/>
            <a:ext cx="640080" cy="640080"/>
          </a:xfrm>
          <a:prstGeom prst="ellipse">
            <a:avLst/>
          </a:prstGeom>
          <a:solidFill>
            <a:schemeClr val="accent1"/>
          </a:solidFill>
          <a:ln w="12700">
            <a:solidFill>
              <a:schemeClr val="accent1"/>
            </a:solidFill>
            <a:prstDash val="solid"/>
          </a:ln>
        </p:spPr>
      </p:sp>
      <p:pic>
        <p:nvPicPr>
          <p:cNvPr id="10" name="Image 1" descr="Ícono FaUsers">    </p:cNvPr>
          <p:cNvPicPr>
            <a:picLocks noChangeAspect="1"/>
          </p:cNvPicPr>
          <p:nvPr/>
        </p:nvPicPr>
        <p:blipFill>
          <a:blip r:embed="rId2"/>
          <a:stretch>
            <a:fillRect/>
          </a:stretch>
        </p:blipFill>
        <p:spPr>
          <a:xfrm>
            <a:off x="5006340" y="1650492"/>
            <a:ext cx="320040" cy="320040"/>
          </a:xfrm>
          <a:prstGeom prst="rect">
            <a:avLst/>
          </a:prstGeom>
        </p:spPr>
      </p:pic>
      <p:sp>
        <p:nvSpPr>
          <p:cNvPr id="11" name="Text 7"/>
          <p:cNvSpPr txBox="1"/>
          <p:nvPr/>
        </p:nvSpPr>
        <p:spPr>
          <a:xfrm>
            <a:off x="5669280" y="1325880"/>
            <a:ext cx="2834640" cy="32004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Salas de grupos</a:t>
            </a:r>
            <a:endParaRPr lang="en-US" sz="1500" dirty="0"/>
          </a:p>
        </p:txBody>
      </p:sp>
      <p:sp>
        <p:nvSpPr>
          <p:cNvPr id="12" name="Text 8"/>
          <p:cNvSpPr txBox="1"/>
          <p:nvPr/>
        </p:nvSpPr>
        <p:spPr>
          <a:xfrm>
            <a:off x="5669280" y="1664208"/>
            <a:ext cx="2880360" cy="68580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Equipos de 3 o 4 personas, asignados por el anfitrión.</a:t>
            </a:r>
            <a:endParaRPr lang="en-US" sz="1300" dirty="0"/>
          </a:p>
        </p:txBody>
      </p:sp>
      <p:sp>
        <p:nvSpPr>
          <p:cNvPr id="13" name="herramienta 3"/>
          <p:cNvSpPr/>
          <p:nvPr/>
        </p:nvSpPr>
        <p:spPr>
          <a:xfrm>
            <a:off x="457200" y="2560320"/>
            <a:ext cx="4023360" cy="1234440"/>
          </a:xfrm>
          <a:prstGeom prst="roundRect">
            <a:avLst>
              <a:gd name="adj" fmla="val 7407"/>
            </a:avLst>
          </a:prstGeom>
          <a:solidFill>
            <a:schemeClr val="bg2"/>
          </a:solidFill>
          <a:ln w="12700">
            <a:solidFill>
              <a:schemeClr val="bg2"/>
            </a:solidFill>
            <a:prstDash val="solid"/>
          </a:ln>
        </p:spPr>
      </p:sp>
      <p:sp>
        <p:nvSpPr>
          <p:cNvPr id="14" name="círculo FaCommentDots"/>
          <p:cNvSpPr/>
          <p:nvPr/>
        </p:nvSpPr>
        <p:spPr>
          <a:xfrm>
            <a:off x="640080" y="2862072"/>
            <a:ext cx="640080" cy="640080"/>
          </a:xfrm>
          <a:prstGeom prst="ellipse">
            <a:avLst/>
          </a:prstGeom>
          <a:solidFill>
            <a:schemeClr val="accent1"/>
          </a:solidFill>
          <a:ln w="12700">
            <a:solidFill>
              <a:schemeClr val="accent1"/>
            </a:solidFill>
            <a:prstDash val="solid"/>
          </a:ln>
        </p:spPr>
      </p:sp>
      <p:pic>
        <p:nvPicPr>
          <p:cNvPr id="15" name="Image 2" descr="Ícono FaCommentDots">    </p:cNvPr>
          <p:cNvPicPr>
            <a:picLocks noChangeAspect="1"/>
          </p:cNvPicPr>
          <p:nvPr/>
        </p:nvPicPr>
        <p:blipFill>
          <a:blip r:embed="rId3"/>
          <a:stretch>
            <a:fillRect/>
          </a:stretch>
        </p:blipFill>
        <p:spPr>
          <a:xfrm>
            <a:off x="800100" y="3022092"/>
            <a:ext cx="320040" cy="320040"/>
          </a:xfrm>
          <a:prstGeom prst="rect">
            <a:avLst/>
          </a:prstGeom>
        </p:spPr>
      </p:pic>
      <p:sp>
        <p:nvSpPr>
          <p:cNvPr id="16" name="Text 11"/>
          <p:cNvSpPr txBox="1"/>
          <p:nvPr/>
        </p:nvSpPr>
        <p:spPr>
          <a:xfrm>
            <a:off x="1463040" y="2697480"/>
            <a:ext cx="2834640" cy="32004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Chat</a:t>
            </a:r>
            <a:endParaRPr lang="en-US" sz="1500" dirty="0"/>
          </a:p>
        </p:txBody>
      </p:sp>
      <p:sp>
        <p:nvSpPr>
          <p:cNvPr id="17" name="Text 12"/>
          <p:cNvSpPr txBox="1"/>
          <p:nvPr/>
        </p:nvSpPr>
        <p:spPr>
          <a:xfrm>
            <a:off x="1463040" y="3035808"/>
            <a:ext cx="2880360" cy="68580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Dudas e ideas breves, visibles para todas las personas.</a:t>
            </a:r>
            <a:endParaRPr lang="en-US" sz="1300" dirty="0"/>
          </a:p>
        </p:txBody>
      </p:sp>
      <p:sp>
        <p:nvSpPr>
          <p:cNvPr id="18" name="herramienta 4"/>
          <p:cNvSpPr/>
          <p:nvPr/>
        </p:nvSpPr>
        <p:spPr>
          <a:xfrm>
            <a:off x="4663440" y="2560320"/>
            <a:ext cx="4023360" cy="1234440"/>
          </a:xfrm>
          <a:prstGeom prst="roundRect">
            <a:avLst>
              <a:gd name="adj" fmla="val 7407"/>
            </a:avLst>
          </a:prstGeom>
          <a:solidFill>
            <a:schemeClr val="bg2"/>
          </a:solidFill>
          <a:ln w="12700">
            <a:solidFill>
              <a:schemeClr val="bg2"/>
            </a:solidFill>
            <a:prstDash val="solid"/>
          </a:ln>
        </p:spPr>
      </p:sp>
      <p:sp>
        <p:nvSpPr>
          <p:cNvPr id="19" name="círculo FaDesktop"/>
          <p:cNvSpPr/>
          <p:nvPr/>
        </p:nvSpPr>
        <p:spPr>
          <a:xfrm>
            <a:off x="4846320" y="2862072"/>
            <a:ext cx="640080" cy="640080"/>
          </a:xfrm>
          <a:prstGeom prst="ellipse">
            <a:avLst/>
          </a:prstGeom>
          <a:solidFill>
            <a:schemeClr val="accent1"/>
          </a:solidFill>
          <a:ln w="12700">
            <a:solidFill>
              <a:schemeClr val="accent1"/>
            </a:solidFill>
            <a:prstDash val="solid"/>
          </a:ln>
        </p:spPr>
      </p:sp>
      <p:pic>
        <p:nvPicPr>
          <p:cNvPr id="20" name="Image 3" descr="Ícono FaDesktop">    </p:cNvPr>
          <p:cNvPicPr>
            <a:picLocks noChangeAspect="1"/>
          </p:cNvPicPr>
          <p:nvPr/>
        </p:nvPicPr>
        <p:blipFill>
          <a:blip r:embed="rId4"/>
          <a:stretch>
            <a:fillRect/>
          </a:stretch>
        </p:blipFill>
        <p:spPr>
          <a:xfrm>
            <a:off x="5006340" y="3022092"/>
            <a:ext cx="320040" cy="320040"/>
          </a:xfrm>
          <a:prstGeom prst="rect">
            <a:avLst/>
          </a:prstGeom>
        </p:spPr>
      </p:pic>
      <p:sp>
        <p:nvSpPr>
          <p:cNvPr id="21" name="Text 15"/>
          <p:cNvSpPr txBox="1"/>
          <p:nvPr/>
        </p:nvSpPr>
        <p:spPr>
          <a:xfrm>
            <a:off x="5669280" y="2697480"/>
            <a:ext cx="2834640" cy="32004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Pantalla compartida</a:t>
            </a:r>
            <a:endParaRPr lang="en-US" sz="1500" dirty="0"/>
          </a:p>
        </p:txBody>
      </p:sp>
      <p:sp>
        <p:nvSpPr>
          <p:cNvPr id="22" name="Text 16"/>
          <p:cNvSpPr txBox="1"/>
          <p:nvPr/>
        </p:nvSpPr>
        <p:spPr>
          <a:xfrm>
            <a:off x="5669280" y="3035808"/>
            <a:ext cx="2880360" cy="68580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Un documento por sala para escribir en equipo.</a:t>
            </a:r>
            <a:endParaRPr lang="en-US" sz="1300" dirty="0"/>
          </a:p>
        </p:txBody>
      </p:sp>
      <p:sp>
        <p:nvSpPr>
          <p:cNvPr id="23" name="Text 17"/>
          <p:cNvSpPr txBox="1"/>
          <p:nvPr/>
        </p:nvSpPr>
        <p:spPr>
          <a:xfrm>
            <a:off x="457200" y="4023360"/>
            <a:ext cx="8229600" cy="320040"/>
          </a:xfrm>
          <a:prstGeom prst="rect">
            <a:avLst/>
          </a:prstGeom>
          <a:noFill/>
          <a:ln/>
        </p:spPr>
        <p:txBody>
          <a:bodyPr wrap="square" lIns="0" tIns="0" rIns="0" bIns="0" rtlCol="0" anchor="ctr"/>
          <a:lstStyle/>
          <a:p>
            <a:pPr indent="0" marL="0">
              <a:buNone/>
            </a:pPr>
            <a:r>
              <a:rPr lang="en-US" sz="1100" dirty="0">
                <a:solidFill>
                  <a:schemeClr val="accent4"/>
                </a:solidFill>
                <a:latin typeface="Calibri" pitchFamily="34" charset="0"/>
                <a:ea typeface="Calibri" pitchFamily="34" charset="-122"/>
                <a:cs typeface="Calibri" pitchFamily="34" charset="-120"/>
              </a:rPr>
              <a:t>Cámara encendida si es posible y micrófono en silencio fuera de turno. Respeta los Lineamientos para promover el diálogo académico de la Dinámica de trabajo.</a:t>
            </a:r>
            <a:endParaRPr lang="en-US" sz="1100" dirty="0"/>
          </a:p>
        </p:txBody>
      </p:sp>
      <p:sp>
        <p:nvSpPr>
          <p:cNvPr id="25" name="Slide Number Placeholder 0"/>
          <p:cNvSpPr>
            <a:spLocks noGrp="1"/>
          </p:cNvSpPr>
          <p:nvPr>
            <p:ph type="sldNum" sz="quarter" idx="4294967295"/>
          </p:nvPr>
        </p:nvSpPr>
        <p:spPr>
          <a:xfrm>
            <a:off x="8229600" y="470001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Ejercicio 1: ¿soporte o transformación?</a:t>
            </a:r>
            <a:endParaRPr lang="en-US" sz="2800" dirty="0"/>
          </a:p>
        </p:txBody>
      </p:sp>
      <p:sp>
        <p:nvSpPr>
          <p:cNvPr id="3" name="Caso A"/>
          <p:cNvSpPr/>
          <p:nvPr/>
        </p:nvSpPr>
        <p:spPr>
          <a:xfrm>
            <a:off x="457200" y="1188720"/>
            <a:ext cx="2651760" cy="1828800"/>
          </a:xfrm>
          <a:prstGeom prst="roundRect">
            <a:avLst>
              <a:gd name="adj" fmla="val 5000"/>
            </a:avLst>
          </a:prstGeom>
          <a:solidFill>
            <a:schemeClr val="bg2"/>
          </a:solidFill>
          <a:ln w="12700">
            <a:solidFill>
              <a:schemeClr val="bg2"/>
            </a:solidFill>
            <a:prstDash val="solid"/>
          </a:ln>
        </p:spPr>
      </p:sp>
      <p:sp>
        <p:nvSpPr>
          <p:cNvPr id="4" name="etiqueta Caso A"/>
          <p:cNvSpPr/>
          <p:nvPr/>
        </p:nvSpPr>
        <p:spPr>
          <a:xfrm>
            <a:off x="640080" y="1325880"/>
            <a:ext cx="822960" cy="310896"/>
          </a:xfrm>
          <a:prstGeom prst="roundRect">
            <a:avLst>
              <a:gd name="adj" fmla="val 23529"/>
            </a:avLst>
          </a:prstGeom>
          <a:solidFill>
            <a:schemeClr val="accent1"/>
          </a:solidFill>
          <a:ln w="12700">
            <a:solidFill>
              <a:schemeClr val="accent1"/>
            </a:solidFill>
            <a:prstDash val="solid"/>
          </a:ln>
        </p:spPr>
      </p:sp>
      <p:sp>
        <p:nvSpPr>
          <p:cNvPr id="5" name="Text 3"/>
          <p:cNvSpPr txBox="1"/>
          <p:nvPr/>
        </p:nvSpPr>
        <p:spPr>
          <a:xfrm>
            <a:off x="640080" y="1325880"/>
            <a:ext cx="822960" cy="310896"/>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Caso A</a:t>
            </a:r>
            <a:endParaRPr lang="en-US" sz="1200" dirty="0"/>
          </a:p>
        </p:txBody>
      </p:sp>
      <p:sp>
        <p:nvSpPr>
          <p:cNvPr id="6" name="Text 4"/>
          <p:cNvSpPr txBox="1"/>
          <p:nvPr/>
        </p:nvSpPr>
        <p:spPr>
          <a:xfrm>
            <a:off x="640080" y="1737360"/>
            <a:ext cx="2286000" cy="1188720"/>
          </a:xfrm>
          <a:prstGeom prst="rect">
            <a:avLst/>
          </a:prstGeom>
          <a:noFill/>
          <a:ln/>
        </p:spPr>
        <p:txBody>
          <a:bodyPr wrap="square" lIns="0" tIns="0" rIns="0" bIns="0" rtlCol="0" anchor="t"/>
          <a:lstStyle/>
          <a:p>
            <a:pPr indent="0" marL="0">
              <a:buNone/>
            </a:pPr>
            <a:r>
              <a:rPr lang="en-US" sz="1350" dirty="0">
                <a:solidFill>
                  <a:schemeClr val="tx1"/>
                </a:solidFill>
                <a:latin typeface="Calibri" pitchFamily="34" charset="0"/>
                <a:ea typeface="Calibri" pitchFamily="34" charset="-122"/>
                <a:cs typeface="Calibri" pitchFamily="34" charset="-120"/>
              </a:rPr>
              <a:t>Una escuela digitaliza sus libros de texto y los sube a una plataforma.</a:t>
            </a:r>
            <a:endParaRPr lang="en-US" sz="1350" dirty="0"/>
          </a:p>
        </p:txBody>
      </p:sp>
      <p:sp>
        <p:nvSpPr>
          <p:cNvPr id="7" name="Caso B"/>
          <p:cNvSpPr/>
          <p:nvPr/>
        </p:nvSpPr>
        <p:spPr>
          <a:xfrm>
            <a:off x="3291840" y="1188720"/>
            <a:ext cx="2651760" cy="1828800"/>
          </a:xfrm>
          <a:prstGeom prst="roundRect">
            <a:avLst>
              <a:gd name="adj" fmla="val 5000"/>
            </a:avLst>
          </a:prstGeom>
          <a:solidFill>
            <a:schemeClr val="bg2"/>
          </a:solidFill>
          <a:ln w="12700">
            <a:solidFill>
              <a:schemeClr val="bg2"/>
            </a:solidFill>
            <a:prstDash val="solid"/>
          </a:ln>
        </p:spPr>
      </p:sp>
      <p:sp>
        <p:nvSpPr>
          <p:cNvPr id="8" name="etiqueta Caso B"/>
          <p:cNvSpPr/>
          <p:nvPr/>
        </p:nvSpPr>
        <p:spPr>
          <a:xfrm>
            <a:off x="3474720" y="1325880"/>
            <a:ext cx="822960" cy="310896"/>
          </a:xfrm>
          <a:prstGeom prst="roundRect">
            <a:avLst>
              <a:gd name="adj" fmla="val 23529"/>
            </a:avLst>
          </a:prstGeom>
          <a:solidFill>
            <a:schemeClr val="accent1"/>
          </a:solidFill>
          <a:ln w="12700">
            <a:solidFill>
              <a:schemeClr val="accent1"/>
            </a:solidFill>
            <a:prstDash val="solid"/>
          </a:ln>
        </p:spPr>
      </p:sp>
      <p:sp>
        <p:nvSpPr>
          <p:cNvPr id="9" name="Text 7"/>
          <p:cNvSpPr txBox="1"/>
          <p:nvPr/>
        </p:nvSpPr>
        <p:spPr>
          <a:xfrm>
            <a:off x="3474720" y="1325880"/>
            <a:ext cx="822960" cy="310896"/>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Caso B</a:t>
            </a:r>
            <a:endParaRPr lang="en-US" sz="1200" dirty="0"/>
          </a:p>
        </p:txBody>
      </p:sp>
      <p:sp>
        <p:nvSpPr>
          <p:cNvPr id="10" name="Text 8"/>
          <p:cNvSpPr txBox="1"/>
          <p:nvPr/>
        </p:nvSpPr>
        <p:spPr>
          <a:xfrm>
            <a:off x="3474720" y="1737360"/>
            <a:ext cx="2286000" cy="1188720"/>
          </a:xfrm>
          <a:prstGeom prst="rect">
            <a:avLst/>
          </a:prstGeom>
          <a:noFill/>
          <a:ln/>
        </p:spPr>
        <p:txBody>
          <a:bodyPr wrap="square" lIns="0" tIns="0" rIns="0" bIns="0" rtlCol="0" anchor="t"/>
          <a:lstStyle/>
          <a:p>
            <a:pPr indent="0" marL="0">
              <a:buNone/>
            </a:pPr>
            <a:r>
              <a:rPr lang="en-US" sz="1350" dirty="0">
                <a:solidFill>
                  <a:schemeClr val="tx1"/>
                </a:solidFill>
                <a:latin typeface="Calibri" pitchFamily="34" charset="0"/>
                <a:ea typeface="Calibri" pitchFamily="34" charset="-122"/>
                <a:cs typeface="Calibri" pitchFamily="34" charset="-120"/>
              </a:rPr>
              <a:t>Un equipo docente rediseña un proyecto para que estudiantes y familias lo construyan en una comunidad en línea.</a:t>
            </a:r>
            <a:endParaRPr lang="en-US" sz="1350" dirty="0"/>
          </a:p>
        </p:txBody>
      </p:sp>
      <p:sp>
        <p:nvSpPr>
          <p:cNvPr id="11" name="Caso C"/>
          <p:cNvSpPr/>
          <p:nvPr/>
        </p:nvSpPr>
        <p:spPr>
          <a:xfrm>
            <a:off x="6126480" y="1188720"/>
            <a:ext cx="2651760" cy="1828800"/>
          </a:xfrm>
          <a:prstGeom prst="roundRect">
            <a:avLst>
              <a:gd name="adj" fmla="val 5000"/>
            </a:avLst>
          </a:prstGeom>
          <a:solidFill>
            <a:schemeClr val="bg2"/>
          </a:solidFill>
          <a:ln w="12700">
            <a:solidFill>
              <a:schemeClr val="bg2"/>
            </a:solidFill>
            <a:prstDash val="solid"/>
          </a:ln>
        </p:spPr>
      </p:sp>
      <p:sp>
        <p:nvSpPr>
          <p:cNvPr id="12" name="etiqueta Caso C"/>
          <p:cNvSpPr/>
          <p:nvPr/>
        </p:nvSpPr>
        <p:spPr>
          <a:xfrm>
            <a:off x="6309360" y="1325880"/>
            <a:ext cx="822960" cy="310896"/>
          </a:xfrm>
          <a:prstGeom prst="roundRect">
            <a:avLst>
              <a:gd name="adj" fmla="val 23529"/>
            </a:avLst>
          </a:prstGeom>
          <a:solidFill>
            <a:schemeClr val="accent1"/>
          </a:solidFill>
          <a:ln w="12700">
            <a:solidFill>
              <a:schemeClr val="accent1"/>
            </a:solidFill>
            <a:prstDash val="solid"/>
          </a:ln>
        </p:spPr>
      </p:sp>
      <p:sp>
        <p:nvSpPr>
          <p:cNvPr id="13" name="Text 11"/>
          <p:cNvSpPr txBox="1"/>
          <p:nvPr/>
        </p:nvSpPr>
        <p:spPr>
          <a:xfrm>
            <a:off x="6309360" y="1325880"/>
            <a:ext cx="822960" cy="310896"/>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Caso C</a:t>
            </a:r>
            <a:endParaRPr lang="en-US" sz="1200" dirty="0"/>
          </a:p>
        </p:txBody>
      </p:sp>
      <p:sp>
        <p:nvSpPr>
          <p:cNvPr id="14" name="Text 12"/>
          <p:cNvSpPr txBox="1"/>
          <p:nvPr/>
        </p:nvSpPr>
        <p:spPr>
          <a:xfrm>
            <a:off x="6309360" y="1737360"/>
            <a:ext cx="2286000" cy="1188720"/>
          </a:xfrm>
          <a:prstGeom prst="rect">
            <a:avLst/>
          </a:prstGeom>
          <a:noFill/>
          <a:ln/>
        </p:spPr>
        <p:txBody>
          <a:bodyPr wrap="square" lIns="0" tIns="0" rIns="0" bIns="0" rtlCol="0" anchor="t"/>
          <a:lstStyle/>
          <a:p>
            <a:pPr indent="0" marL="0">
              <a:buNone/>
            </a:pPr>
            <a:r>
              <a:rPr lang="en-US" sz="1350" dirty="0">
                <a:solidFill>
                  <a:schemeClr val="tx1"/>
                </a:solidFill>
                <a:latin typeface="Calibri" pitchFamily="34" charset="0"/>
                <a:ea typeface="Calibri" pitchFamily="34" charset="-122"/>
                <a:cs typeface="Calibri" pitchFamily="34" charset="-120"/>
              </a:rPr>
              <a:t>Una institución compra tabletas, pero no cambia su plan de clase.</a:t>
            </a:r>
            <a:endParaRPr lang="en-US" sz="1350" dirty="0"/>
          </a:p>
        </p:txBody>
      </p:sp>
      <p:sp>
        <p:nvSpPr>
          <p:cNvPr id="15" name="pregunta del ejercicio"/>
          <p:cNvSpPr/>
          <p:nvPr/>
        </p:nvSpPr>
        <p:spPr>
          <a:xfrm>
            <a:off x="457200" y="3200400"/>
            <a:ext cx="8229600" cy="868680"/>
          </a:xfrm>
          <a:prstGeom prst="roundRect">
            <a:avLst>
              <a:gd name="adj" fmla="val 10526"/>
            </a:avLst>
          </a:prstGeom>
          <a:solidFill>
            <a:schemeClr val="tx2"/>
          </a:solidFill>
          <a:ln w="12700">
            <a:solidFill>
              <a:schemeClr val="tx2"/>
            </a:solidFill>
            <a:prstDash val="solid"/>
          </a:ln>
        </p:spPr>
      </p:sp>
      <p:sp>
        <p:nvSpPr>
          <p:cNvPr id="16" name="Text 14"/>
          <p:cNvSpPr txBox="1"/>
          <p:nvPr/>
        </p:nvSpPr>
        <p:spPr>
          <a:xfrm>
            <a:off x="731520" y="3200400"/>
            <a:ext cx="7680960" cy="868680"/>
          </a:xfrm>
          <a:prstGeom prst="rect">
            <a:avLst/>
          </a:prstGeom>
          <a:noFill/>
          <a:ln/>
        </p:spPr>
        <p:txBody>
          <a:bodyPr wrap="square" lIns="0" tIns="0" rIns="0" bIns="0" rtlCol="0" anchor="ctr"/>
          <a:lstStyle/>
          <a:p>
            <a:pPr indent="0" marL="0">
              <a:buNone/>
            </a:pPr>
            <a:r>
              <a:rPr lang="en-US" sz="1700" b="1" dirty="0">
                <a:solidFill>
                  <a:schemeClr val="bg1"/>
                </a:solidFill>
                <a:latin typeface="Calibri" pitchFamily="34" charset="0"/>
                <a:ea typeface="Calibri" pitchFamily="34" charset="-122"/>
                <a:cs typeface="Calibri" pitchFamily="34" charset="-120"/>
              </a:rPr>
              <a:t>Para cada caso decide: ¿cambia el soporte, mejora la tarea o cambia la forma de aprender?</a:t>
            </a:r>
            <a:endParaRPr lang="en-US" sz="1700" dirty="0"/>
          </a:p>
        </p:txBody>
      </p:sp>
      <p:sp>
        <p:nvSpPr>
          <p:cNvPr id="17" name="Text 15"/>
          <p:cNvSpPr txBox="1"/>
          <p:nvPr/>
        </p:nvSpPr>
        <p:spPr>
          <a:xfrm>
            <a:off x="457200" y="4206240"/>
            <a:ext cx="8229600" cy="320040"/>
          </a:xfrm>
          <a:prstGeom prst="rect">
            <a:avLst/>
          </a:prstGeom>
          <a:noFill/>
          <a:ln/>
        </p:spPr>
        <p:txBody>
          <a:bodyPr wrap="square" lIns="0" tIns="0" rIns="0" bIns="0" rtlCol="0" anchor="ctr"/>
          <a:lstStyle/>
          <a:p>
            <a:pPr indent="0" marL="0">
              <a:buNone/>
            </a:pPr>
            <a:r>
              <a:rPr lang="en-US" sz="1100" dirty="0">
                <a:solidFill>
                  <a:schemeClr val="accent4"/>
                </a:solidFill>
                <a:latin typeface="Calibri" pitchFamily="34" charset="0"/>
                <a:ea typeface="Calibri" pitchFamily="34" charset="-122"/>
                <a:cs typeface="Calibri" pitchFamily="34" charset="-120"/>
              </a:rPr>
              <a:t>Casos ilustrativos para la práctica; no corresponden a instituciones reales.</a:t>
            </a:r>
            <a:endParaRPr lang="en-US" sz="1100" dirty="0"/>
          </a:p>
        </p:txBody>
      </p:sp>
      <p:sp>
        <p:nvSpPr>
          <p:cNvPr id="25" name="Slide Number Placeholder 0"/>
          <p:cNvSpPr>
            <a:spLocks noGrp="1"/>
          </p:cNvSpPr>
          <p:nvPr>
            <p:ph type="sldNum" sz="quarter" idx="4294967295"/>
          </p:nvPr>
        </p:nvSpPr>
        <p:spPr>
          <a:xfrm>
            <a:off x="8229600" y="470001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Ejercicio 1: paso a paso</a:t>
            </a:r>
            <a:endParaRPr lang="en-US" sz="2800" dirty="0"/>
          </a:p>
        </p:txBody>
      </p:sp>
      <p:sp>
        <p:nvSpPr>
          <p:cNvPr id="3" name="paso 1"/>
          <p:cNvSpPr/>
          <p:nvPr/>
        </p:nvSpPr>
        <p:spPr>
          <a:xfrm>
            <a:off x="457200" y="1143000"/>
            <a:ext cx="8229600" cy="512064"/>
          </a:xfrm>
          <a:prstGeom prst="roundRect">
            <a:avLst>
              <a:gd name="adj" fmla="val 17857"/>
            </a:avLst>
          </a:prstGeom>
          <a:solidFill>
            <a:schemeClr val="bg2"/>
          </a:solidFill>
          <a:ln w="12700">
            <a:solidFill>
              <a:schemeClr val="bg2"/>
            </a:solidFill>
            <a:prstDash val="solid"/>
          </a:ln>
        </p:spPr>
      </p:sp>
      <p:sp>
        <p:nvSpPr>
          <p:cNvPr id="4" name="número 1"/>
          <p:cNvSpPr/>
          <p:nvPr/>
        </p:nvSpPr>
        <p:spPr>
          <a:xfrm>
            <a:off x="594360" y="1216152"/>
            <a:ext cx="365760" cy="365760"/>
          </a:xfrm>
          <a:prstGeom prst="ellipse">
            <a:avLst/>
          </a:prstGeom>
          <a:solidFill>
            <a:schemeClr val="accent1"/>
          </a:solidFill>
          <a:ln w="12700">
            <a:solidFill>
              <a:schemeClr val="accent1"/>
            </a:solidFill>
            <a:prstDash val="solid"/>
          </a:ln>
        </p:spPr>
      </p:sp>
      <p:sp>
        <p:nvSpPr>
          <p:cNvPr id="5" name="Text 3"/>
          <p:cNvSpPr txBox="1"/>
          <p:nvPr/>
        </p:nvSpPr>
        <p:spPr>
          <a:xfrm>
            <a:off x="594360" y="1216152"/>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1143000" y="1143000"/>
            <a:ext cx="6400800" cy="512064"/>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Lee los tres casos.</a:t>
            </a:r>
            <a:endParaRPr lang="en-US" sz="1400" dirty="0"/>
          </a:p>
        </p:txBody>
      </p:sp>
      <p:sp>
        <p:nvSpPr>
          <p:cNvPr id="7" name="Text 5"/>
          <p:cNvSpPr txBox="1"/>
          <p:nvPr/>
        </p:nvSpPr>
        <p:spPr>
          <a:xfrm>
            <a:off x="7589520" y="1143000"/>
            <a:ext cx="914400" cy="512064"/>
          </a:xfrm>
          <a:prstGeom prst="rect">
            <a:avLst/>
          </a:prstGeom>
          <a:noFill/>
          <a:ln/>
        </p:spPr>
        <p:txBody>
          <a:bodyPr wrap="square" lIns="0" tIns="0" rIns="0" bIns="0" rtlCol="0" anchor="ctr"/>
          <a:lstStyle/>
          <a:p>
            <a:pPr algn="r" indent="0" marL="0">
              <a:buNone/>
            </a:pPr>
            <a:r>
              <a:rPr lang="en-US" sz="1400" b="1" dirty="0">
                <a:solidFill>
                  <a:schemeClr val="accent1"/>
                </a:solidFill>
                <a:latin typeface="Calibri" pitchFamily="34" charset="0"/>
                <a:ea typeface="Calibri" pitchFamily="34" charset="-122"/>
                <a:cs typeface="Calibri" pitchFamily="34" charset="-120"/>
              </a:rPr>
              <a:t>3 min</a:t>
            </a:r>
            <a:endParaRPr lang="en-US" sz="1400" dirty="0"/>
          </a:p>
        </p:txBody>
      </p:sp>
      <p:sp>
        <p:nvSpPr>
          <p:cNvPr id="8" name="paso 2"/>
          <p:cNvSpPr/>
          <p:nvPr/>
        </p:nvSpPr>
        <p:spPr>
          <a:xfrm>
            <a:off x="457200" y="1746504"/>
            <a:ext cx="8229600" cy="512064"/>
          </a:xfrm>
          <a:prstGeom prst="roundRect">
            <a:avLst>
              <a:gd name="adj" fmla="val 17857"/>
            </a:avLst>
          </a:prstGeom>
          <a:solidFill>
            <a:schemeClr val="bg2"/>
          </a:solidFill>
          <a:ln w="12700">
            <a:solidFill>
              <a:schemeClr val="bg2"/>
            </a:solidFill>
            <a:prstDash val="solid"/>
          </a:ln>
        </p:spPr>
      </p:sp>
      <p:sp>
        <p:nvSpPr>
          <p:cNvPr id="9" name="número 2"/>
          <p:cNvSpPr/>
          <p:nvPr/>
        </p:nvSpPr>
        <p:spPr>
          <a:xfrm>
            <a:off x="594360" y="1819656"/>
            <a:ext cx="365760" cy="365760"/>
          </a:xfrm>
          <a:prstGeom prst="ellipse">
            <a:avLst/>
          </a:prstGeom>
          <a:solidFill>
            <a:schemeClr val="accent1"/>
          </a:solidFill>
          <a:ln w="12700">
            <a:solidFill>
              <a:schemeClr val="accent1"/>
            </a:solidFill>
            <a:prstDash val="solid"/>
          </a:ln>
        </p:spPr>
      </p:sp>
      <p:sp>
        <p:nvSpPr>
          <p:cNvPr id="10" name="Text 8"/>
          <p:cNvSpPr txBox="1"/>
          <p:nvPr/>
        </p:nvSpPr>
        <p:spPr>
          <a:xfrm>
            <a:off x="594360" y="1819656"/>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2</a:t>
            </a:r>
            <a:endParaRPr lang="en-US" sz="1400" dirty="0"/>
          </a:p>
        </p:txBody>
      </p:sp>
      <p:sp>
        <p:nvSpPr>
          <p:cNvPr id="11" name="Text 9"/>
          <p:cNvSpPr txBox="1"/>
          <p:nvPr/>
        </p:nvSpPr>
        <p:spPr>
          <a:xfrm>
            <a:off x="1143000" y="1746504"/>
            <a:ext cx="6400800" cy="512064"/>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Vota en la encuesta de Zoom.</a:t>
            </a:r>
            <a:endParaRPr lang="en-US" sz="1400" dirty="0"/>
          </a:p>
        </p:txBody>
      </p:sp>
      <p:sp>
        <p:nvSpPr>
          <p:cNvPr id="12" name="Text 10"/>
          <p:cNvSpPr txBox="1"/>
          <p:nvPr/>
        </p:nvSpPr>
        <p:spPr>
          <a:xfrm>
            <a:off x="7589520" y="1746504"/>
            <a:ext cx="914400" cy="512064"/>
          </a:xfrm>
          <a:prstGeom prst="rect">
            <a:avLst/>
          </a:prstGeom>
          <a:noFill/>
          <a:ln/>
        </p:spPr>
        <p:txBody>
          <a:bodyPr wrap="square" lIns="0" tIns="0" rIns="0" bIns="0" rtlCol="0" anchor="ctr"/>
          <a:lstStyle/>
          <a:p>
            <a:pPr algn="r" indent="0" marL="0">
              <a:buNone/>
            </a:pPr>
            <a:r>
              <a:rPr lang="en-US" sz="1400" b="1" dirty="0">
                <a:solidFill>
                  <a:schemeClr val="accent1"/>
                </a:solidFill>
                <a:latin typeface="Calibri" pitchFamily="34" charset="0"/>
                <a:ea typeface="Calibri" pitchFamily="34" charset="-122"/>
                <a:cs typeface="Calibri" pitchFamily="34" charset="-120"/>
              </a:rPr>
              <a:t>2 min</a:t>
            </a:r>
            <a:endParaRPr lang="en-US" sz="1400" dirty="0"/>
          </a:p>
        </p:txBody>
      </p:sp>
      <p:sp>
        <p:nvSpPr>
          <p:cNvPr id="13" name="paso 3"/>
          <p:cNvSpPr/>
          <p:nvPr/>
        </p:nvSpPr>
        <p:spPr>
          <a:xfrm>
            <a:off x="457200" y="2350008"/>
            <a:ext cx="8229600" cy="512064"/>
          </a:xfrm>
          <a:prstGeom prst="roundRect">
            <a:avLst>
              <a:gd name="adj" fmla="val 17857"/>
            </a:avLst>
          </a:prstGeom>
          <a:solidFill>
            <a:schemeClr val="bg2"/>
          </a:solidFill>
          <a:ln w="12700">
            <a:solidFill>
              <a:schemeClr val="bg2"/>
            </a:solidFill>
            <a:prstDash val="solid"/>
          </a:ln>
        </p:spPr>
      </p:sp>
      <p:sp>
        <p:nvSpPr>
          <p:cNvPr id="14" name="número 3"/>
          <p:cNvSpPr/>
          <p:nvPr/>
        </p:nvSpPr>
        <p:spPr>
          <a:xfrm>
            <a:off x="594360" y="2423160"/>
            <a:ext cx="365760" cy="365760"/>
          </a:xfrm>
          <a:prstGeom prst="ellipse">
            <a:avLst/>
          </a:prstGeom>
          <a:solidFill>
            <a:schemeClr val="accent1"/>
          </a:solidFill>
          <a:ln w="12700">
            <a:solidFill>
              <a:schemeClr val="accent1"/>
            </a:solidFill>
            <a:prstDash val="solid"/>
          </a:ln>
        </p:spPr>
      </p:sp>
      <p:sp>
        <p:nvSpPr>
          <p:cNvPr id="15" name="Text 13"/>
          <p:cNvSpPr txBox="1"/>
          <p:nvPr/>
        </p:nvSpPr>
        <p:spPr>
          <a:xfrm>
            <a:off x="594360" y="242316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3</a:t>
            </a:r>
            <a:endParaRPr lang="en-US" sz="1400" dirty="0"/>
          </a:p>
        </p:txBody>
      </p:sp>
      <p:sp>
        <p:nvSpPr>
          <p:cNvPr id="16" name="Text 14"/>
          <p:cNvSpPr txBox="1"/>
          <p:nvPr/>
        </p:nvSpPr>
        <p:spPr>
          <a:xfrm>
            <a:off x="1143000" y="2350008"/>
            <a:ext cx="6400800" cy="512064"/>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En tu sala, explica por qué votaste así y qué necesidad atiende cada caso.</a:t>
            </a:r>
            <a:endParaRPr lang="en-US" sz="1400" dirty="0"/>
          </a:p>
        </p:txBody>
      </p:sp>
      <p:sp>
        <p:nvSpPr>
          <p:cNvPr id="17" name="Text 15"/>
          <p:cNvSpPr txBox="1"/>
          <p:nvPr/>
        </p:nvSpPr>
        <p:spPr>
          <a:xfrm>
            <a:off x="7589520" y="2350008"/>
            <a:ext cx="914400" cy="512064"/>
          </a:xfrm>
          <a:prstGeom prst="rect">
            <a:avLst/>
          </a:prstGeom>
          <a:noFill/>
          <a:ln/>
        </p:spPr>
        <p:txBody>
          <a:bodyPr wrap="square" lIns="0" tIns="0" rIns="0" bIns="0" rtlCol="0" anchor="ctr"/>
          <a:lstStyle/>
          <a:p>
            <a:pPr algn="r" indent="0" marL="0">
              <a:buNone/>
            </a:pPr>
            <a:r>
              <a:rPr lang="en-US" sz="1400" b="1" dirty="0">
                <a:solidFill>
                  <a:schemeClr val="accent1"/>
                </a:solidFill>
                <a:latin typeface="Calibri" pitchFamily="34" charset="0"/>
                <a:ea typeface="Calibri" pitchFamily="34" charset="-122"/>
                <a:cs typeface="Calibri" pitchFamily="34" charset="-120"/>
              </a:rPr>
              <a:t>10 min</a:t>
            </a:r>
            <a:endParaRPr lang="en-US" sz="1400" dirty="0"/>
          </a:p>
        </p:txBody>
      </p:sp>
      <p:sp>
        <p:nvSpPr>
          <p:cNvPr id="18" name="paso 4"/>
          <p:cNvSpPr/>
          <p:nvPr/>
        </p:nvSpPr>
        <p:spPr>
          <a:xfrm>
            <a:off x="457200" y="2953512"/>
            <a:ext cx="8229600" cy="512064"/>
          </a:xfrm>
          <a:prstGeom prst="roundRect">
            <a:avLst>
              <a:gd name="adj" fmla="val 17857"/>
            </a:avLst>
          </a:prstGeom>
          <a:solidFill>
            <a:schemeClr val="bg2"/>
          </a:solidFill>
          <a:ln w="12700">
            <a:solidFill>
              <a:schemeClr val="bg2"/>
            </a:solidFill>
            <a:prstDash val="solid"/>
          </a:ln>
        </p:spPr>
      </p:sp>
      <p:sp>
        <p:nvSpPr>
          <p:cNvPr id="19" name="número 4"/>
          <p:cNvSpPr/>
          <p:nvPr/>
        </p:nvSpPr>
        <p:spPr>
          <a:xfrm>
            <a:off x="594360" y="3026664"/>
            <a:ext cx="365760" cy="365760"/>
          </a:xfrm>
          <a:prstGeom prst="ellipse">
            <a:avLst/>
          </a:prstGeom>
          <a:solidFill>
            <a:schemeClr val="accent1"/>
          </a:solidFill>
          <a:ln w="12700">
            <a:solidFill>
              <a:schemeClr val="accent1"/>
            </a:solidFill>
            <a:prstDash val="solid"/>
          </a:ln>
        </p:spPr>
      </p:sp>
      <p:sp>
        <p:nvSpPr>
          <p:cNvPr id="20" name="Text 18"/>
          <p:cNvSpPr txBox="1"/>
          <p:nvPr/>
        </p:nvSpPr>
        <p:spPr>
          <a:xfrm>
            <a:off x="594360" y="3026664"/>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4</a:t>
            </a:r>
            <a:endParaRPr lang="en-US" sz="1400" dirty="0"/>
          </a:p>
        </p:txBody>
      </p:sp>
      <p:sp>
        <p:nvSpPr>
          <p:cNvPr id="21" name="Text 19"/>
          <p:cNvSpPr txBox="1"/>
          <p:nvPr/>
        </p:nvSpPr>
        <p:spPr>
          <a:xfrm>
            <a:off x="1143000" y="2953512"/>
            <a:ext cx="6400800" cy="512064"/>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Regresa a la sala principal: cada sala comparte un hallazgo.</a:t>
            </a:r>
            <a:endParaRPr lang="en-US" sz="1400" dirty="0"/>
          </a:p>
        </p:txBody>
      </p:sp>
      <p:sp>
        <p:nvSpPr>
          <p:cNvPr id="22" name="Text 20"/>
          <p:cNvSpPr txBox="1"/>
          <p:nvPr/>
        </p:nvSpPr>
        <p:spPr>
          <a:xfrm>
            <a:off x="7589520" y="2953512"/>
            <a:ext cx="914400" cy="512064"/>
          </a:xfrm>
          <a:prstGeom prst="rect">
            <a:avLst/>
          </a:prstGeom>
          <a:noFill/>
          <a:ln/>
        </p:spPr>
        <p:txBody>
          <a:bodyPr wrap="square" lIns="0" tIns="0" rIns="0" bIns="0" rtlCol="0" anchor="ctr"/>
          <a:lstStyle/>
          <a:p>
            <a:pPr algn="r" indent="0" marL="0">
              <a:buNone/>
            </a:pPr>
            <a:r>
              <a:rPr lang="en-US" sz="1400" b="1" dirty="0">
                <a:solidFill>
                  <a:schemeClr val="accent1"/>
                </a:solidFill>
                <a:latin typeface="Calibri" pitchFamily="34" charset="0"/>
                <a:ea typeface="Calibri" pitchFamily="34" charset="-122"/>
                <a:cs typeface="Calibri" pitchFamily="34" charset="-120"/>
              </a:rPr>
              <a:t>10 min</a:t>
            </a:r>
            <a:endParaRPr lang="en-US" sz="1400" dirty="0"/>
          </a:p>
        </p:txBody>
      </p:sp>
      <p:sp>
        <p:nvSpPr>
          <p:cNvPr id="23" name="paso 5"/>
          <p:cNvSpPr/>
          <p:nvPr/>
        </p:nvSpPr>
        <p:spPr>
          <a:xfrm>
            <a:off x="457200" y="3557016"/>
            <a:ext cx="8229600" cy="512064"/>
          </a:xfrm>
          <a:prstGeom prst="roundRect">
            <a:avLst>
              <a:gd name="adj" fmla="val 17857"/>
            </a:avLst>
          </a:prstGeom>
          <a:solidFill>
            <a:schemeClr val="bg2"/>
          </a:solidFill>
          <a:ln w="12700">
            <a:solidFill>
              <a:schemeClr val="bg2"/>
            </a:solidFill>
            <a:prstDash val="solid"/>
          </a:ln>
        </p:spPr>
      </p:sp>
      <p:sp>
        <p:nvSpPr>
          <p:cNvPr id="24" name="número 5"/>
          <p:cNvSpPr/>
          <p:nvPr/>
        </p:nvSpPr>
        <p:spPr>
          <a:xfrm>
            <a:off x="594360" y="3630168"/>
            <a:ext cx="365760" cy="365760"/>
          </a:xfrm>
          <a:prstGeom prst="ellipse">
            <a:avLst/>
          </a:prstGeom>
          <a:solidFill>
            <a:schemeClr val="accent1"/>
          </a:solidFill>
          <a:ln w="12700">
            <a:solidFill>
              <a:schemeClr val="accent1"/>
            </a:solidFill>
            <a:prstDash val="solid"/>
          </a:ln>
        </p:spPr>
      </p:sp>
      <p:sp>
        <p:nvSpPr>
          <p:cNvPr id="25" name="Text 23"/>
          <p:cNvSpPr txBox="1"/>
          <p:nvPr/>
        </p:nvSpPr>
        <p:spPr>
          <a:xfrm>
            <a:off x="594360" y="363016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5</a:t>
            </a:r>
            <a:endParaRPr lang="en-US" sz="1400" dirty="0"/>
          </a:p>
        </p:txBody>
      </p:sp>
      <p:sp>
        <p:nvSpPr>
          <p:cNvPr id="26" name="Text 24"/>
          <p:cNvSpPr txBox="1"/>
          <p:nvPr/>
        </p:nvSpPr>
        <p:spPr>
          <a:xfrm>
            <a:off x="1143000" y="3557016"/>
            <a:ext cx="6400800" cy="512064"/>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Cierre: ¿qué señal indica que hay innovación y no solo tecnología?</a:t>
            </a:r>
            <a:endParaRPr lang="en-US" sz="1400" dirty="0"/>
          </a:p>
        </p:txBody>
      </p:sp>
      <p:sp>
        <p:nvSpPr>
          <p:cNvPr id="27" name="Text 25"/>
          <p:cNvSpPr txBox="1"/>
          <p:nvPr/>
        </p:nvSpPr>
        <p:spPr>
          <a:xfrm>
            <a:off x="7589520" y="3557016"/>
            <a:ext cx="914400" cy="512064"/>
          </a:xfrm>
          <a:prstGeom prst="rect">
            <a:avLst/>
          </a:prstGeom>
          <a:noFill/>
          <a:ln/>
        </p:spPr>
        <p:txBody>
          <a:bodyPr wrap="square" lIns="0" tIns="0" rIns="0" bIns="0" rtlCol="0" anchor="ctr"/>
          <a:lstStyle/>
          <a:p>
            <a:pPr algn="r" indent="0" marL="0">
              <a:buNone/>
            </a:pPr>
            <a:r>
              <a:rPr lang="en-US" sz="1400" b="1" dirty="0">
                <a:solidFill>
                  <a:schemeClr val="accent1"/>
                </a:solidFill>
                <a:latin typeface="Calibri" pitchFamily="34" charset="0"/>
                <a:ea typeface="Calibri" pitchFamily="34" charset="-122"/>
                <a:cs typeface="Calibri" pitchFamily="34" charset="-120"/>
              </a:rPr>
              <a:t>5 min</a:t>
            </a:r>
            <a:endParaRPr lang="en-US" sz="1400" dirty="0"/>
          </a:p>
        </p:txBody>
      </p:sp>
      <p:sp>
        <p:nvSpPr>
          <p:cNvPr id="28" name="Text 26"/>
          <p:cNvSpPr txBox="1"/>
          <p:nvPr/>
        </p:nvSpPr>
        <p:spPr>
          <a:xfrm>
            <a:off x="457200" y="4206240"/>
            <a:ext cx="8229600" cy="274320"/>
          </a:xfrm>
          <a:prstGeom prst="rect">
            <a:avLst/>
          </a:prstGeom>
          <a:noFill/>
          <a:ln/>
        </p:spPr>
        <p:txBody>
          <a:bodyPr wrap="square" lIns="0" tIns="0" rIns="0" bIns="0" rtlCol="0" anchor="ctr"/>
          <a:lstStyle/>
          <a:p>
            <a:pPr indent="0" marL="0">
              <a:buNone/>
            </a:pPr>
            <a:r>
              <a:rPr lang="en-US" sz="1300" b="1" dirty="0">
                <a:solidFill>
                  <a:schemeClr val="tx1"/>
                </a:solidFill>
                <a:latin typeface="Calibri" pitchFamily="34" charset="0"/>
                <a:ea typeface="Calibri" pitchFamily="34" charset="-122"/>
                <a:cs typeface="Calibri" pitchFamily="34" charset="-120"/>
              </a:rPr>
              <a:t>Total: 30 minutos</a:t>
            </a:r>
            <a:endParaRPr lang="en-US" sz="1300" dirty="0"/>
          </a:p>
        </p:txBody>
      </p:sp>
      <p:sp>
        <p:nvSpPr>
          <p:cNvPr id="25" name="Slide Number Placeholder 0"/>
          <p:cNvSpPr>
            <a:spLocks noGrp="1"/>
          </p:cNvSpPr>
          <p:nvPr>
            <p:ph type="sldNum" sz="quarter" idx="4294967295"/>
          </p:nvPr>
        </p:nvSpPr>
        <p:spPr>
          <a:xfrm>
            <a:off x="8229600" y="470001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Foro 2: tu necesidad en cuatro elementos</a:t>
            </a:r>
            <a:endParaRPr lang="en-US" sz="2800" dirty="0"/>
          </a:p>
        </p:txBody>
      </p:sp>
      <p:sp>
        <p:nvSpPr>
          <p:cNvPr id="3" name="elemento 1"/>
          <p:cNvSpPr/>
          <p:nvPr/>
        </p:nvSpPr>
        <p:spPr>
          <a:xfrm>
            <a:off x="457200" y="1188720"/>
            <a:ext cx="4023360" cy="1234440"/>
          </a:xfrm>
          <a:prstGeom prst="roundRect">
            <a:avLst>
              <a:gd name="adj" fmla="val 7407"/>
            </a:avLst>
          </a:prstGeom>
          <a:solidFill>
            <a:schemeClr val="bg2"/>
          </a:solidFill>
          <a:ln w="12700">
            <a:solidFill>
              <a:schemeClr val="bg2"/>
            </a:solidFill>
            <a:prstDash val="solid"/>
          </a:ln>
        </p:spPr>
      </p:sp>
      <p:sp>
        <p:nvSpPr>
          <p:cNvPr id="4" name="Text 2"/>
          <p:cNvSpPr txBox="1"/>
          <p:nvPr/>
        </p:nvSpPr>
        <p:spPr>
          <a:xfrm>
            <a:off x="640080" y="1325880"/>
            <a:ext cx="548640" cy="822960"/>
          </a:xfrm>
          <a:prstGeom prst="rect">
            <a:avLst/>
          </a:prstGeom>
          <a:noFill/>
          <a:ln/>
        </p:spPr>
        <p:txBody>
          <a:bodyPr wrap="square" lIns="0" tIns="0" rIns="0" bIns="0" rtlCol="0" anchor="t"/>
          <a:lstStyle/>
          <a:p>
            <a:pPr indent="0" marL="0">
              <a:buNone/>
            </a:pPr>
            <a:r>
              <a:rPr lang="en-US" sz="3600" b="1" dirty="0">
                <a:solidFill>
                  <a:schemeClr val="accent1"/>
                </a:solidFill>
                <a:latin typeface="Cambria" pitchFamily="34" charset="0"/>
                <a:ea typeface="Cambria" pitchFamily="34" charset="-122"/>
                <a:cs typeface="Cambria" pitchFamily="34" charset="-120"/>
              </a:rPr>
              <a:t>1</a:t>
            </a:r>
            <a:endParaRPr lang="en-US" sz="3600" dirty="0"/>
          </a:p>
        </p:txBody>
      </p:sp>
      <p:sp>
        <p:nvSpPr>
          <p:cNvPr id="5" name="Text 3"/>
          <p:cNvSpPr txBox="1"/>
          <p:nvPr/>
        </p:nvSpPr>
        <p:spPr>
          <a:xfrm>
            <a:off x="1280160" y="1325880"/>
            <a:ext cx="3017520" cy="32004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Contexto</a:t>
            </a:r>
            <a:endParaRPr lang="en-US" sz="1500" dirty="0"/>
          </a:p>
        </p:txBody>
      </p:sp>
      <p:sp>
        <p:nvSpPr>
          <p:cNvPr id="6" name="Text 4"/>
          <p:cNvSpPr txBox="1"/>
          <p:nvPr/>
        </p:nvSpPr>
        <p:spPr>
          <a:xfrm>
            <a:off x="1280160" y="1664208"/>
            <a:ext cx="3063240" cy="68580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Breve descripción de la institución y del rol de la persona entrevistada.</a:t>
            </a:r>
            <a:endParaRPr lang="en-US" sz="1300" dirty="0"/>
          </a:p>
        </p:txBody>
      </p:sp>
      <p:sp>
        <p:nvSpPr>
          <p:cNvPr id="7" name="elemento 2"/>
          <p:cNvSpPr/>
          <p:nvPr/>
        </p:nvSpPr>
        <p:spPr>
          <a:xfrm>
            <a:off x="4663440" y="1188720"/>
            <a:ext cx="4023360" cy="1234440"/>
          </a:xfrm>
          <a:prstGeom prst="roundRect">
            <a:avLst>
              <a:gd name="adj" fmla="val 7407"/>
            </a:avLst>
          </a:prstGeom>
          <a:solidFill>
            <a:schemeClr val="bg2"/>
          </a:solidFill>
          <a:ln w="12700">
            <a:solidFill>
              <a:schemeClr val="bg2"/>
            </a:solidFill>
            <a:prstDash val="solid"/>
          </a:ln>
        </p:spPr>
      </p:sp>
      <p:sp>
        <p:nvSpPr>
          <p:cNvPr id="8" name="Text 6"/>
          <p:cNvSpPr txBox="1"/>
          <p:nvPr/>
        </p:nvSpPr>
        <p:spPr>
          <a:xfrm>
            <a:off x="4846320" y="1325880"/>
            <a:ext cx="548640" cy="822960"/>
          </a:xfrm>
          <a:prstGeom prst="rect">
            <a:avLst/>
          </a:prstGeom>
          <a:noFill/>
          <a:ln/>
        </p:spPr>
        <p:txBody>
          <a:bodyPr wrap="square" lIns="0" tIns="0" rIns="0" bIns="0" rtlCol="0" anchor="t"/>
          <a:lstStyle/>
          <a:p>
            <a:pPr indent="0" marL="0">
              <a:buNone/>
            </a:pPr>
            <a:r>
              <a:rPr lang="en-US" sz="3600" b="1" dirty="0">
                <a:solidFill>
                  <a:schemeClr val="accent1"/>
                </a:solidFill>
                <a:latin typeface="Cambria" pitchFamily="34" charset="0"/>
                <a:ea typeface="Cambria" pitchFamily="34" charset="-122"/>
                <a:cs typeface="Cambria" pitchFamily="34" charset="-120"/>
              </a:rPr>
              <a:t>2</a:t>
            </a:r>
            <a:endParaRPr lang="en-US" sz="3600" dirty="0"/>
          </a:p>
        </p:txBody>
      </p:sp>
      <p:sp>
        <p:nvSpPr>
          <p:cNvPr id="9" name="Text 7"/>
          <p:cNvSpPr txBox="1"/>
          <p:nvPr/>
        </p:nvSpPr>
        <p:spPr>
          <a:xfrm>
            <a:off x="5486400" y="1325880"/>
            <a:ext cx="3017520" cy="32004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Planteamiento de la necesidad</a:t>
            </a:r>
            <a:endParaRPr lang="en-US" sz="1500" dirty="0"/>
          </a:p>
        </p:txBody>
      </p:sp>
      <p:sp>
        <p:nvSpPr>
          <p:cNvPr id="10" name="Text 8"/>
          <p:cNvSpPr txBox="1"/>
          <p:nvPr/>
        </p:nvSpPr>
        <p:spPr>
          <a:xfrm>
            <a:off x="5486400" y="1664208"/>
            <a:ext cx="3063240" cy="68580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Descripción clara del problema identificado.</a:t>
            </a:r>
            <a:endParaRPr lang="en-US" sz="1300" dirty="0"/>
          </a:p>
        </p:txBody>
      </p:sp>
      <p:sp>
        <p:nvSpPr>
          <p:cNvPr id="11" name="elemento 3"/>
          <p:cNvSpPr/>
          <p:nvPr/>
        </p:nvSpPr>
        <p:spPr>
          <a:xfrm>
            <a:off x="457200" y="2560320"/>
            <a:ext cx="4023360" cy="1234440"/>
          </a:xfrm>
          <a:prstGeom prst="roundRect">
            <a:avLst>
              <a:gd name="adj" fmla="val 7407"/>
            </a:avLst>
          </a:prstGeom>
          <a:solidFill>
            <a:schemeClr val="bg2"/>
          </a:solidFill>
          <a:ln w="12700">
            <a:solidFill>
              <a:schemeClr val="bg2"/>
            </a:solidFill>
            <a:prstDash val="solid"/>
          </a:ln>
        </p:spPr>
      </p:sp>
      <p:sp>
        <p:nvSpPr>
          <p:cNvPr id="12" name="Text 10"/>
          <p:cNvSpPr txBox="1"/>
          <p:nvPr/>
        </p:nvSpPr>
        <p:spPr>
          <a:xfrm>
            <a:off x="640080" y="2697480"/>
            <a:ext cx="548640" cy="822960"/>
          </a:xfrm>
          <a:prstGeom prst="rect">
            <a:avLst/>
          </a:prstGeom>
          <a:noFill/>
          <a:ln/>
        </p:spPr>
        <p:txBody>
          <a:bodyPr wrap="square" lIns="0" tIns="0" rIns="0" bIns="0" rtlCol="0" anchor="t"/>
          <a:lstStyle/>
          <a:p>
            <a:pPr indent="0" marL="0">
              <a:buNone/>
            </a:pPr>
            <a:r>
              <a:rPr lang="en-US" sz="3600" b="1" dirty="0">
                <a:solidFill>
                  <a:schemeClr val="accent1"/>
                </a:solidFill>
                <a:latin typeface="Cambria" pitchFamily="34" charset="0"/>
                <a:ea typeface="Cambria" pitchFamily="34" charset="-122"/>
                <a:cs typeface="Cambria" pitchFamily="34" charset="-120"/>
              </a:rPr>
              <a:t>3</a:t>
            </a:r>
            <a:endParaRPr lang="en-US" sz="3600" dirty="0"/>
          </a:p>
        </p:txBody>
      </p:sp>
      <p:sp>
        <p:nvSpPr>
          <p:cNvPr id="13" name="Text 11"/>
          <p:cNvSpPr txBox="1"/>
          <p:nvPr/>
        </p:nvSpPr>
        <p:spPr>
          <a:xfrm>
            <a:off x="1280160" y="2697480"/>
            <a:ext cx="3017520" cy="32004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Justificación</a:t>
            </a:r>
            <a:endParaRPr lang="en-US" sz="1500" dirty="0"/>
          </a:p>
        </p:txBody>
      </p:sp>
      <p:sp>
        <p:nvSpPr>
          <p:cNvPr id="14" name="Text 12"/>
          <p:cNvSpPr txBox="1"/>
          <p:nvPr/>
        </p:nvSpPr>
        <p:spPr>
          <a:xfrm>
            <a:off x="1280160" y="3035808"/>
            <a:ext cx="3063240" cy="68580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Por qué es una necesidad educativa básica y no un problema secundario.</a:t>
            </a:r>
            <a:endParaRPr lang="en-US" sz="1300" dirty="0"/>
          </a:p>
        </p:txBody>
      </p:sp>
      <p:sp>
        <p:nvSpPr>
          <p:cNvPr id="15" name="elemento 4"/>
          <p:cNvSpPr/>
          <p:nvPr/>
        </p:nvSpPr>
        <p:spPr>
          <a:xfrm>
            <a:off x="4663440" y="2560320"/>
            <a:ext cx="4023360" cy="1234440"/>
          </a:xfrm>
          <a:prstGeom prst="roundRect">
            <a:avLst>
              <a:gd name="adj" fmla="val 7407"/>
            </a:avLst>
          </a:prstGeom>
          <a:solidFill>
            <a:schemeClr val="bg2"/>
          </a:solidFill>
          <a:ln w="12700">
            <a:solidFill>
              <a:schemeClr val="bg2"/>
            </a:solidFill>
            <a:prstDash val="solid"/>
          </a:ln>
        </p:spPr>
      </p:sp>
      <p:sp>
        <p:nvSpPr>
          <p:cNvPr id="16" name="Text 14"/>
          <p:cNvSpPr txBox="1"/>
          <p:nvPr/>
        </p:nvSpPr>
        <p:spPr>
          <a:xfrm>
            <a:off x="4846320" y="2697480"/>
            <a:ext cx="548640" cy="822960"/>
          </a:xfrm>
          <a:prstGeom prst="rect">
            <a:avLst/>
          </a:prstGeom>
          <a:noFill/>
          <a:ln/>
        </p:spPr>
        <p:txBody>
          <a:bodyPr wrap="square" lIns="0" tIns="0" rIns="0" bIns="0" rtlCol="0" anchor="t"/>
          <a:lstStyle/>
          <a:p>
            <a:pPr indent="0" marL="0">
              <a:buNone/>
            </a:pPr>
            <a:r>
              <a:rPr lang="en-US" sz="3600" b="1" dirty="0">
                <a:solidFill>
                  <a:schemeClr val="accent1"/>
                </a:solidFill>
                <a:latin typeface="Cambria" pitchFamily="34" charset="0"/>
                <a:ea typeface="Cambria" pitchFamily="34" charset="-122"/>
                <a:cs typeface="Cambria" pitchFamily="34" charset="-120"/>
              </a:rPr>
              <a:t>4</a:t>
            </a:r>
            <a:endParaRPr lang="en-US" sz="3600" dirty="0"/>
          </a:p>
        </p:txBody>
      </p:sp>
      <p:sp>
        <p:nvSpPr>
          <p:cNvPr id="17" name="Text 15"/>
          <p:cNvSpPr txBox="1"/>
          <p:nvPr/>
        </p:nvSpPr>
        <p:spPr>
          <a:xfrm>
            <a:off x="5486400" y="2697480"/>
            <a:ext cx="3017520" cy="32004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Viabilidad operativa</a:t>
            </a:r>
            <a:endParaRPr lang="en-US" sz="1500" dirty="0"/>
          </a:p>
        </p:txBody>
      </p:sp>
      <p:sp>
        <p:nvSpPr>
          <p:cNvPr id="18" name="Text 16"/>
          <p:cNvSpPr txBox="1"/>
          <p:nvPr/>
        </p:nvSpPr>
        <p:spPr>
          <a:xfrm>
            <a:off x="5486400" y="3035808"/>
            <a:ext cx="3063240" cy="68580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Cómo empezar a atenderla desde una planeación simple, sin presupuestos irreales.</a:t>
            </a:r>
            <a:endParaRPr lang="en-US" sz="1300" dirty="0"/>
          </a:p>
        </p:txBody>
      </p:sp>
      <p:sp>
        <p:nvSpPr>
          <p:cNvPr id="19" name="Text 17"/>
          <p:cNvSpPr txBox="1"/>
          <p:nvPr/>
        </p:nvSpPr>
        <p:spPr>
          <a:xfrm>
            <a:off x="457200" y="4023360"/>
            <a:ext cx="8229600" cy="365760"/>
          </a:xfrm>
          <a:prstGeom prst="rect">
            <a:avLst/>
          </a:prstGeom>
          <a:noFill/>
          <a:ln/>
        </p:spPr>
        <p:txBody>
          <a:bodyPr wrap="square" lIns="0" tIns="0" rIns="0" bIns="0" rtlCol="0" anchor="ctr"/>
          <a:lstStyle/>
          <a:p>
            <a:pPr indent="0" marL="0">
              <a:buNone/>
            </a:pPr>
            <a:r>
              <a:rPr lang="en-US" sz="1400" b="1" dirty="0">
                <a:solidFill>
                  <a:schemeClr val="accent1"/>
                </a:solidFill>
                <a:latin typeface="Calibri" pitchFamily="34" charset="0"/>
                <a:ea typeface="Calibri" pitchFamily="34" charset="-122"/>
                <a:cs typeface="Calibri" pitchFamily="34" charset="-120"/>
              </a:rPr>
              <a:t>Se publica directamente en el cuerpo del tema «Diagnóstico de necesidades» del foro.</a:t>
            </a:r>
            <a:endParaRPr lang="en-US" sz="1400" dirty="0"/>
          </a:p>
        </p:txBody>
      </p:sp>
      <p:sp>
        <p:nvSpPr>
          <p:cNvPr id="25" name="Slide Number Placeholder 0"/>
          <p:cNvSpPr>
            <a:spLocks noGrp="1"/>
          </p:cNvSpPr>
          <p:nvPr>
            <p:ph type="sldNum" sz="quarter" idx="4294967295"/>
          </p:nvPr>
        </p:nvSpPr>
        <p:spPr>
          <a:xfrm>
            <a:off x="8229600" y="470001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Ejercicio 2: ensaya el formato del foro</a:t>
            </a:r>
            <a:endParaRPr lang="en-US" sz="2800" dirty="0"/>
          </a:p>
        </p:txBody>
      </p:sp>
      <p:sp>
        <p:nvSpPr>
          <p:cNvPr id="3" name="paso 1"/>
          <p:cNvSpPr/>
          <p:nvPr/>
        </p:nvSpPr>
        <p:spPr>
          <a:xfrm>
            <a:off x="457200" y="1097280"/>
            <a:ext cx="8229600" cy="438912"/>
          </a:xfrm>
          <a:prstGeom prst="roundRect">
            <a:avLst>
              <a:gd name="adj" fmla="val 20833"/>
            </a:avLst>
          </a:prstGeom>
          <a:solidFill>
            <a:schemeClr val="bg2"/>
          </a:solidFill>
          <a:ln w="12700">
            <a:solidFill>
              <a:schemeClr val="bg2"/>
            </a:solidFill>
            <a:prstDash val="solid"/>
          </a:ln>
        </p:spPr>
      </p:sp>
      <p:sp>
        <p:nvSpPr>
          <p:cNvPr id="4" name="número 1"/>
          <p:cNvSpPr/>
          <p:nvPr/>
        </p:nvSpPr>
        <p:spPr>
          <a:xfrm>
            <a:off x="566928" y="1152144"/>
            <a:ext cx="329184" cy="329184"/>
          </a:xfrm>
          <a:prstGeom prst="ellipse">
            <a:avLst/>
          </a:prstGeom>
          <a:solidFill>
            <a:schemeClr val="accent1"/>
          </a:solidFill>
          <a:ln w="12700">
            <a:solidFill>
              <a:schemeClr val="accent1"/>
            </a:solidFill>
            <a:prstDash val="solid"/>
          </a:ln>
        </p:spPr>
      </p:sp>
      <p:sp>
        <p:nvSpPr>
          <p:cNvPr id="5" name="Text 3"/>
          <p:cNvSpPr txBox="1"/>
          <p:nvPr/>
        </p:nvSpPr>
        <p:spPr>
          <a:xfrm>
            <a:off x="566928" y="1152144"/>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1097280" y="1097280"/>
            <a:ext cx="6492240" cy="438912"/>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Pasa a tu sala de 3 o 4 personas.</a:t>
            </a:r>
            <a:endParaRPr lang="en-US" sz="1400" dirty="0"/>
          </a:p>
        </p:txBody>
      </p:sp>
      <p:sp>
        <p:nvSpPr>
          <p:cNvPr id="7" name="Text 5"/>
          <p:cNvSpPr txBox="1"/>
          <p:nvPr/>
        </p:nvSpPr>
        <p:spPr>
          <a:xfrm>
            <a:off x="7589520" y="1097280"/>
            <a:ext cx="914400" cy="438912"/>
          </a:xfrm>
          <a:prstGeom prst="rect">
            <a:avLst/>
          </a:prstGeom>
          <a:noFill/>
          <a:ln/>
        </p:spPr>
        <p:txBody>
          <a:bodyPr wrap="square" lIns="0" tIns="0" rIns="0" bIns="0" rtlCol="0" anchor="ctr"/>
          <a:lstStyle/>
          <a:p>
            <a:pPr algn="r" indent="0" marL="0">
              <a:buNone/>
            </a:pPr>
            <a:r>
              <a:rPr lang="en-US" sz="1400" b="1" dirty="0">
                <a:solidFill>
                  <a:schemeClr val="accent1"/>
                </a:solidFill>
                <a:latin typeface="Calibri" pitchFamily="34" charset="0"/>
                <a:ea typeface="Calibri" pitchFamily="34" charset="-122"/>
                <a:cs typeface="Calibri" pitchFamily="34" charset="-120"/>
              </a:rPr>
              <a:t>3 min</a:t>
            </a:r>
            <a:endParaRPr lang="en-US" sz="1400" dirty="0"/>
          </a:p>
        </p:txBody>
      </p:sp>
      <p:sp>
        <p:nvSpPr>
          <p:cNvPr id="8" name="paso 2"/>
          <p:cNvSpPr/>
          <p:nvPr/>
        </p:nvSpPr>
        <p:spPr>
          <a:xfrm>
            <a:off x="457200" y="1609344"/>
            <a:ext cx="8229600" cy="438912"/>
          </a:xfrm>
          <a:prstGeom prst="roundRect">
            <a:avLst>
              <a:gd name="adj" fmla="val 20833"/>
            </a:avLst>
          </a:prstGeom>
          <a:solidFill>
            <a:schemeClr val="bg2"/>
          </a:solidFill>
          <a:ln w="12700">
            <a:solidFill>
              <a:schemeClr val="bg2"/>
            </a:solidFill>
            <a:prstDash val="solid"/>
          </a:ln>
        </p:spPr>
      </p:sp>
      <p:sp>
        <p:nvSpPr>
          <p:cNvPr id="9" name="número 2"/>
          <p:cNvSpPr/>
          <p:nvPr/>
        </p:nvSpPr>
        <p:spPr>
          <a:xfrm>
            <a:off x="566928" y="1664208"/>
            <a:ext cx="329184" cy="329184"/>
          </a:xfrm>
          <a:prstGeom prst="ellipse">
            <a:avLst/>
          </a:prstGeom>
          <a:solidFill>
            <a:schemeClr val="accent1"/>
          </a:solidFill>
          <a:ln w="12700">
            <a:solidFill>
              <a:schemeClr val="accent1"/>
            </a:solidFill>
            <a:prstDash val="solid"/>
          </a:ln>
        </p:spPr>
      </p:sp>
      <p:sp>
        <p:nvSpPr>
          <p:cNvPr id="10" name="Text 8"/>
          <p:cNvSpPr txBox="1"/>
          <p:nvPr/>
        </p:nvSpPr>
        <p:spPr>
          <a:xfrm>
            <a:off x="566928" y="166420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2</a:t>
            </a:r>
            <a:endParaRPr lang="en-US" sz="1300" dirty="0"/>
          </a:p>
        </p:txBody>
      </p:sp>
      <p:sp>
        <p:nvSpPr>
          <p:cNvPr id="11" name="Text 9"/>
          <p:cNvSpPr txBox="1"/>
          <p:nvPr/>
        </p:nvSpPr>
        <p:spPr>
          <a:xfrm>
            <a:off x="1097280" y="1609344"/>
            <a:ext cx="6492240" cy="438912"/>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Cada persona cuenta su necesidad en 2 minutos.</a:t>
            </a:r>
            <a:endParaRPr lang="en-US" sz="1400" dirty="0"/>
          </a:p>
        </p:txBody>
      </p:sp>
      <p:sp>
        <p:nvSpPr>
          <p:cNvPr id="12" name="Text 10"/>
          <p:cNvSpPr txBox="1"/>
          <p:nvPr/>
        </p:nvSpPr>
        <p:spPr>
          <a:xfrm>
            <a:off x="7589520" y="1609344"/>
            <a:ext cx="914400" cy="438912"/>
          </a:xfrm>
          <a:prstGeom prst="rect">
            <a:avLst/>
          </a:prstGeom>
          <a:noFill/>
          <a:ln/>
        </p:spPr>
        <p:txBody>
          <a:bodyPr wrap="square" lIns="0" tIns="0" rIns="0" bIns="0" rtlCol="0" anchor="ctr"/>
          <a:lstStyle/>
          <a:p>
            <a:pPr algn="r" indent="0" marL="0">
              <a:buNone/>
            </a:pPr>
            <a:r>
              <a:rPr lang="en-US" sz="1400" b="1" dirty="0">
                <a:solidFill>
                  <a:schemeClr val="accent1"/>
                </a:solidFill>
                <a:latin typeface="Calibri" pitchFamily="34" charset="0"/>
                <a:ea typeface="Calibri" pitchFamily="34" charset="-122"/>
                <a:cs typeface="Calibri" pitchFamily="34" charset="-120"/>
              </a:rPr>
              <a:t>8 min</a:t>
            </a:r>
            <a:endParaRPr lang="en-US" sz="1400" dirty="0"/>
          </a:p>
        </p:txBody>
      </p:sp>
      <p:sp>
        <p:nvSpPr>
          <p:cNvPr id="13" name="paso 3"/>
          <p:cNvSpPr/>
          <p:nvPr/>
        </p:nvSpPr>
        <p:spPr>
          <a:xfrm>
            <a:off x="457200" y="2121408"/>
            <a:ext cx="8229600" cy="438912"/>
          </a:xfrm>
          <a:prstGeom prst="roundRect">
            <a:avLst>
              <a:gd name="adj" fmla="val 20833"/>
            </a:avLst>
          </a:prstGeom>
          <a:solidFill>
            <a:schemeClr val="bg2"/>
          </a:solidFill>
          <a:ln w="12700">
            <a:solidFill>
              <a:schemeClr val="bg2"/>
            </a:solidFill>
            <a:prstDash val="solid"/>
          </a:ln>
        </p:spPr>
      </p:sp>
      <p:sp>
        <p:nvSpPr>
          <p:cNvPr id="14" name="número 3"/>
          <p:cNvSpPr/>
          <p:nvPr/>
        </p:nvSpPr>
        <p:spPr>
          <a:xfrm>
            <a:off x="566928" y="2176272"/>
            <a:ext cx="329184" cy="329184"/>
          </a:xfrm>
          <a:prstGeom prst="ellipse">
            <a:avLst/>
          </a:prstGeom>
          <a:solidFill>
            <a:schemeClr val="accent1"/>
          </a:solidFill>
          <a:ln w="12700">
            <a:solidFill>
              <a:schemeClr val="accent1"/>
            </a:solidFill>
            <a:prstDash val="solid"/>
          </a:ln>
        </p:spPr>
      </p:sp>
      <p:sp>
        <p:nvSpPr>
          <p:cNvPr id="15" name="Text 13"/>
          <p:cNvSpPr txBox="1"/>
          <p:nvPr/>
        </p:nvSpPr>
        <p:spPr>
          <a:xfrm>
            <a:off x="566928" y="2176272"/>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3</a:t>
            </a:r>
            <a:endParaRPr lang="en-US" sz="1300" dirty="0"/>
          </a:p>
        </p:txBody>
      </p:sp>
      <p:sp>
        <p:nvSpPr>
          <p:cNvPr id="16" name="Text 14"/>
          <p:cNvSpPr txBox="1"/>
          <p:nvPr/>
        </p:nvSpPr>
        <p:spPr>
          <a:xfrm>
            <a:off x="1097280" y="2121408"/>
            <a:ext cx="6492240" cy="438912"/>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Elijan una y llenen los cuatro elementos en el documento.</a:t>
            </a:r>
            <a:endParaRPr lang="en-US" sz="1400" dirty="0"/>
          </a:p>
        </p:txBody>
      </p:sp>
      <p:sp>
        <p:nvSpPr>
          <p:cNvPr id="17" name="Text 15"/>
          <p:cNvSpPr txBox="1"/>
          <p:nvPr/>
        </p:nvSpPr>
        <p:spPr>
          <a:xfrm>
            <a:off x="7589520" y="2121408"/>
            <a:ext cx="914400" cy="438912"/>
          </a:xfrm>
          <a:prstGeom prst="rect">
            <a:avLst/>
          </a:prstGeom>
          <a:noFill/>
          <a:ln/>
        </p:spPr>
        <p:txBody>
          <a:bodyPr wrap="square" lIns="0" tIns="0" rIns="0" bIns="0" rtlCol="0" anchor="ctr"/>
          <a:lstStyle/>
          <a:p>
            <a:pPr algn="r" indent="0" marL="0">
              <a:buNone/>
            </a:pPr>
            <a:r>
              <a:rPr lang="en-US" sz="1400" b="1" dirty="0">
                <a:solidFill>
                  <a:schemeClr val="accent1"/>
                </a:solidFill>
                <a:latin typeface="Calibri" pitchFamily="34" charset="0"/>
                <a:ea typeface="Calibri" pitchFamily="34" charset="-122"/>
                <a:cs typeface="Calibri" pitchFamily="34" charset="-120"/>
              </a:rPr>
              <a:t>15 min</a:t>
            </a:r>
            <a:endParaRPr lang="en-US" sz="1400" dirty="0"/>
          </a:p>
        </p:txBody>
      </p:sp>
      <p:sp>
        <p:nvSpPr>
          <p:cNvPr id="18" name="paso 4"/>
          <p:cNvSpPr/>
          <p:nvPr/>
        </p:nvSpPr>
        <p:spPr>
          <a:xfrm>
            <a:off x="457200" y="2633472"/>
            <a:ext cx="8229600" cy="438912"/>
          </a:xfrm>
          <a:prstGeom prst="roundRect">
            <a:avLst>
              <a:gd name="adj" fmla="val 20833"/>
            </a:avLst>
          </a:prstGeom>
          <a:solidFill>
            <a:schemeClr val="bg2"/>
          </a:solidFill>
          <a:ln w="12700">
            <a:solidFill>
              <a:schemeClr val="bg2"/>
            </a:solidFill>
            <a:prstDash val="solid"/>
          </a:ln>
        </p:spPr>
      </p:sp>
      <p:sp>
        <p:nvSpPr>
          <p:cNvPr id="19" name="número 4"/>
          <p:cNvSpPr/>
          <p:nvPr/>
        </p:nvSpPr>
        <p:spPr>
          <a:xfrm>
            <a:off x="566928" y="2688336"/>
            <a:ext cx="329184" cy="329184"/>
          </a:xfrm>
          <a:prstGeom prst="ellipse">
            <a:avLst/>
          </a:prstGeom>
          <a:solidFill>
            <a:schemeClr val="accent1"/>
          </a:solidFill>
          <a:ln w="12700">
            <a:solidFill>
              <a:schemeClr val="accent1"/>
            </a:solidFill>
            <a:prstDash val="solid"/>
          </a:ln>
        </p:spPr>
      </p:sp>
      <p:sp>
        <p:nvSpPr>
          <p:cNvPr id="20" name="Text 18"/>
          <p:cNvSpPr txBox="1"/>
          <p:nvPr/>
        </p:nvSpPr>
        <p:spPr>
          <a:xfrm>
            <a:off x="566928" y="2688336"/>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4</a:t>
            </a:r>
            <a:endParaRPr lang="en-US" sz="1300" dirty="0"/>
          </a:p>
        </p:txBody>
      </p:sp>
      <p:sp>
        <p:nvSpPr>
          <p:cNvPr id="21" name="Text 19"/>
          <p:cNvSpPr txBox="1"/>
          <p:nvPr/>
        </p:nvSpPr>
        <p:spPr>
          <a:xfrm>
            <a:off x="1097280" y="2633472"/>
            <a:ext cx="6492240" cy="438912"/>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Revisen: ¿cabe en una planeación simple? Ajusten.</a:t>
            </a:r>
            <a:endParaRPr lang="en-US" sz="1400" dirty="0"/>
          </a:p>
        </p:txBody>
      </p:sp>
      <p:sp>
        <p:nvSpPr>
          <p:cNvPr id="22" name="Text 20"/>
          <p:cNvSpPr txBox="1"/>
          <p:nvPr/>
        </p:nvSpPr>
        <p:spPr>
          <a:xfrm>
            <a:off x="7589520" y="2633472"/>
            <a:ext cx="914400" cy="438912"/>
          </a:xfrm>
          <a:prstGeom prst="rect">
            <a:avLst/>
          </a:prstGeom>
          <a:noFill/>
          <a:ln/>
        </p:spPr>
        <p:txBody>
          <a:bodyPr wrap="square" lIns="0" tIns="0" rIns="0" bIns="0" rtlCol="0" anchor="ctr"/>
          <a:lstStyle/>
          <a:p>
            <a:pPr algn="r" indent="0" marL="0">
              <a:buNone/>
            </a:pPr>
            <a:r>
              <a:rPr lang="en-US" sz="1400" b="1" dirty="0">
                <a:solidFill>
                  <a:schemeClr val="accent1"/>
                </a:solidFill>
                <a:latin typeface="Calibri" pitchFamily="34" charset="0"/>
                <a:ea typeface="Calibri" pitchFamily="34" charset="-122"/>
                <a:cs typeface="Calibri" pitchFamily="34" charset="-120"/>
              </a:rPr>
              <a:t>4 min</a:t>
            </a:r>
            <a:endParaRPr lang="en-US" sz="1400" dirty="0"/>
          </a:p>
        </p:txBody>
      </p:sp>
      <p:sp>
        <p:nvSpPr>
          <p:cNvPr id="23" name="paso 5"/>
          <p:cNvSpPr/>
          <p:nvPr/>
        </p:nvSpPr>
        <p:spPr>
          <a:xfrm>
            <a:off x="457200" y="3145536"/>
            <a:ext cx="8229600" cy="438912"/>
          </a:xfrm>
          <a:prstGeom prst="roundRect">
            <a:avLst>
              <a:gd name="adj" fmla="val 20833"/>
            </a:avLst>
          </a:prstGeom>
          <a:solidFill>
            <a:schemeClr val="bg2"/>
          </a:solidFill>
          <a:ln w="12700">
            <a:solidFill>
              <a:schemeClr val="bg2"/>
            </a:solidFill>
            <a:prstDash val="solid"/>
          </a:ln>
        </p:spPr>
      </p:sp>
      <p:sp>
        <p:nvSpPr>
          <p:cNvPr id="24" name="número 5"/>
          <p:cNvSpPr/>
          <p:nvPr/>
        </p:nvSpPr>
        <p:spPr>
          <a:xfrm>
            <a:off x="566928" y="3200400"/>
            <a:ext cx="329184" cy="329184"/>
          </a:xfrm>
          <a:prstGeom prst="ellipse">
            <a:avLst/>
          </a:prstGeom>
          <a:solidFill>
            <a:schemeClr val="accent1"/>
          </a:solidFill>
          <a:ln w="12700">
            <a:solidFill>
              <a:schemeClr val="accent1"/>
            </a:solidFill>
            <a:prstDash val="solid"/>
          </a:ln>
        </p:spPr>
      </p:sp>
      <p:sp>
        <p:nvSpPr>
          <p:cNvPr id="25" name="Text 23"/>
          <p:cNvSpPr txBox="1"/>
          <p:nvPr/>
        </p:nvSpPr>
        <p:spPr>
          <a:xfrm>
            <a:off x="566928" y="3200400"/>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5</a:t>
            </a:r>
            <a:endParaRPr lang="en-US" sz="1300" dirty="0"/>
          </a:p>
        </p:txBody>
      </p:sp>
      <p:sp>
        <p:nvSpPr>
          <p:cNvPr id="26" name="Text 24"/>
          <p:cNvSpPr txBox="1"/>
          <p:nvPr/>
        </p:nvSpPr>
        <p:spPr>
          <a:xfrm>
            <a:off x="1097280" y="3145536"/>
            <a:ext cx="6492240" cy="438912"/>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Plenaria: cada sala presenta en 2 minutos.</a:t>
            </a:r>
            <a:endParaRPr lang="en-US" sz="1400" dirty="0"/>
          </a:p>
        </p:txBody>
      </p:sp>
      <p:sp>
        <p:nvSpPr>
          <p:cNvPr id="27" name="Text 25"/>
          <p:cNvSpPr txBox="1"/>
          <p:nvPr/>
        </p:nvSpPr>
        <p:spPr>
          <a:xfrm>
            <a:off x="7589520" y="3145536"/>
            <a:ext cx="914400" cy="438912"/>
          </a:xfrm>
          <a:prstGeom prst="rect">
            <a:avLst/>
          </a:prstGeom>
          <a:noFill/>
          <a:ln/>
        </p:spPr>
        <p:txBody>
          <a:bodyPr wrap="square" lIns="0" tIns="0" rIns="0" bIns="0" rtlCol="0" anchor="ctr"/>
          <a:lstStyle/>
          <a:p>
            <a:pPr algn="r" indent="0" marL="0">
              <a:buNone/>
            </a:pPr>
            <a:r>
              <a:rPr lang="en-US" sz="1400" b="1" dirty="0">
                <a:solidFill>
                  <a:schemeClr val="accent1"/>
                </a:solidFill>
                <a:latin typeface="Calibri" pitchFamily="34" charset="0"/>
                <a:ea typeface="Calibri" pitchFamily="34" charset="-122"/>
                <a:cs typeface="Calibri" pitchFamily="34" charset="-120"/>
              </a:rPr>
              <a:t>12 min</a:t>
            </a:r>
            <a:endParaRPr lang="en-US" sz="1400" dirty="0"/>
          </a:p>
        </p:txBody>
      </p:sp>
      <p:sp>
        <p:nvSpPr>
          <p:cNvPr id="28" name="paso 6"/>
          <p:cNvSpPr/>
          <p:nvPr/>
        </p:nvSpPr>
        <p:spPr>
          <a:xfrm>
            <a:off x="457200" y="3657600"/>
            <a:ext cx="8229600" cy="438912"/>
          </a:xfrm>
          <a:prstGeom prst="roundRect">
            <a:avLst>
              <a:gd name="adj" fmla="val 20833"/>
            </a:avLst>
          </a:prstGeom>
          <a:solidFill>
            <a:schemeClr val="bg2"/>
          </a:solidFill>
          <a:ln w="12700">
            <a:solidFill>
              <a:schemeClr val="bg2"/>
            </a:solidFill>
            <a:prstDash val="solid"/>
          </a:ln>
        </p:spPr>
      </p:sp>
      <p:sp>
        <p:nvSpPr>
          <p:cNvPr id="29" name="número 6"/>
          <p:cNvSpPr/>
          <p:nvPr/>
        </p:nvSpPr>
        <p:spPr>
          <a:xfrm>
            <a:off x="566928" y="3712464"/>
            <a:ext cx="329184" cy="329184"/>
          </a:xfrm>
          <a:prstGeom prst="ellipse">
            <a:avLst/>
          </a:prstGeom>
          <a:solidFill>
            <a:schemeClr val="accent1"/>
          </a:solidFill>
          <a:ln w="12700">
            <a:solidFill>
              <a:schemeClr val="accent1"/>
            </a:solidFill>
            <a:prstDash val="solid"/>
          </a:ln>
        </p:spPr>
      </p:sp>
      <p:sp>
        <p:nvSpPr>
          <p:cNvPr id="30" name="Text 28"/>
          <p:cNvSpPr txBox="1"/>
          <p:nvPr/>
        </p:nvSpPr>
        <p:spPr>
          <a:xfrm>
            <a:off x="566928" y="3712464"/>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6</a:t>
            </a:r>
            <a:endParaRPr lang="en-US" sz="1300" dirty="0"/>
          </a:p>
        </p:txBody>
      </p:sp>
      <p:sp>
        <p:nvSpPr>
          <p:cNvPr id="31" name="Text 29"/>
          <p:cNvSpPr txBox="1"/>
          <p:nvPr/>
        </p:nvSpPr>
        <p:spPr>
          <a:xfrm>
            <a:off x="1097280" y="3657600"/>
            <a:ext cx="6492240" cy="438912"/>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Busquen afinidades entre salas para integrar equipos.</a:t>
            </a:r>
            <a:endParaRPr lang="en-US" sz="1400" dirty="0"/>
          </a:p>
        </p:txBody>
      </p:sp>
      <p:sp>
        <p:nvSpPr>
          <p:cNvPr id="32" name="Text 30"/>
          <p:cNvSpPr txBox="1"/>
          <p:nvPr/>
        </p:nvSpPr>
        <p:spPr>
          <a:xfrm>
            <a:off x="7589520" y="3657600"/>
            <a:ext cx="914400" cy="438912"/>
          </a:xfrm>
          <a:prstGeom prst="rect">
            <a:avLst/>
          </a:prstGeom>
          <a:noFill/>
          <a:ln/>
        </p:spPr>
        <p:txBody>
          <a:bodyPr wrap="square" lIns="0" tIns="0" rIns="0" bIns="0" rtlCol="0" anchor="ctr"/>
          <a:lstStyle/>
          <a:p>
            <a:pPr algn="r" indent="0" marL="0">
              <a:buNone/>
            </a:pPr>
            <a:r>
              <a:rPr lang="en-US" sz="1400" b="1" dirty="0">
                <a:solidFill>
                  <a:schemeClr val="accent1"/>
                </a:solidFill>
                <a:latin typeface="Calibri" pitchFamily="34" charset="0"/>
                <a:ea typeface="Calibri" pitchFamily="34" charset="-122"/>
                <a:cs typeface="Calibri" pitchFamily="34" charset="-120"/>
              </a:rPr>
              <a:t>3 min</a:t>
            </a:r>
            <a:endParaRPr lang="en-US" sz="1400" dirty="0"/>
          </a:p>
        </p:txBody>
      </p:sp>
      <p:sp>
        <p:nvSpPr>
          <p:cNvPr id="33" name="Text 31"/>
          <p:cNvSpPr txBox="1"/>
          <p:nvPr/>
        </p:nvSpPr>
        <p:spPr>
          <a:xfrm>
            <a:off x="457200" y="4224528"/>
            <a:ext cx="8229600" cy="274320"/>
          </a:xfrm>
          <a:prstGeom prst="rect">
            <a:avLst/>
          </a:prstGeom>
          <a:noFill/>
          <a:ln/>
        </p:spPr>
        <p:txBody>
          <a:bodyPr wrap="square" lIns="0" tIns="0" rIns="0" bIns="0" rtlCol="0" anchor="ctr"/>
          <a:lstStyle/>
          <a:p>
            <a:pPr indent="0" marL="0">
              <a:buNone/>
            </a:pPr>
            <a:r>
              <a:rPr lang="en-US" sz="1300" b="1" dirty="0">
                <a:solidFill>
                  <a:schemeClr val="tx1"/>
                </a:solidFill>
                <a:latin typeface="Calibri" pitchFamily="34" charset="0"/>
                <a:ea typeface="Calibri" pitchFamily="34" charset="-122"/>
                <a:cs typeface="Calibri" pitchFamily="34" charset="-120"/>
              </a:rPr>
              <a:t>Total: 45 minutos</a:t>
            </a:r>
            <a:endParaRPr lang="en-US" sz="1300" dirty="0"/>
          </a:p>
        </p:txBody>
      </p:sp>
      <p:sp>
        <p:nvSpPr>
          <p:cNvPr id="25" name="Slide Number Placeholder 0"/>
          <p:cNvSpPr>
            <a:spLocks noGrp="1"/>
          </p:cNvSpPr>
          <p:nvPr>
            <p:ph type="sldNum" sz="quarter" idx="4294967295"/>
          </p:nvPr>
        </p:nvSpPr>
        <p:spPr>
          <a:xfrm>
            <a:off x="8229600" y="470001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Plantilla del ejercicio 2</a:t>
            </a:r>
            <a:endParaRPr lang="en-US" sz="28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828800"/>
                <a:gridCol w="3474720"/>
                <a:gridCol w="2926080"/>
              </a:tblGrid>
              <a:tr h="411480">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Elemento</a:t>
                      </a:r>
                      <a:endParaRPr lang="en-US" sz="1300" dirty="0">
                        <a:latin typeface="Calibri" charset="0"/>
                        <a:ea typeface="Calibri" charset="0"/>
                        <a:cs typeface="Calibri" charset="0"/>
                      </a:endParaRPr>
                    </a:p>
                  </a:txBody>
                  <a:tcPr marL="91440" marR="91440" marT="45720" marB="45720">
                    <a:lnL w="9525" cap="flat" cmpd="sng" algn="ctr">
                      <a:solidFill>
                        <a:srgbClr val="CDEAF7"/>
                      </a:solidFill>
                      <a:prstDash val="solid"/>
                      <a:round/>
                      <a:headEnd type="none" w="med" len="med"/>
                      <a:tailEnd type="none" w="med" len="med"/>
                    </a:lnL>
                    <a:lnR w="9525" cap="flat" cmpd="sng" algn="ctr">
                      <a:solidFill>
                        <a:srgbClr val="CDEAF7"/>
                      </a:solidFill>
                      <a:prstDash val="solid"/>
                      <a:round/>
                      <a:headEnd type="none" w="med" len="med"/>
                      <a:tailEnd type="none" w="med" len="med"/>
                    </a:lnR>
                    <a:lnT w="9525" cap="flat" cmpd="sng" algn="ctr">
                      <a:solidFill>
                        <a:srgbClr val="CDEAF7"/>
                      </a:solidFill>
                      <a:prstDash val="solid"/>
                      <a:round/>
                      <a:headEnd type="none" w="med" len="med"/>
                      <a:tailEnd type="none" w="med" len="med"/>
                    </a:lnT>
                    <a:lnB w="9525" cap="flat" cmpd="sng" algn="ctr">
                      <a:solidFill>
                        <a:srgbClr val="CDEAF7"/>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Pregunta guía</a:t>
                      </a:r>
                      <a:endParaRPr lang="en-US" sz="1300" dirty="0">
                        <a:latin typeface="Calibri" charset="0"/>
                        <a:ea typeface="Calibri" charset="0"/>
                        <a:cs typeface="Calibri" charset="0"/>
                      </a:endParaRPr>
                    </a:p>
                  </a:txBody>
                  <a:tcPr marL="91440" marR="91440" marT="45720" marB="45720">
                    <a:lnL w="9525" cap="flat" cmpd="sng" algn="ctr">
                      <a:solidFill>
                        <a:srgbClr val="CDEAF7"/>
                      </a:solidFill>
                      <a:prstDash val="solid"/>
                      <a:round/>
                      <a:headEnd type="none" w="med" len="med"/>
                      <a:tailEnd type="none" w="med" len="med"/>
                    </a:lnL>
                    <a:lnR w="9525" cap="flat" cmpd="sng" algn="ctr">
                      <a:solidFill>
                        <a:srgbClr val="CDEAF7"/>
                      </a:solidFill>
                      <a:prstDash val="solid"/>
                      <a:round/>
                      <a:headEnd type="none" w="med" len="med"/>
                      <a:tailEnd type="none" w="med" len="med"/>
                    </a:lnR>
                    <a:lnT w="9525" cap="flat" cmpd="sng" algn="ctr">
                      <a:solidFill>
                        <a:srgbClr val="CDEAF7"/>
                      </a:solidFill>
                      <a:prstDash val="solid"/>
                      <a:round/>
                      <a:headEnd type="none" w="med" len="med"/>
                      <a:tailEnd type="none" w="med" len="med"/>
                    </a:lnT>
                    <a:lnB w="9525" cap="flat" cmpd="sng" algn="ctr">
                      <a:solidFill>
                        <a:srgbClr val="CDEAF7"/>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Respuesta de la sala</a:t>
                      </a:r>
                      <a:endParaRPr lang="en-US" sz="1300" dirty="0">
                        <a:latin typeface="Calibri" charset="0"/>
                        <a:ea typeface="Calibri" charset="0"/>
                        <a:cs typeface="Calibri" charset="0"/>
                      </a:endParaRPr>
                    </a:p>
                  </a:txBody>
                  <a:tcPr marL="91440" marR="91440" marT="45720" marB="45720">
                    <a:lnL w="9525" cap="flat" cmpd="sng" algn="ctr">
                      <a:solidFill>
                        <a:srgbClr val="CDEAF7"/>
                      </a:solidFill>
                      <a:prstDash val="solid"/>
                      <a:round/>
                      <a:headEnd type="none" w="med" len="med"/>
                      <a:tailEnd type="none" w="med" len="med"/>
                    </a:lnL>
                    <a:lnR w="9525" cap="flat" cmpd="sng" algn="ctr">
                      <a:solidFill>
                        <a:srgbClr val="CDEAF7"/>
                      </a:solidFill>
                      <a:prstDash val="solid"/>
                      <a:round/>
                      <a:headEnd type="none" w="med" len="med"/>
                      <a:tailEnd type="none" w="med" len="med"/>
                    </a:lnR>
                    <a:lnT w="9525" cap="flat" cmpd="sng" algn="ctr">
                      <a:solidFill>
                        <a:srgbClr val="CDEAF7"/>
                      </a:solidFill>
                      <a:prstDash val="solid"/>
                      <a:round/>
                      <a:headEnd type="none" w="med" len="med"/>
                      <a:tailEnd type="none" w="med" len="med"/>
                    </a:lnT>
                    <a:lnB w="9525" cap="flat" cmpd="sng" algn="ctr">
                      <a:solidFill>
                        <a:srgbClr val="CDEAF7"/>
                      </a:solidFill>
                      <a:prstDash val="solid"/>
                      <a:round/>
                      <a:headEnd type="none" w="med" len="med"/>
                      <a:tailEnd type="none" w="med" len="med"/>
                    </a:lnB>
                    <a:solidFill>
                      <a:schemeClr val="tx2"/>
                    </a:solidFill>
                  </a:tcPr>
                </a:tc>
              </a:tr>
              <a:tr h="685800">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Contexto</a:t>
                      </a:r>
                      <a:endParaRPr lang="en-US" sz="1300" dirty="0">
                        <a:latin typeface="Calibri" charset="0"/>
                        <a:ea typeface="Calibri" charset="0"/>
                        <a:cs typeface="Calibri" charset="0"/>
                      </a:endParaRPr>
                    </a:p>
                  </a:txBody>
                  <a:tcPr marL="91440" marR="91440" marT="45720" marB="45720" anchor="ctr">
                    <a:lnL w="9525" cap="flat" cmpd="sng" algn="ctr">
                      <a:solidFill>
                        <a:srgbClr val="CDEAF7"/>
                      </a:solidFill>
                      <a:prstDash val="solid"/>
                      <a:round/>
                      <a:headEnd type="none" w="med" len="med"/>
                      <a:tailEnd type="none" w="med" len="med"/>
                    </a:lnL>
                    <a:lnR w="9525" cap="flat" cmpd="sng" algn="ctr">
                      <a:solidFill>
                        <a:srgbClr val="CDEAF7"/>
                      </a:solidFill>
                      <a:prstDash val="solid"/>
                      <a:round/>
                      <a:headEnd type="none" w="med" len="med"/>
                      <a:tailEnd type="none" w="med" len="med"/>
                    </a:lnR>
                    <a:lnT w="9525" cap="flat" cmpd="sng" algn="ctr">
                      <a:solidFill>
                        <a:srgbClr val="CDEAF7"/>
                      </a:solidFill>
                      <a:prstDash val="solid"/>
                      <a:round/>
                      <a:headEnd type="none" w="med" len="med"/>
                      <a:tailEnd type="none" w="med" len="med"/>
                    </a:lnT>
                    <a:lnB w="9525" cap="flat" cmpd="sng" algn="ctr">
                      <a:solidFill>
                        <a:srgbClr val="CDEAF7"/>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¿Qué institución es y quién nos cuenta la necesidad?</a:t>
                      </a:r>
                      <a:endParaRPr lang="en-US" sz="1300" dirty="0">
                        <a:latin typeface="Calibri" charset="0"/>
                        <a:ea typeface="Calibri" charset="0"/>
                        <a:cs typeface="Calibri" charset="0"/>
                      </a:endParaRPr>
                    </a:p>
                  </a:txBody>
                  <a:tcPr marL="91440" marR="91440" marT="45720" marB="45720" anchor="ctr">
                    <a:lnL w="9525" cap="flat" cmpd="sng" algn="ctr">
                      <a:solidFill>
                        <a:srgbClr val="CDEAF7"/>
                      </a:solidFill>
                      <a:prstDash val="solid"/>
                      <a:round/>
                      <a:headEnd type="none" w="med" len="med"/>
                      <a:tailEnd type="none" w="med" len="med"/>
                    </a:lnL>
                    <a:lnR w="9525" cap="flat" cmpd="sng" algn="ctr">
                      <a:solidFill>
                        <a:srgbClr val="CDEAF7"/>
                      </a:solidFill>
                      <a:prstDash val="solid"/>
                      <a:round/>
                      <a:headEnd type="none" w="med" len="med"/>
                      <a:tailEnd type="none" w="med" len="med"/>
                    </a:lnR>
                    <a:lnT w="9525" cap="flat" cmpd="sng" algn="ctr">
                      <a:solidFill>
                        <a:srgbClr val="CDEAF7"/>
                      </a:solidFill>
                      <a:prstDash val="solid"/>
                      <a:round/>
                      <a:headEnd type="none" w="med" len="med"/>
                      <a:tailEnd type="none" w="med" len="med"/>
                    </a:lnT>
                    <a:lnB w="9525" cap="flat" cmpd="sng" algn="ctr">
                      <a:solidFill>
                        <a:srgbClr val="CDEAF7"/>
                      </a:solidFill>
                      <a:prstDash val="solid"/>
                      <a:round/>
                      <a:headEnd type="none" w="med" len="med"/>
                      <a:tailEnd type="none" w="med" len="med"/>
                    </a:lnB>
                  </a:tcPr>
                </a:tc>
                <a:tc>
                  <a:txBody>
                    <a:bodyPr/>
                    <a:lstStyle/>
                    <a:p>
                      <a:pPr indent="0" marL="0">
                        <a:buNone/>
                      </a:pPr>
                      <a:endParaRPr lang="en-US" sz="1300" dirty="0">
                        <a:latin typeface="Calibri" charset="0"/>
                        <a:ea typeface="Calibri" charset="0"/>
                        <a:cs typeface="Calibri" charset="0"/>
                      </a:endParaRPr>
                    </a:p>
                  </a:txBody>
                  <a:tcPr marL="91440" marR="91440" marT="45720" marB="45720" anchor="ctr">
                    <a:lnL w="9525" cap="flat" cmpd="sng" algn="ctr">
                      <a:solidFill>
                        <a:srgbClr val="CDEAF7"/>
                      </a:solidFill>
                      <a:prstDash val="solid"/>
                      <a:round/>
                      <a:headEnd type="none" w="med" len="med"/>
                      <a:tailEnd type="none" w="med" len="med"/>
                    </a:lnL>
                    <a:lnR w="9525" cap="flat" cmpd="sng" algn="ctr">
                      <a:solidFill>
                        <a:srgbClr val="CDEAF7"/>
                      </a:solidFill>
                      <a:prstDash val="solid"/>
                      <a:round/>
                      <a:headEnd type="none" w="med" len="med"/>
                      <a:tailEnd type="none" w="med" len="med"/>
                    </a:lnR>
                    <a:lnT w="9525" cap="flat" cmpd="sng" algn="ctr">
                      <a:solidFill>
                        <a:srgbClr val="CDEAF7"/>
                      </a:solidFill>
                      <a:prstDash val="solid"/>
                      <a:round/>
                      <a:headEnd type="none" w="med" len="med"/>
                      <a:tailEnd type="none" w="med" len="med"/>
                    </a:lnT>
                    <a:lnB w="9525" cap="flat" cmpd="sng" algn="ctr">
                      <a:solidFill>
                        <a:srgbClr val="CDEAF7"/>
                      </a:solidFill>
                      <a:prstDash val="solid"/>
                      <a:round/>
                      <a:headEnd type="none" w="med" len="med"/>
                      <a:tailEnd type="none" w="med" len="med"/>
                    </a:lnB>
                  </a:tcPr>
                </a:tc>
              </a:tr>
              <a:tr h="685800">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Planteamiento</a:t>
                      </a:r>
                      <a:endParaRPr lang="en-US" sz="1300" dirty="0">
                        <a:latin typeface="Calibri" charset="0"/>
                        <a:ea typeface="Calibri" charset="0"/>
                        <a:cs typeface="Calibri" charset="0"/>
                      </a:endParaRPr>
                    </a:p>
                  </a:txBody>
                  <a:tcPr marL="91440" marR="91440" marT="45720" marB="45720" anchor="ctr">
                    <a:lnL w="9525" cap="flat" cmpd="sng" algn="ctr">
                      <a:solidFill>
                        <a:srgbClr val="CDEAF7"/>
                      </a:solidFill>
                      <a:prstDash val="solid"/>
                      <a:round/>
                      <a:headEnd type="none" w="med" len="med"/>
                      <a:tailEnd type="none" w="med" len="med"/>
                    </a:lnL>
                    <a:lnR w="9525" cap="flat" cmpd="sng" algn="ctr">
                      <a:solidFill>
                        <a:srgbClr val="CDEAF7"/>
                      </a:solidFill>
                      <a:prstDash val="solid"/>
                      <a:round/>
                      <a:headEnd type="none" w="med" len="med"/>
                      <a:tailEnd type="none" w="med" len="med"/>
                    </a:lnR>
                    <a:lnT w="9525" cap="flat" cmpd="sng" algn="ctr">
                      <a:solidFill>
                        <a:srgbClr val="CDEAF7"/>
                      </a:solidFill>
                      <a:prstDash val="solid"/>
                      <a:round/>
                      <a:headEnd type="none" w="med" len="med"/>
                      <a:tailEnd type="none" w="med" len="med"/>
                    </a:lnT>
                    <a:lnB w="9525" cap="flat" cmpd="sng" algn="ctr">
                      <a:solidFill>
                        <a:srgbClr val="CDEAF7"/>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¿Cuál es el problema, dicho en una oración?</a:t>
                      </a:r>
                      <a:endParaRPr lang="en-US" sz="1300" dirty="0">
                        <a:latin typeface="Calibri" charset="0"/>
                        <a:ea typeface="Calibri" charset="0"/>
                        <a:cs typeface="Calibri" charset="0"/>
                      </a:endParaRPr>
                    </a:p>
                  </a:txBody>
                  <a:tcPr marL="91440" marR="91440" marT="45720" marB="45720" anchor="ctr">
                    <a:lnL w="9525" cap="flat" cmpd="sng" algn="ctr">
                      <a:solidFill>
                        <a:srgbClr val="CDEAF7"/>
                      </a:solidFill>
                      <a:prstDash val="solid"/>
                      <a:round/>
                      <a:headEnd type="none" w="med" len="med"/>
                      <a:tailEnd type="none" w="med" len="med"/>
                    </a:lnL>
                    <a:lnR w="9525" cap="flat" cmpd="sng" algn="ctr">
                      <a:solidFill>
                        <a:srgbClr val="CDEAF7"/>
                      </a:solidFill>
                      <a:prstDash val="solid"/>
                      <a:round/>
                      <a:headEnd type="none" w="med" len="med"/>
                      <a:tailEnd type="none" w="med" len="med"/>
                    </a:lnR>
                    <a:lnT w="9525" cap="flat" cmpd="sng" algn="ctr">
                      <a:solidFill>
                        <a:srgbClr val="CDEAF7"/>
                      </a:solidFill>
                      <a:prstDash val="solid"/>
                      <a:round/>
                      <a:headEnd type="none" w="med" len="med"/>
                      <a:tailEnd type="none" w="med" len="med"/>
                    </a:lnT>
                    <a:lnB w="9525" cap="flat" cmpd="sng" algn="ctr">
                      <a:solidFill>
                        <a:srgbClr val="CDEAF7"/>
                      </a:solidFill>
                      <a:prstDash val="solid"/>
                      <a:round/>
                      <a:headEnd type="none" w="med" len="med"/>
                      <a:tailEnd type="none" w="med" len="med"/>
                    </a:lnB>
                  </a:tcPr>
                </a:tc>
                <a:tc>
                  <a:txBody>
                    <a:bodyPr/>
                    <a:lstStyle/>
                    <a:p>
                      <a:pPr indent="0" marL="0">
                        <a:buNone/>
                      </a:pPr>
                      <a:endParaRPr lang="en-US" sz="1300" dirty="0">
                        <a:latin typeface="Calibri" charset="0"/>
                        <a:ea typeface="Calibri" charset="0"/>
                        <a:cs typeface="Calibri" charset="0"/>
                      </a:endParaRPr>
                    </a:p>
                  </a:txBody>
                  <a:tcPr marL="91440" marR="91440" marT="45720" marB="45720" anchor="ctr">
                    <a:lnL w="9525" cap="flat" cmpd="sng" algn="ctr">
                      <a:solidFill>
                        <a:srgbClr val="CDEAF7"/>
                      </a:solidFill>
                      <a:prstDash val="solid"/>
                      <a:round/>
                      <a:headEnd type="none" w="med" len="med"/>
                      <a:tailEnd type="none" w="med" len="med"/>
                    </a:lnL>
                    <a:lnR w="9525" cap="flat" cmpd="sng" algn="ctr">
                      <a:solidFill>
                        <a:srgbClr val="CDEAF7"/>
                      </a:solidFill>
                      <a:prstDash val="solid"/>
                      <a:round/>
                      <a:headEnd type="none" w="med" len="med"/>
                      <a:tailEnd type="none" w="med" len="med"/>
                    </a:lnR>
                    <a:lnT w="9525" cap="flat" cmpd="sng" algn="ctr">
                      <a:solidFill>
                        <a:srgbClr val="CDEAF7"/>
                      </a:solidFill>
                      <a:prstDash val="solid"/>
                      <a:round/>
                      <a:headEnd type="none" w="med" len="med"/>
                      <a:tailEnd type="none" w="med" len="med"/>
                    </a:lnT>
                    <a:lnB w="9525" cap="flat" cmpd="sng" algn="ctr">
                      <a:solidFill>
                        <a:srgbClr val="CDEAF7"/>
                      </a:solidFill>
                      <a:prstDash val="solid"/>
                      <a:round/>
                      <a:headEnd type="none" w="med" len="med"/>
                      <a:tailEnd type="none" w="med" len="med"/>
                    </a:lnB>
                  </a:tcPr>
                </a:tc>
              </a:tr>
              <a:tr h="685800">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Justificación</a:t>
                      </a:r>
                      <a:endParaRPr lang="en-US" sz="1300" dirty="0">
                        <a:latin typeface="Calibri" charset="0"/>
                        <a:ea typeface="Calibri" charset="0"/>
                        <a:cs typeface="Calibri" charset="0"/>
                      </a:endParaRPr>
                    </a:p>
                  </a:txBody>
                  <a:tcPr marL="91440" marR="91440" marT="45720" marB="45720" anchor="ctr">
                    <a:lnL w="9525" cap="flat" cmpd="sng" algn="ctr">
                      <a:solidFill>
                        <a:srgbClr val="CDEAF7"/>
                      </a:solidFill>
                      <a:prstDash val="solid"/>
                      <a:round/>
                      <a:headEnd type="none" w="med" len="med"/>
                      <a:tailEnd type="none" w="med" len="med"/>
                    </a:lnL>
                    <a:lnR w="9525" cap="flat" cmpd="sng" algn="ctr">
                      <a:solidFill>
                        <a:srgbClr val="CDEAF7"/>
                      </a:solidFill>
                      <a:prstDash val="solid"/>
                      <a:round/>
                      <a:headEnd type="none" w="med" len="med"/>
                      <a:tailEnd type="none" w="med" len="med"/>
                    </a:lnR>
                    <a:lnT w="9525" cap="flat" cmpd="sng" algn="ctr">
                      <a:solidFill>
                        <a:srgbClr val="CDEAF7"/>
                      </a:solidFill>
                      <a:prstDash val="solid"/>
                      <a:round/>
                      <a:headEnd type="none" w="med" len="med"/>
                      <a:tailEnd type="none" w="med" len="med"/>
                    </a:lnT>
                    <a:lnB w="9525" cap="flat" cmpd="sng" algn="ctr">
                      <a:solidFill>
                        <a:srgbClr val="CDEAF7"/>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¿Por qué es básico y no secundario?</a:t>
                      </a:r>
                      <a:endParaRPr lang="en-US" sz="1300" dirty="0">
                        <a:latin typeface="Calibri" charset="0"/>
                        <a:ea typeface="Calibri" charset="0"/>
                        <a:cs typeface="Calibri" charset="0"/>
                      </a:endParaRPr>
                    </a:p>
                  </a:txBody>
                  <a:tcPr marL="91440" marR="91440" marT="45720" marB="45720" anchor="ctr">
                    <a:lnL w="9525" cap="flat" cmpd="sng" algn="ctr">
                      <a:solidFill>
                        <a:srgbClr val="CDEAF7"/>
                      </a:solidFill>
                      <a:prstDash val="solid"/>
                      <a:round/>
                      <a:headEnd type="none" w="med" len="med"/>
                      <a:tailEnd type="none" w="med" len="med"/>
                    </a:lnL>
                    <a:lnR w="9525" cap="flat" cmpd="sng" algn="ctr">
                      <a:solidFill>
                        <a:srgbClr val="CDEAF7"/>
                      </a:solidFill>
                      <a:prstDash val="solid"/>
                      <a:round/>
                      <a:headEnd type="none" w="med" len="med"/>
                      <a:tailEnd type="none" w="med" len="med"/>
                    </a:lnR>
                    <a:lnT w="9525" cap="flat" cmpd="sng" algn="ctr">
                      <a:solidFill>
                        <a:srgbClr val="CDEAF7"/>
                      </a:solidFill>
                      <a:prstDash val="solid"/>
                      <a:round/>
                      <a:headEnd type="none" w="med" len="med"/>
                      <a:tailEnd type="none" w="med" len="med"/>
                    </a:lnT>
                    <a:lnB w="9525" cap="flat" cmpd="sng" algn="ctr">
                      <a:solidFill>
                        <a:srgbClr val="CDEAF7"/>
                      </a:solidFill>
                      <a:prstDash val="solid"/>
                      <a:round/>
                      <a:headEnd type="none" w="med" len="med"/>
                      <a:tailEnd type="none" w="med" len="med"/>
                    </a:lnB>
                  </a:tcPr>
                </a:tc>
                <a:tc>
                  <a:txBody>
                    <a:bodyPr/>
                    <a:lstStyle/>
                    <a:p>
                      <a:pPr indent="0" marL="0">
                        <a:buNone/>
                      </a:pPr>
                      <a:endParaRPr lang="en-US" sz="1300" dirty="0">
                        <a:latin typeface="Calibri" charset="0"/>
                        <a:ea typeface="Calibri" charset="0"/>
                        <a:cs typeface="Calibri" charset="0"/>
                      </a:endParaRPr>
                    </a:p>
                  </a:txBody>
                  <a:tcPr marL="91440" marR="91440" marT="45720" marB="45720" anchor="ctr">
                    <a:lnL w="9525" cap="flat" cmpd="sng" algn="ctr">
                      <a:solidFill>
                        <a:srgbClr val="CDEAF7"/>
                      </a:solidFill>
                      <a:prstDash val="solid"/>
                      <a:round/>
                      <a:headEnd type="none" w="med" len="med"/>
                      <a:tailEnd type="none" w="med" len="med"/>
                    </a:lnL>
                    <a:lnR w="9525" cap="flat" cmpd="sng" algn="ctr">
                      <a:solidFill>
                        <a:srgbClr val="CDEAF7"/>
                      </a:solidFill>
                      <a:prstDash val="solid"/>
                      <a:round/>
                      <a:headEnd type="none" w="med" len="med"/>
                      <a:tailEnd type="none" w="med" len="med"/>
                    </a:lnR>
                    <a:lnT w="9525" cap="flat" cmpd="sng" algn="ctr">
                      <a:solidFill>
                        <a:srgbClr val="CDEAF7"/>
                      </a:solidFill>
                      <a:prstDash val="solid"/>
                      <a:round/>
                      <a:headEnd type="none" w="med" len="med"/>
                      <a:tailEnd type="none" w="med" len="med"/>
                    </a:lnT>
                    <a:lnB w="9525" cap="flat" cmpd="sng" algn="ctr">
                      <a:solidFill>
                        <a:srgbClr val="CDEAF7"/>
                      </a:solidFill>
                      <a:prstDash val="solid"/>
                      <a:round/>
                      <a:headEnd type="none" w="med" len="med"/>
                      <a:tailEnd type="none" w="med" len="med"/>
                    </a:lnB>
                  </a:tcPr>
                </a:tc>
              </a:tr>
              <a:tr h="685800">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Viabilidad operativa</a:t>
                      </a:r>
                      <a:endParaRPr lang="en-US" sz="1300" dirty="0">
                        <a:latin typeface="Calibri" charset="0"/>
                        <a:ea typeface="Calibri" charset="0"/>
                        <a:cs typeface="Calibri" charset="0"/>
                      </a:endParaRPr>
                    </a:p>
                  </a:txBody>
                  <a:tcPr marL="91440" marR="91440" marT="45720" marB="45720" anchor="ctr">
                    <a:lnL w="9525" cap="flat" cmpd="sng" algn="ctr">
                      <a:solidFill>
                        <a:srgbClr val="CDEAF7"/>
                      </a:solidFill>
                      <a:prstDash val="solid"/>
                      <a:round/>
                      <a:headEnd type="none" w="med" len="med"/>
                      <a:tailEnd type="none" w="med" len="med"/>
                    </a:lnL>
                    <a:lnR w="9525" cap="flat" cmpd="sng" algn="ctr">
                      <a:solidFill>
                        <a:srgbClr val="CDEAF7"/>
                      </a:solidFill>
                      <a:prstDash val="solid"/>
                      <a:round/>
                      <a:headEnd type="none" w="med" len="med"/>
                      <a:tailEnd type="none" w="med" len="med"/>
                    </a:lnR>
                    <a:lnT w="9525" cap="flat" cmpd="sng" algn="ctr">
                      <a:solidFill>
                        <a:srgbClr val="CDEAF7"/>
                      </a:solidFill>
                      <a:prstDash val="solid"/>
                      <a:round/>
                      <a:headEnd type="none" w="med" len="med"/>
                      <a:tailEnd type="none" w="med" len="med"/>
                    </a:lnT>
                    <a:lnB w="9525" cap="flat" cmpd="sng" algn="ctr">
                      <a:solidFill>
                        <a:srgbClr val="CDEAF7"/>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¿Qué primera acción cabe en una planeación simple?</a:t>
                      </a:r>
                      <a:endParaRPr lang="en-US" sz="1300" dirty="0">
                        <a:latin typeface="Calibri" charset="0"/>
                        <a:ea typeface="Calibri" charset="0"/>
                        <a:cs typeface="Calibri" charset="0"/>
                      </a:endParaRPr>
                    </a:p>
                  </a:txBody>
                  <a:tcPr marL="91440" marR="91440" marT="45720" marB="45720" anchor="ctr">
                    <a:lnL w="9525" cap="flat" cmpd="sng" algn="ctr">
                      <a:solidFill>
                        <a:srgbClr val="CDEAF7"/>
                      </a:solidFill>
                      <a:prstDash val="solid"/>
                      <a:round/>
                      <a:headEnd type="none" w="med" len="med"/>
                      <a:tailEnd type="none" w="med" len="med"/>
                    </a:lnL>
                    <a:lnR w="9525" cap="flat" cmpd="sng" algn="ctr">
                      <a:solidFill>
                        <a:srgbClr val="CDEAF7"/>
                      </a:solidFill>
                      <a:prstDash val="solid"/>
                      <a:round/>
                      <a:headEnd type="none" w="med" len="med"/>
                      <a:tailEnd type="none" w="med" len="med"/>
                    </a:lnR>
                    <a:lnT w="9525" cap="flat" cmpd="sng" algn="ctr">
                      <a:solidFill>
                        <a:srgbClr val="CDEAF7"/>
                      </a:solidFill>
                      <a:prstDash val="solid"/>
                      <a:round/>
                      <a:headEnd type="none" w="med" len="med"/>
                      <a:tailEnd type="none" w="med" len="med"/>
                    </a:lnT>
                    <a:lnB w="9525" cap="flat" cmpd="sng" algn="ctr">
                      <a:solidFill>
                        <a:srgbClr val="CDEAF7"/>
                      </a:solidFill>
                      <a:prstDash val="solid"/>
                      <a:round/>
                      <a:headEnd type="none" w="med" len="med"/>
                      <a:tailEnd type="none" w="med" len="med"/>
                    </a:lnB>
                  </a:tcPr>
                </a:tc>
                <a:tc>
                  <a:txBody>
                    <a:bodyPr/>
                    <a:lstStyle/>
                    <a:p>
                      <a:pPr indent="0" marL="0">
                        <a:buNone/>
                      </a:pPr>
                      <a:endParaRPr lang="en-US" sz="1300" dirty="0">
                        <a:latin typeface="Calibri" charset="0"/>
                        <a:ea typeface="Calibri" charset="0"/>
                        <a:cs typeface="Calibri" charset="0"/>
                      </a:endParaRPr>
                    </a:p>
                  </a:txBody>
                  <a:tcPr marL="91440" marR="91440" marT="45720" marB="45720" anchor="ctr">
                    <a:lnL w="9525" cap="flat" cmpd="sng" algn="ctr">
                      <a:solidFill>
                        <a:srgbClr val="CDEAF7"/>
                      </a:solidFill>
                      <a:prstDash val="solid"/>
                      <a:round/>
                      <a:headEnd type="none" w="med" len="med"/>
                      <a:tailEnd type="none" w="med" len="med"/>
                    </a:lnL>
                    <a:lnR w="9525" cap="flat" cmpd="sng" algn="ctr">
                      <a:solidFill>
                        <a:srgbClr val="CDEAF7"/>
                      </a:solidFill>
                      <a:prstDash val="solid"/>
                      <a:round/>
                      <a:headEnd type="none" w="med" len="med"/>
                      <a:tailEnd type="none" w="med" len="med"/>
                    </a:lnR>
                    <a:lnT w="9525" cap="flat" cmpd="sng" algn="ctr">
                      <a:solidFill>
                        <a:srgbClr val="CDEAF7"/>
                      </a:solidFill>
                      <a:prstDash val="solid"/>
                      <a:round/>
                      <a:headEnd type="none" w="med" len="med"/>
                      <a:tailEnd type="none" w="med" len="med"/>
                    </a:lnT>
                    <a:lnB w="9525" cap="flat" cmpd="sng" algn="ctr">
                      <a:solidFill>
                        <a:srgbClr val="CDEAF7"/>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229600" y="470001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Plenaria</a:t>
            </a:r>
            <a:endParaRPr lang="en-US" sz="2800" dirty="0"/>
          </a:p>
        </p:txBody>
      </p:sp>
      <p:sp>
        <p:nvSpPr>
          <p:cNvPr id="3" name="cada sala"/>
          <p:cNvSpPr/>
          <p:nvPr/>
        </p:nvSpPr>
        <p:spPr>
          <a:xfrm>
            <a:off x="457200" y="1188720"/>
            <a:ext cx="4023360" cy="2377440"/>
          </a:xfrm>
          <a:prstGeom prst="roundRect">
            <a:avLst>
              <a:gd name="adj" fmla="val 3846"/>
            </a:avLst>
          </a:prstGeom>
          <a:solidFill>
            <a:schemeClr val="bg2"/>
          </a:solidFill>
          <a:ln w="12700">
            <a:solidFill>
              <a:schemeClr val="bg2"/>
            </a:solidFill>
            <a:prstDash val="solid"/>
          </a:ln>
        </p:spPr>
      </p:sp>
      <p:sp>
        <p:nvSpPr>
          <p:cNvPr id="4" name="Text 2"/>
          <p:cNvSpPr txBox="1"/>
          <p:nvPr/>
        </p:nvSpPr>
        <p:spPr>
          <a:xfrm>
            <a:off x="685800" y="1325880"/>
            <a:ext cx="3566160" cy="365760"/>
          </a:xfrm>
          <a:prstGeom prst="rect">
            <a:avLst/>
          </a:prstGeom>
          <a:noFill/>
          <a:ln/>
        </p:spPr>
        <p:txBody>
          <a:bodyPr wrap="square" lIns="0" tIns="0" rIns="0" bIns="0" rtlCol="0" anchor="ctr"/>
          <a:lstStyle/>
          <a:p>
            <a:pPr indent="0" marL="0">
              <a:buNone/>
            </a:pPr>
            <a:r>
              <a:rPr lang="en-US" sz="1700" b="1" dirty="0">
                <a:solidFill>
                  <a:schemeClr val="accent1"/>
                </a:solidFill>
                <a:latin typeface="Calibri" pitchFamily="34" charset="0"/>
                <a:ea typeface="Calibri" pitchFamily="34" charset="-122"/>
                <a:cs typeface="Calibri" pitchFamily="34" charset="-120"/>
              </a:rPr>
              <a:t>Cada sala</a:t>
            </a:r>
            <a:endParaRPr lang="en-US" sz="1700" dirty="0"/>
          </a:p>
        </p:txBody>
      </p:sp>
      <p:sp>
        <p:nvSpPr>
          <p:cNvPr id="5" name="Text 3"/>
          <p:cNvSpPr txBox="1"/>
          <p:nvPr/>
        </p:nvSpPr>
        <p:spPr>
          <a:xfrm>
            <a:off x="685800" y="1828800"/>
            <a:ext cx="3566160" cy="164592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Expone en 2 minutos el contexto, el planteamiento de la necesidad y la primera acción viable.</a:t>
            </a:r>
            <a:endParaRPr lang="en-US" sz="1500" dirty="0"/>
          </a:p>
        </p:txBody>
      </p:sp>
      <p:sp>
        <p:nvSpPr>
          <p:cNvPr id="6" name="quienes escuchan"/>
          <p:cNvSpPr/>
          <p:nvPr/>
        </p:nvSpPr>
        <p:spPr>
          <a:xfrm>
            <a:off x="4663440" y="1188720"/>
            <a:ext cx="4023360" cy="2377440"/>
          </a:xfrm>
          <a:prstGeom prst="roundRect">
            <a:avLst>
              <a:gd name="adj" fmla="val 3846"/>
            </a:avLst>
          </a:prstGeom>
          <a:solidFill>
            <a:schemeClr val="bg2"/>
          </a:solidFill>
          <a:ln w="12700">
            <a:solidFill>
              <a:schemeClr val="bg2"/>
            </a:solidFill>
            <a:prstDash val="solid"/>
          </a:ln>
        </p:spPr>
      </p:sp>
      <p:sp>
        <p:nvSpPr>
          <p:cNvPr id="7" name="Text 5"/>
          <p:cNvSpPr txBox="1"/>
          <p:nvPr/>
        </p:nvSpPr>
        <p:spPr>
          <a:xfrm>
            <a:off x="4892040" y="1325880"/>
            <a:ext cx="3566160" cy="365760"/>
          </a:xfrm>
          <a:prstGeom prst="rect">
            <a:avLst/>
          </a:prstGeom>
          <a:noFill/>
          <a:ln/>
        </p:spPr>
        <p:txBody>
          <a:bodyPr wrap="square" lIns="0" tIns="0" rIns="0" bIns="0" rtlCol="0" anchor="ctr"/>
          <a:lstStyle/>
          <a:p>
            <a:pPr indent="0" marL="0">
              <a:buNone/>
            </a:pPr>
            <a:r>
              <a:rPr lang="en-US" sz="1700" b="1" dirty="0">
                <a:solidFill>
                  <a:schemeClr val="accent1"/>
                </a:solidFill>
                <a:latin typeface="Calibri" pitchFamily="34" charset="0"/>
                <a:ea typeface="Calibri" pitchFamily="34" charset="-122"/>
                <a:cs typeface="Calibri" pitchFamily="34" charset="-120"/>
              </a:rPr>
              <a:t>Quienes escuchan</a:t>
            </a:r>
            <a:endParaRPr lang="en-US" sz="1700" dirty="0"/>
          </a:p>
        </p:txBody>
      </p:sp>
      <p:sp>
        <p:nvSpPr>
          <p:cNvPr id="8" name="Text 6"/>
          <p:cNvSpPr txBox="1"/>
          <p:nvPr/>
        </p:nvSpPr>
        <p:spPr>
          <a:xfrm>
            <a:off x="4892040" y="1828800"/>
            <a:ext cx="3566160" cy="182880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1500" dirty="0">
                <a:solidFill>
                  <a:schemeClr val="tx1"/>
                </a:solidFill>
                <a:latin typeface="Calibri" pitchFamily="34" charset="0"/>
                <a:ea typeface="Calibri" pitchFamily="34" charset="-122"/>
                <a:cs typeface="Calibri" pitchFamily="34" charset="-120"/>
              </a:rPr>
              <a:t>¿Qué necesidad se parece a la mía?</a:t>
            </a:r>
            <a:endParaRPr lang="en-US" sz="1500" dirty="0"/>
          </a:p>
          <a:p>
            <a:pPr marL="342900" indent="-342900">
              <a:spcAft>
                <a:spcPts val="800"/>
              </a:spcAft>
              <a:buSzPct val="100000"/>
              <a:buFont typeface="+mj-lt"/>
              <a:buAutoNum type="arabicPeriod" startAt="1"/>
            </a:pPr>
            <a:r>
              <a:rPr lang="en-US" sz="1500" dirty="0">
                <a:solidFill>
                  <a:schemeClr val="tx1"/>
                </a:solidFill>
                <a:latin typeface="Calibri" pitchFamily="34" charset="0"/>
                <a:ea typeface="Calibri" pitchFamily="34" charset="-122"/>
                <a:cs typeface="Calibri" pitchFamily="34" charset="-120"/>
              </a:rPr>
              <a:t>¿Qué quedó poco justificado?</a:t>
            </a:r>
            <a:endParaRPr lang="en-US" sz="1500" dirty="0"/>
          </a:p>
          <a:p>
            <a:pPr marL="342900" indent="-342900">
              <a:spcAft>
                <a:spcPts val="800"/>
              </a:spcAft>
              <a:buSzPct val="100000"/>
              <a:buFont typeface="+mj-lt"/>
              <a:buAutoNum type="arabicPeriod" startAt="1"/>
            </a:pPr>
            <a:r>
              <a:rPr lang="en-US" sz="1500" dirty="0">
                <a:solidFill>
                  <a:schemeClr val="tx1"/>
                </a:solidFill>
                <a:latin typeface="Calibri" pitchFamily="34" charset="0"/>
                <a:ea typeface="Calibri" pitchFamily="34" charset="-122"/>
                <a:cs typeface="Calibri" pitchFamily="34" charset="-120"/>
              </a:rPr>
              <a:t>¿Quién podría integrarse a tu equipo?</a:t>
            </a:r>
            <a:endParaRPr lang="en-US" sz="1500" dirty="0"/>
          </a:p>
        </p:txBody>
      </p:sp>
      <p:sp>
        <p:nvSpPr>
          <p:cNvPr id="9" name="Text 7"/>
          <p:cNvSpPr txBox="1"/>
          <p:nvPr/>
        </p:nvSpPr>
        <p:spPr>
          <a:xfrm>
            <a:off x="457200" y="3749040"/>
            <a:ext cx="8229600" cy="320040"/>
          </a:xfrm>
          <a:prstGeom prst="rect">
            <a:avLst/>
          </a:prstGeom>
          <a:noFill/>
          <a:ln/>
        </p:spPr>
        <p:txBody>
          <a:bodyPr wrap="square" lIns="0" tIns="0" rIns="0" bIns="0" rtlCol="0" anchor="ctr"/>
          <a:lstStyle/>
          <a:p>
            <a:pPr indent="0" marL="0">
              <a:buNone/>
            </a:pPr>
            <a:r>
              <a:rPr lang="en-US" sz="1100" dirty="0">
                <a:solidFill>
                  <a:schemeClr val="accent4"/>
                </a:solidFill>
                <a:latin typeface="Calibri" pitchFamily="34" charset="0"/>
                <a:ea typeface="Calibri" pitchFamily="34" charset="-122"/>
                <a:cs typeface="Calibri" pitchFamily="34" charset="-120"/>
              </a:rPr>
              <a:t>Respeta los Lineamientos para promover el diálogo académico de la Dinámica de trabajo.</a:t>
            </a:r>
            <a:endParaRPr lang="en-US" sz="1100" dirty="0"/>
          </a:p>
        </p:txBody>
      </p:sp>
      <p:sp>
        <p:nvSpPr>
          <p:cNvPr id="25" name="Slide Number Placeholder 0"/>
          <p:cNvSpPr>
            <a:spLocks noGrp="1"/>
          </p:cNvSpPr>
          <p:nvPr>
            <p:ph type="sldNum" sz="quarter" idx="4294967295"/>
          </p:nvPr>
        </p:nvSpPr>
        <p:spPr>
          <a:xfrm>
            <a:off x="8229600" y="470001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Foro: Identificación de necesidades</a:t>
            </a:r>
            <a:endParaRPr lang="en-US" sz="2800" dirty="0"/>
          </a:p>
        </p:txBody>
      </p:sp>
      <p:sp>
        <p:nvSpPr>
          <p:cNvPr id="3" name="paso foro 1"/>
          <p:cNvSpPr/>
          <p:nvPr/>
        </p:nvSpPr>
        <p:spPr>
          <a:xfrm>
            <a:off x="457200" y="1143000"/>
            <a:ext cx="5486400" cy="685800"/>
          </a:xfrm>
          <a:prstGeom prst="roundRect">
            <a:avLst>
              <a:gd name="adj" fmla="val 13333"/>
            </a:avLst>
          </a:prstGeom>
          <a:solidFill>
            <a:schemeClr val="bg2"/>
          </a:solidFill>
          <a:ln w="12700">
            <a:solidFill>
              <a:schemeClr val="bg2"/>
            </a:solidFill>
            <a:prstDash val="solid"/>
          </a:ln>
        </p:spPr>
      </p:sp>
      <p:sp>
        <p:nvSpPr>
          <p:cNvPr id="4" name="número foro 1"/>
          <p:cNvSpPr/>
          <p:nvPr/>
        </p:nvSpPr>
        <p:spPr>
          <a:xfrm>
            <a:off x="594360" y="1298448"/>
            <a:ext cx="365760" cy="365760"/>
          </a:xfrm>
          <a:prstGeom prst="ellipse">
            <a:avLst/>
          </a:prstGeom>
          <a:solidFill>
            <a:schemeClr val="accent1"/>
          </a:solidFill>
          <a:ln w="12700">
            <a:solidFill>
              <a:schemeClr val="accent1"/>
            </a:solidFill>
            <a:prstDash val="solid"/>
          </a:ln>
        </p:spPr>
      </p:sp>
      <p:sp>
        <p:nvSpPr>
          <p:cNvPr id="5" name="Text 3"/>
          <p:cNvSpPr txBox="1"/>
          <p:nvPr/>
        </p:nvSpPr>
        <p:spPr>
          <a:xfrm>
            <a:off x="594360" y="129844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1143000" y="1143000"/>
            <a:ext cx="4709160" cy="685800"/>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Aplica de manera económica una entrevista de 15 minutos a una persona informante clave.</a:t>
            </a:r>
            <a:endParaRPr lang="en-US" sz="1300" dirty="0"/>
          </a:p>
        </p:txBody>
      </p:sp>
      <p:sp>
        <p:nvSpPr>
          <p:cNvPr id="7" name="paso foro 2"/>
          <p:cNvSpPr/>
          <p:nvPr/>
        </p:nvSpPr>
        <p:spPr>
          <a:xfrm>
            <a:off x="457200" y="1920240"/>
            <a:ext cx="5486400" cy="685800"/>
          </a:xfrm>
          <a:prstGeom prst="roundRect">
            <a:avLst>
              <a:gd name="adj" fmla="val 13333"/>
            </a:avLst>
          </a:prstGeom>
          <a:solidFill>
            <a:schemeClr val="bg2"/>
          </a:solidFill>
          <a:ln w="12700">
            <a:solidFill>
              <a:schemeClr val="bg2"/>
            </a:solidFill>
            <a:prstDash val="solid"/>
          </a:ln>
        </p:spPr>
      </p:sp>
      <p:sp>
        <p:nvSpPr>
          <p:cNvPr id="8" name="número foro 2"/>
          <p:cNvSpPr/>
          <p:nvPr/>
        </p:nvSpPr>
        <p:spPr>
          <a:xfrm>
            <a:off x="594360" y="2075688"/>
            <a:ext cx="365760" cy="365760"/>
          </a:xfrm>
          <a:prstGeom prst="ellipse">
            <a:avLst/>
          </a:prstGeom>
          <a:solidFill>
            <a:schemeClr val="accent1"/>
          </a:solidFill>
          <a:ln w="12700">
            <a:solidFill>
              <a:schemeClr val="accent1"/>
            </a:solidFill>
            <a:prstDash val="solid"/>
          </a:ln>
        </p:spPr>
      </p:sp>
      <p:sp>
        <p:nvSpPr>
          <p:cNvPr id="9" name="Text 7"/>
          <p:cNvSpPr txBox="1"/>
          <p:nvPr/>
        </p:nvSpPr>
        <p:spPr>
          <a:xfrm>
            <a:off x="594360" y="207568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1143000" y="1920240"/>
            <a:ext cx="4709160" cy="685800"/>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Publica tu formato en el tema «Diagnóstico de necesidades» a más tardar el miércoles 4 de Noviembre.</a:t>
            </a:r>
            <a:endParaRPr lang="en-US" sz="1300" dirty="0"/>
          </a:p>
        </p:txBody>
      </p:sp>
      <p:sp>
        <p:nvSpPr>
          <p:cNvPr id="11" name="paso foro 3"/>
          <p:cNvSpPr/>
          <p:nvPr/>
        </p:nvSpPr>
        <p:spPr>
          <a:xfrm>
            <a:off x="457200" y="2697480"/>
            <a:ext cx="5486400" cy="685800"/>
          </a:xfrm>
          <a:prstGeom prst="roundRect">
            <a:avLst>
              <a:gd name="adj" fmla="val 13333"/>
            </a:avLst>
          </a:prstGeom>
          <a:solidFill>
            <a:schemeClr val="bg2"/>
          </a:solidFill>
          <a:ln w="12700">
            <a:solidFill>
              <a:schemeClr val="bg2"/>
            </a:solidFill>
            <a:prstDash val="solid"/>
          </a:ln>
        </p:spPr>
      </p:sp>
      <p:sp>
        <p:nvSpPr>
          <p:cNvPr id="12" name="número foro 3"/>
          <p:cNvSpPr/>
          <p:nvPr/>
        </p:nvSpPr>
        <p:spPr>
          <a:xfrm>
            <a:off x="594360" y="2852928"/>
            <a:ext cx="365760" cy="365760"/>
          </a:xfrm>
          <a:prstGeom prst="ellipse">
            <a:avLst/>
          </a:prstGeom>
          <a:solidFill>
            <a:schemeClr val="accent1"/>
          </a:solidFill>
          <a:ln w="12700">
            <a:solidFill>
              <a:schemeClr val="accent1"/>
            </a:solidFill>
            <a:prstDash val="solid"/>
          </a:ln>
        </p:spPr>
      </p:sp>
      <p:sp>
        <p:nvSpPr>
          <p:cNvPr id="13" name="Text 11"/>
          <p:cNvSpPr txBox="1"/>
          <p:nvPr/>
        </p:nvSpPr>
        <p:spPr>
          <a:xfrm>
            <a:off x="594360" y="285292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3</a:t>
            </a:r>
            <a:endParaRPr lang="en-US" sz="1400" dirty="0"/>
          </a:p>
        </p:txBody>
      </p:sp>
      <p:sp>
        <p:nvSpPr>
          <p:cNvPr id="14" name="Text 12"/>
          <p:cNvSpPr txBox="1"/>
          <p:nvPr/>
        </p:nvSpPr>
        <p:spPr>
          <a:xfrm>
            <a:off x="1143000" y="2697480"/>
            <a:ext cx="4709160" cy="685800"/>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Comenta, busca afinidades e integra un equipo de hasta 5 personas antes del viernes 6.</a:t>
            </a:r>
            <a:endParaRPr lang="en-US" sz="1300" dirty="0"/>
          </a:p>
        </p:txBody>
      </p:sp>
      <p:sp>
        <p:nvSpPr>
          <p:cNvPr id="15" name="paso foro 4"/>
          <p:cNvSpPr/>
          <p:nvPr/>
        </p:nvSpPr>
        <p:spPr>
          <a:xfrm>
            <a:off x="457200" y="3474720"/>
            <a:ext cx="5486400" cy="685800"/>
          </a:xfrm>
          <a:prstGeom prst="roundRect">
            <a:avLst>
              <a:gd name="adj" fmla="val 13333"/>
            </a:avLst>
          </a:prstGeom>
          <a:solidFill>
            <a:schemeClr val="bg2"/>
          </a:solidFill>
          <a:ln w="12700">
            <a:solidFill>
              <a:schemeClr val="bg2"/>
            </a:solidFill>
            <a:prstDash val="solid"/>
          </a:ln>
        </p:spPr>
      </p:sp>
      <p:sp>
        <p:nvSpPr>
          <p:cNvPr id="16" name="número foro 4"/>
          <p:cNvSpPr/>
          <p:nvPr/>
        </p:nvSpPr>
        <p:spPr>
          <a:xfrm>
            <a:off x="594360" y="3630168"/>
            <a:ext cx="365760" cy="365760"/>
          </a:xfrm>
          <a:prstGeom prst="ellipse">
            <a:avLst/>
          </a:prstGeom>
          <a:solidFill>
            <a:schemeClr val="accent1"/>
          </a:solidFill>
          <a:ln w="12700">
            <a:solidFill>
              <a:schemeClr val="accent1"/>
            </a:solidFill>
            <a:prstDash val="solid"/>
          </a:ln>
        </p:spPr>
      </p:sp>
      <p:sp>
        <p:nvSpPr>
          <p:cNvPr id="17" name="Text 15"/>
          <p:cNvSpPr txBox="1"/>
          <p:nvPr/>
        </p:nvSpPr>
        <p:spPr>
          <a:xfrm>
            <a:off x="594360" y="363016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4</a:t>
            </a:r>
            <a:endParaRPr lang="en-US" sz="1400" dirty="0"/>
          </a:p>
        </p:txBody>
      </p:sp>
      <p:sp>
        <p:nvSpPr>
          <p:cNvPr id="18" name="Text 16"/>
          <p:cNvSpPr txBox="1"/>
          <p:nvPr/>
        </p:nvSpPr>
        <p:spPr>
          <a:xfrm>
            <a:off x="1143000" y="3474720"/>
            <a:ext cx="4709160" cy="685800"/>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Una persona representante publica integrantes y título preliminar en «Integración de equipos».</a:t>
            </a:r>
            <a:endParaRPr lang="en-US" sz="1300" dirty="0"/>
          </a:p>
        </p:txBody>
      </p:sp>
      <p:sp>
        <p:nvSpPr>
          <p:cNvPr id="19" name="aporte"/>
          <p:cNvSpPr/>
          <p:nvPr/>
        </p:nvSpPr>
        <p:spPr>
          <a:xfrm>
            <a:off x="6217920" y="1143000"/>
            <a:ext cx="2468880" cy="2926080"/>
          </a:xfrm>
          <a:prstGeom prst="roundRect">
            <a:avLst>
              <a:gd name="adj" fmla="val 3704"/>
            </a:avLst>
          </a:prstGeom>
          <a:solidFill>
            <a:schemeClr val="tx2"/>
          </a:solidFill>
          <a:ln w="12700">
            <a:solidFill>
              <a:schemeClr val="tx2"/>
            </a:solidFill>
            <a:prstDash val="solid"/>
          </a:ln>
        </p:spPr>
      </p:sp>
      <p:sp>
        <p:nvSpPr>
          <p:cNvPr id="20" name="Text 18"/>
          <p:cNvSpPr txBox="1"/>
          <p:nvPr/>
        </p:nvSpPr>
        <p:spPr>
          <a:xfrm>
            <a:off x="6355080" y="1325880"/>
            <a:ext cx="2194560" cy="822960"/>
          </a:xfrm>
          <a:prstGeom prst="rect">
            <a:avLst/>
          </a:prstGeom>
          <a:noFill/>
          <a:ln/>
        </p:spPr>
        <p:txBody>
          <a:bodyPr wrap="square" lIns="0" tIns="0" rIns="0" bIns="0" rtlCol="0" anchor="ctr"/>
          <a:lstStyle/>
          <a:p>
            <a:pPr indent="0" marL="0">
              <a:buNone/>
            </a:pPr>
            <a:r>
              <a:rPr lang="en-US" sz="4800" b="1" dirty="0">
                <a:solidFill>
                  <a:schemeClr val="bg1"/>
                </a:solidFill>
                <a:latin typeface="Cambria" pitchFamily="34" charset="0"/>
                <a:ea typeface="Cambria" pitchFamily="34" charset="-122"/>
                <a:cs typeface="Cambria" pitchFamily="34" charset="-120"/>
              </a:rPr>
              <a:t>10%</a:t>
            </a:r>
            <a:endParaRPr lang="en-US" sz="4800" dirty="0"/>
          </a:p>
        </p:txBody>
      </p:sp>
      <p:sp>
        <p:nvSpPr>
          <p:cNvPr id="21" name="Text 19"/>
          <p:cNvSpPr txBox="1"/>
          <p:nvPr/>
        </p:nvSpPr>
        <p:spPr>
          <a:xfrm>
            <a:off x="6355080" y="2148840"/>
            <a:ext cx="2194560" cy="320040"/>
          </a:xfrm>
          <a:prstGeom prst="rect">
            <a:avLst/>
          </a:prstGeom>
          <a:noFill/>
          <a:ln/>
        </p:spPr>
        <p:txBody>
          <a:bodyPr wrap="square" lIns="0" tIns="0" rIns="0" bIns="0" rtlCol="0" anchor="ctr"/>
          <a:lstStyle/>
          <a:p>
            <a:pPr indent="0" marL="0">
              <a:buNone/>
            </a:pPr>
            <a:r>
              <a:rPr lang="en-US" sz="1300" dirty="0">
                <a:solidFill>
                  <a:schemeClr val="accent3"/>
                </a:solidFill>
                <a:latin typeface="Calibri" pitchFamily="34" charset="0"/>
                <a:ea typeface="Calibri" pitchFamily="34" charset="-122"/>
                <a:cs typeface="Calibri" pitchFamily="34" charset="-120"/>
              </a:rPr>
              <a:t>de tu calificación final</a:t>
            </a:r>
            <a:endParaRPr lang="en-US" sz="1300" dirty="0"/>
          </a:p>
        </p:txBody>
      </p:sp>
      <p:sp>
        <p:nvSpPr>
          <p:cNvPr id="22" name="Text 20"/>
          <p:cNvSpPr txBox="1"/>
          <p:nvPr/>
        </p:nvSpPr>
        <p:spPr>
          <a:xfrm>
            <a:off x="6355080" y="2697480"/>
            <a:ext cx="2194560" cy="118872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Después: Actividad 2, Detección de necesidades, el domingo 8 de Noviembre.</a:t>
            </a:r>
            <a:endParaRPr lang="en-US" sz="1300" dirty="0"/>
          </a:p>
        </p:txBody>
      </p:sp>
      <p:sp>
        <p:nvSpPr>
          <p:cNvPr id="25" name="Slide Number Placeholder 0"/>
          <p:cNvSpPr>
            <a:spLocks noGrp="1"/>
          </p:cNvSpPr>
          <p:nvPr>
            <p:ph type="sldNum" sz="quarter" idx="4294967295"/>
          </p:nvPr>
        </p:nvSpPr>
        <p:spPr>
          <a:xfrm>
            <a:off x="8229600" y="470001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Referencias</a:t>
            </a:r>
            <a:endParaRPr lang="en-US" sz="2800" dirty="0"/>
          </a:p>
        </p:txBody>
      </p:sp>
      <p:sp>
        <p:nvSpPr>
          <p:cNvPr id="3" name="Text 1"/>
          <p:cNvSpPr txBox="1"/>
          <p:nvPr/>
        </p:nvSpPr>
        <p:spPr>
          <a:xfrm>
            <a:off x="457200" y="1188720"/>
            <a:ext cx="8229600" cy="3108960"/>
          </a:xfrm>
          <a:prstGeom prst="rect">
            <a:avLst/>
          </a:prstGeom>
          <a:noFill/>
          <a:ln/>
        </p:spPr>
        <p:txBody>
          <a:bodyPr wrap="square" lIns="0" tIns="0" rIns="0" bIns="0" rtlCol="0" anchor="t"/>
          <a:lstStyle/>
          <a:p>
            <a:pPr indent="0" marL="0">
              <a:spcAft>
                <a:spcPts val="1000"/>
              </a:spcAft>
              <a:buNone/>
            </a:pPr>
            <a:r>
              <a:rPr lang="en-US" sz="1400" dirty="0">
                <a:solidFill>
                  <a:schemeClr val="tx1"/>
                </a:solidFill>
                <a:latin typeface="Calibri" pitchFamily="34" charset="0"/>
                <a:ea typeface="Calibri" pitchFamily="34" charset="-122"/>
                <a:cs typeface="Calibri" pitchFamily="34" charset="-120"/>
              </a:rPr>
              <a:t>TEDx Talks [TED</a:t>
            </a:r>
            <a:pPr indent="0" marL="0">
              <a:spcAft>
                <a:spcPts val="1000"/>
              </a:spcAft>
              <a:buNone/>
            </a:pPr>
            <a:r>
              <a:rPr lang="en-US" sz="1400" baseline="30000" dirty="0">
                <a:solidFill>
                  <a:schemeClr val="tx1"/>
                </a:solidFill>
                <a:latin typeface="Calibri" pitchFamily="34" charset="0"/>
                <a:ea typeface="Calibri" pitchFamily="34" charset="-122"/>
                <a:cs typeface="Calibri" pitchFamily="34" charset="-120"/>
              </a:rPr>
              <a:t>x</a:t>
            </a:r>
            <a:pPr indent="0" marL="0">
              <a:spcAft>
                <a:spcPts val="1000"/>
              </a:spcAft>
              <a:buNone/>
            </a:pPr>
            <a:r>
              <a:rPr lang="en-US" sz="1400" dirty="0">
                <a:solidFill>
                  <a:schemeClr val="tx1"/>
                </a:solidFill>
                <a:latin typeface="Calibri" pitchFamily="34" charset="0"/>
                <a:ea typeface="Calibri" pitchFamily="34" charset="-122"/>
                <a:cs typeface="Calibri" pitchFamily="34" charset="-120"/>
              </a:rPr>
              <a:t>]. (2017, 20 de marzo). ¿Porqué innovar en educación? | Inés Aguerrondo | TEDxPuraVidaED [Video]. YouTube. </a:t>
            </a:r>
            <a:pPr indent="0" marL="0">
              <a:spcAft>
                <a:spcPts val="1000"/>
              </a:spcAft>
              <a:buNone/>
            </a:pPr>
            <a:r>
              <a:rPr lang="en-US" sz="1400" u="sng" dirty="0">
                <a:solidFill>
                  <a:schemeClr val="tx1"/>
                </a:solidFill>
                <a:latin typeface="Calibri" pitchFamily="34" charset="0"/>
                <a:ea typeface="Calibri" pitchFamily="34" charset="-122"/>
                <a:cs typeface="Calibri" pitchFamily="34" charset="-120"/>
                <a:hlinkClick r:id="rId1" invalidUrl="" action="" tgtFrame="" tooltip="https://n9.cl/xhs1wq" history="1" highlightClick="0" endSnd="0">
                  <a:extLst>
                    <a:ext uri="{A12FA001-AC4F-418D-AE19-62706E023703}">
                      <ahyp:hlinkClr xmlns:ahyp="http://schemas.microsoft.com/office/drawing/2018/hyperlinkcolor" val="tx"/>
                    </a:ext>
                  </a:extLst>
                </a:hlinkClick>
              </a:rPr>
              <a:t>https://n9.cl/xhs1wq</a:t>
            </a:r>
            <a:endParaRPr lang="en-US" sz="1400" dirty="0"/>
          </a:p>
          <a:p>
            <a:pPr indent="0" marL="0">
              <a:spcAft>
                <a:spcPts val="1000"/>
              </a:spcAft>
              <a:buNone/>
            </a:pPr>
            <a:r>
              <a:rPr lang="en-US" sz="1400" dirty="0">
                <a:solidFill>
                  <a:schemeClr val="tx1"/>
                </a:solidFill>
                <a:latin typeface="Calibri" pitchFamily="34" charset="0"/>
                <a:ea typeface="Calibri" pitchFamily="34" charset="-122"/>
                <a:cs typeface="Calibri" pitchFamily="34" charset="-120"/>
              </a:rPr>
              <a:t>TEDx Talks [TED</a:t>
            </a:r>
            <a:pPr indent="0" marL="0">
              <a:spcAft>
                <a:spcPts val="1000"/>
              </a:spcAft>
              <a:buNone/>
            </a:pPr>
            <a:r>
              <a:rPr lang="en-US" sz="1400" baseline="30000" dirty="0">
                <a:solidFill>
                  <a:schemeClr val="tx1"/>
                </a:solidFill>
                <a:latin typeface="Calibri" pitchFamily="34" charset="0"/>
                <a:ea typeface="Calibri" pitchFamily="34" charset="-122"/>
                <a:cs typeface="Calibri" pitchFamily="34" charset="-120"/>
              </a:rPr>
              <a:t>x</a:t>
            </a:r>
            <a:pPr indent="0" marL="0">
              <a:spcAft>
                <a:spcPts val="1000"/>
              </a:spcAft>
              <a:buNone/>
            </a:pPr>
            <a:r>
              <a:rPr lang="en-US" sz="1400" dirty="0">
                <a:solidFill>
                  <a:schemeClr val="tx1"/>
                </a:solidFill>
                <a:latin typeface="Calibri" pitchFamily="34" charset="0"/>
                <a:ea typeface="Calibri" pitchFamily="34" charset="-122"/>
                <a:cs typeface="Calibri" pitchFamily="34" charset="-120"/>
              </a:rPr>
              <a:t>]. (2022, 11 de noviembre). EDUCACIÓN 4.0: EMOCIONAR PARA ENSEÑAR Y APRENDER | Diego Apolo | TEDxUTPL [Video]. YouTube. </a:t>
            </a:r>
            <a:pPr indent="0" marL="0">
              <a:spcAft>
                <a:spcPts val="1000"/>
              </a:spcAft>
              <a:buNone/>
            </a:pPr>
            <a:r>
              <a:rPr lang="en-US" sz="1400" u="sng" dirty="0">
                <a:solidFill>
                  <a:schemeClr val="tx1"/>
                </a:solidFill>
                <a:latin typeface="Calibri" pitchFamily="34" charset="0"/>
                <a:ea typeface="Calibri" pitchFamily="34" charset="-122"/>
                <a:cs typeface="Calibri" pitchFamily="34" charset="-120"/>
                <a:hlinkClick r:id="rId2" invalidUrl="" action="" tgtFrame="" tooltip="https://n9.cl/prxalu" history="1" highlightClick="0" endSnd="0">
                  <a:extLst>
                    <a:ext uri="{A12FA001-AC4F-418D-AE19-62706E023703}">
                      <ahyp:hlinkClr xmlns:ahyp="http://schemas.microsoft.com/office/drawing/2018/hyperlinkcolor" val="tx"/>
                    </a:ext>
                  </a:extLst>
                </a:hlinkClick>
              </a:rPr>
              <a:t>https://n9.cl/prxalu</a:t>
            </a:r>
            <a:endParaRPr lang="en-US" sz="1400" dirty="0"/>
          </a:p>
          <a:p>
            <a:pPr indent="0" marL="0">
              <a:spcAft>
                <a:spcPts val="1000"/>
              </a:spcAft>
              <a:buNone/>
            </a:pPr>
            <a:r>
              <a:rPr lang="en-US" sz="1400" dirty="0">
                <a:solidFill>
                  <a:schemeClr val="tx1"/>
                </a:solidFill>
                <a:latin typeface="Calibri" pitchFamily="34" charset="0"/>
                <a:ea typeface="Calibri" pitchFamily="34" charset="-122"/>
                <a:cs typeface="Calibri" pitchFamily="34" charset="-120"/>
              </a:rPr>
              <a:t>TEDx Talks [TED</a:t>
            </a:r>
            <a:pPr indent="0" marL="0">
              <a:spcAft>
                <a:spcPts val="1000"/>
              </a:spcAft>
              <a:buNone/>
            </a:pPr>
            <a:r>
              <a:rPr lang="en-US" sz="1400" baseline="30000" dirty="0">
                <a:solidFill>
                  <a:schemeClr val="tx1"/>
                </a:solidFill>
                <a:latin typeface="Calibri" pitchFamily="34" charset="0"/>
                <a:ea typeface="Calibri" pitchFamily="34" charset="-122"/>
                <a:cs typeface="Calibri" pitchFamily="34" charset="-120"/>
              </a:rPr>
              <a:t>x</a:t>
            </a:r>
            <a:pPr indent="0" marL="0">
              <a:spcAft>
                <a:spcPts val="1000"/>
              </a:spcAft>
              <a:buNone/>
            </a:pPr>
            <a:r>
              <a:rPr lang="en-US" sz="1400" dirty="0">
                <a:solidFill>
                  <a:schemeClr val="tx1"/>
                </a:solidFill>
                <a:latin typeface="Calibri" pitchFamily="34" charset="0"/>
                <a:ea typeface="Calibri" pitchFamily="34" charset="-122"/>
                <a:cs typeface="Calibri" pitchFamily="34" charset="-120"/>
              </a:rPr>
              <a:t>]. (2023, 7 de febrero). Aprendizaje a lo largo de la vida | Vanesa Baños | TEDxParqueDeLaIsla [Video]. YouTube. </a:t>
            </a:r>
            <a:pPr indent="0" marL="0">
              <a:spcAft>
                <a:spcPts val="1000"/>
              </a:spcAft>
              <a:buNone/>
            </a:pPr>
            <a:r>
              <a:rPr lang="en-US" sz="1400" u="sng" dirty="0">
                <a:solidFill>
                  <a:schemeClr val="tx1"/>
                </a:solidFill>
                <a:latin typeface="Calibri" pitchFamily="34" charset="0"/>
                <a:ea typeface="Calibri" pitchFamily="34" charset="-122"/>
                <a:cs typeface="Calibri" pitchFamily="34" charset="-120"/>
                <a:hlinkClick r:id="rId3" invalidUrl="" action="" tgtFrame="" tooltip="https://n9.cl/aku11e" history="1" highlightClick="0" endSnd="0">
                  <a:extLst>
                    <a:ext uri="{A12FA001-AC4F-418D-AE19-62706E023703}">
                      <ahyp:hlinkClr xmlns:ahyp="http://schemas.microsoft.com/office/drawing/2018/hyperlinkcolor" val="tx"/>
                    </a:ext>
                  </a:extLst>
                </a:hlinkClick>
              </a:rPr>
              <a:t>https://n9.cl/aku11e</a:t>
            </a:r>
            <a:endParaRPr lang="en-US" sz="1400" dirty="0"/>
          </a:p>
        </p:txBody>
      </p:sp>
      <p:sp>
        <p:nvSpPr>
          <p:cNvPr id="25" name="Slide Number Placeholder 0"/>
          <p:cNvSpPr>
            <a:spLocks noGrp="1"/>
          </p:cNvSpPr>
          <p:nvPr>
            <p:ph type="sldNum" sz="quarter" idx="4294967295"/>
          </p:nvPr>
        </p:nvSpPr>
        <p:spPr>
          <a:xfrm>
            <a:off x="8229600" y="470001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457200" y="640080"/>
            <a:ext cx="4572000" cy="274320"/>
          </a:xfrm>
          <a:prstGeom prst="rect">
            <a:avLst/>
          </a:prstGeom>
          <a:noFill/>
          <a:ln/>
        </p:spPr>
        <p:txBody>
          <a:bodyPr wrap="square" lIns="0" tIns="0" rIns="0" bIns="0" rtlCol="0" anchor="ctr"/>
          <a:lstStyle/>
          <a:p>
            <a:pPr indent="0" marL="0">
              <a:buNone/>
            </a:pPr>
            <a:r>
              <a:rPr lang="en-US" sz="1300" b="1" dirty="0">
                <a:solidFill>
                  <a:schemeClr val="accent3"/>
                </a:solidFill>
                <a:latin typeface="Calibri" pitchFamily="34" charset="0"/>
                <a:ea typeface="Calibri" pitchFamily="34" charset="-122"/>
                <a:cs typeface="Calibri" pitchFamily="34" charset="-120"/>
              </a:rPr>
              <a:t>Cierre</a:t>
            </a:r>
            <a:endParaRPr lang="en-US" sz="1300" dirty="0"/>
          </a:p>
        </p:txBody>
      </p:sp>
      <p:sp>
        <p:nvSpPr>
          <p:cNvPr id="3" name="Text 1"/>
          <p:cNvSpPr/>
          <p:nvPr>
            <p:ph idx="101" type="title" hasCustomPrompt="1"/>
          </p:nvPr>
        </p:nvSpPr>
        <p:spPr>
          <a:xfrm>
            <a:off x="457200" y="1234440"/>
            <a:ext cx="5486400" cy="1371600"/>
          </a:xfrm>
          <a:prstGeom prst="rect">
            <a:avLst/>
          </a:prstGeom>
          <a:noFill/>
          <a:ln/>
        </p:spPr>
        <p:txBody>
          <a:bodyPr wrap="square" lIns="0" tIns="0" rIns="0" bIns="0" rtlCol="0" anchor="t"/>
          <a:lstStyle/>
          <a:p>
            <a:pPr algn="l" indent="0" marL="0">
              <a:buNone/>
            </a:pPr>
            <a:r>
              <a:rPr lang="en-US" sz="3400" b="1" dirty="0">
                <a:solidFill>
                  <a:schemeClr val="bg1"/>
                </a:solidFill>
                <a:latin typeface="Cambria" pitchFamily="34" charset="0"/>
                <a:ea typeface="Cambria" pitchFamily="34" charset="-122"/>
                <a:cs typeface="Cambria" pitchFamily="34" charset="-120"/>
              </a:rPr>
              <a:t>Antes de irte</a:t>
            </a:r>
            <a:endParaRPr lang="en-US" sz="3400" dirty="0"/>
          </a:p>
        </p:txBody>
      </p:sp>
      <p:sp>
        <p:nvSpPr>
          <p:cNvPr id="4" name="Text 2"/>
          <p:cNvSpPr txBox="1"/>
          <p:nvPr/>
        </p:nvSpPr>
        <p:spPr>
          <a:xfrm>
            <a:off x="457200" y="1920240"/>
            <a:ext cx="5120640" cy="1737360"/>
          </a:xfrm>
          <a:prstGeom prst="rect">
            <a:avLst/>
          </a:prstGeom>
          <a:noFill/>
          <a:ln/>
        </p:spPr>
        <p:txBody>
          <a:bodyPr wrap="square" lIns="0" tIns="0" rIns="0" bIns="0" rtlCol="0" anchor="t"/>
          <a:lstStyle/>
          <a:p>
            <a:pPr marL="342900" indent="-342900">
              <a:spcAft>
                <a:spcPts val="1000"/>
              </a:spcAft>
              <a:buSzPct val="100000"/>
              <a:buFont typeface="+mj-lt"/>
              <a:buAutoNum type="arabicPeriod" startAt="1"/>
            </a:pPr>
            <a:r>
              <a:rPr lang="en-US" sz="1600" dirty="0">
                <a:solidFill>
                  <a:schemeClr val="bg1"/>
                </a:solidFill>
                <a:latin typeface="Calibri" pitchFamily="34" charset="0"/>
                <a:ea typeface="Calibri" pitchFamily="34" charset="-122"/>
                <a:cs typeface="Calibri" pitchFamily="34" charset="-120"/>
              </a:rPr>
              <a:t>¿Qué idea de innovación en la era digital se movió hoy en tu cabeza?</a:t>
            </a:r>
            <a:endParaRPr lang="en-US" sz="1600" dirty="0"/>
          </a:p>
          <a:p>
            <a:pPr marL="342900" indent="-342900">
              <a:spcAft>
                <a:spcPts val="1000"/>
              </a:spcAft>
              <a:buSzPct val="100000"/>
              <a:buFont typeface="+mj-lt"/>
              <a:buAutoNum type="arabicPeriod" startAt="1"/>
            </a:pPr>
            <a:r>
              <a:rPr lang="en-US" sz="1600" dirty="0">
                <a:solidFill>
                  <a:schemeClr val="bg1"/>
                </a:solidFill>
                <a:latin typeface="Calibri" pitchFamily="34" charset="0"/>
                <a:ea typeface="Calibri" pitchFamily="34" charset="-122"/>
                <a:cs typeface="Calibri" pitchFamily="34" charset="-120"/>
              </a:rPr>
              <a:t>¿Qué necesidad de tu institución quieres diagnosticar?</a:t>
            </a:r>
            <a:endParaRPr lang="en-US" sz="1600" dirty="0"/>
          </a:p>
          <a:p>
            <a:pPr marL="342900" indent="-342900">
              <a:spcAft>
                <a:spcPts val="1000"/>
              </a:spcAft>
              <a:buSzPct val="100000"/>
              <a:buFont typeface="+mj-lt"/>
              <a:buAutoNum type="arabicPeriod" startAt="1"/>
            </a:pPr>
            <a:r>
              <a:rPr lang="en-US" sz="1600" dirty="0">
                <a:solidFill>
                  <a:schemeClr val="bg1"/>
                </a:solidFill>
                <a:latin typeface="Calibri" pitchFamily="34" charset="0"/>
                <a:ea typeface="Calibri" pitchFamily="34" charset="-122"/>
                <a:cs typeface="Calibri" pitchFamily="34" charset="-120"/>
              </a:rPr>
              <a:t>¿Con quién podrías formar equipo para el foro?</a:t>
            </a:r>
            <a:endParaRPr lang="en-US" sz="1600" dirty="0"/>
          </a:p>
        </p:txBody>
      </p:sp>
      <p:sp>
        <p:nvSpPr>
          <p:cNvPr id="5" name="Text 3"/>
          <p:cNvSpPr txBox="1"/>
          <p:nvPr/>
        </p:nvSpPr>
        <p:spPr>
          <a:xfrm>
            <a:off x="457200" y="3840480"/>
            <a:ext cx="5120640" cy="685800"/>
          </a:xfrm>
          <a:prstGeom prst="rect">
            <a:avLst/>
          </a:prstGeom>
          <a:noFill/>
          <a:ln/>
        </p:spPr>
        <p:txBody>
          <a:bodyPr wrap="square" lIns="0" tIns="0" rIns="0" bIns="0" rtlCol="0" anchor="t"/>
          <a:lstStyle/>
          <a:p>
            <a:pPr indent="0" marL="0">
              <a:buNone/>
            </a:pPr>
            <a:r>
              <a:rPr lang="en-US" sz="1300" b="1" dirty="0">
                <a:solidFill>
                  <a:schemeClr val="bg1"/>
                </a:solidFill>
                <a:latin typeface="Calibri" pitchFamily="34" charset="0"/>
                <a:ea typeface="Calibri" pitchFamily="34" charset="-122"/>
                <a:cs typeface="Calibri" pitchFamily="34" charset="-120"/>
              </a:rPr>
              <a:t>Próxima sesión: sábado 7 de Noviembre · Unidad 3. La gestión para la innovación y sus factores esenciales</a:t>
            </a:r>
            <a:endParaRPr lang="en-US" sz="1300" dirty="0"/>
          </a:p>
        </p:txBody>
      </p:sp>
      <p:pic>
        <p:nvPicPr>
          <p:cNvPr id="6" name="Image 0" descr="Persona que explica con gestos y una lista de verificación">    </p:cNvPr>
          <p:cNvPicPr>
            <a:picLocks noChangeAspect="1"/>
          </p:cNvPicPr>
          <p:nvPr/>
        </p:nvPicPr>
        <p:blipFill>
          <a:blip r:embed="rId1"/>
          <a:stretch>
            <a:fillRect/>
          </a:stretch>
        </p:blipFill>
        <p:spPr>
          <a:xfrm>
            <a:off x="5852160" y="1645920"/>
            <a:ext cx="2834640" cy="1700784"/>
          </a:xfrm>
          <a:prstGeom prst="rect">
            <a:avLst/>
          </a:prstGeom>
        </p:spPr>
      </p:pic>
      <p:sp>
        <p:nvSpPr>
          <p:cNvPr id="25" name="Slide Number Placeholder 0"/>
          <p:cNvSpPr>
            <a:spLocks noGrp="1"/>
          </p:cNvSpPr>
          <p:nvPr>
            <p:ph type="sldNum" sz="quarter" idx="4294967295"/>
          </p:nvPr>
        </p:nvSpPr>
        <p:spPr>
          <a:xfrm>
            <a:off x="8229600" y="470001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bg1"/>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GIEED Sesión 2">
  <a:themeElements>
    <a:clrScheme name="GIEED Sesión 2">
      <a:dk1>
        <a:srgbClr val="1B2A33"/>
      </a:dk1>
      <a:lt1>
        <a:srgbClr val="FFFFFF"/>
      </a:lt1>
      <a:dk2>
        <a:srgbClr val="004C6B"/>
      </a:dk2>
      <a:lt2>
        <a:srgbClr val="F1F5F8"/>
      </a:lt2>
      <a:accent1>
        <a:srgbClr val="007EAE"/>
      </a:accent1>
      <a:accent2>
        <a:srgbClr val="3B7389"/>
      </a:accent2>
      <a:accent3>
        <a:srgbClr val="CDEAF7"/>
      </a:accent3>
      <a:accent4>
        <a:srgbClr val="65656A"/>
      </a:accent4>
      <a:accent5>
        <a:srgbClr val="00A0CF"/>
      </a:accent5>
      <a:accent6>
        <a:srgbClr val="F2B134"/>
      </a:accent6>
      <a:hlink>
        <a:srgbClr val="007EAE"/>
      </a:hlink>
      <a:folHlink>
        <a:srgbClr val="3B7389"/>
      </a:folHlink>
    </a:clrScheme>
    <a:fontScheme name="GIEED Sesión 2">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Sesión 2 · Unidad 2. La innovación educativa en la era digital</dc:title>
  <dc:subject>Gestión de la Innovación Educativa en la Era Digital</dc:subject>
  <dc:creator>Herson Alfonso Castellanos Celis</dc:creator>
  <cp:lastModifiedBy>Herson Alfonso Castellanos Celis</cp:lastModifiedBy>
  <cp:revision>1</cp:revision>
  <dcterms:created xsi:type="dcterms:W3CDTF">2026-10-31T06:16:39Z</dcterms:created>
  <dcterms:modified xsi:type="dcterms:W3CDTF">2026-10-31T06:16:39Z</dcterms:modified>
</cp:coreProperties>
</file>