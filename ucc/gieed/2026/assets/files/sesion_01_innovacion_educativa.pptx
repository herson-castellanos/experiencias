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f8af8bcf-4a1e-e914-a77d-918e6000947f}">
          <p14:sldIdLst>
            <p14:sldId id="256"/>
            <p14:sldId id="257"/>
            <p14:sldId id="258"/>
            <p14:sldId id="259"/>
          </p14:sldIdLst>
        </p14:section>
        <p14:section name="Unidad 1" id="{cc28bda7-fba4-000c-972e-d8437531867c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Ejercicio práctico" id="{a63414cf-a26c-7df5-951b-35e9da6464e8}">
          <p14:sldIdLst>
            <p14:sldId id="266"/>
            <p14:sldId id="267"/>
            <p14:sldId id="268"/>
            <p14:sldId id="269"/>
          </p14:sldIdLst>
        </p14:section>
        <p14:section name="Cierre" id="{816d9f31-6c5b-b64a-0e11-3bad983c8401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Evaluación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EAE"/>
              </a:solidFill>
              <a:effectLst/>
            </c:spPr>
          </c:dPt>
          <c:dPt>
            <c:idx val="1"/>
            <c:bubble3D val="0"/>
            <c:spPr>
              <a:solidFill>
                <a:srgbClr val="656566"/>
              </a:solidFill>
              <a:effectLst/>
            </c:spPr>
          </c:dPt>
          <c:dPt>
            <c:idx val="2"/>
            <c:bubble3D val="0"/>
            <c:spPr>
              <a:solidFill>
                <a:srgbClr val="00506F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Coevaluación</c:v>
                </c:pt>
                <c:pt idx="1">
                  <c:v>Autoevaluación</c:v>
                </c:pt>
                <c:pt idx="2">
                  <c:v>Evaluación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30</c:v>
                </c:pt>
                <c:pt idx="1">
                  <c:v>25</c:v>
                </c:pt>
                <c:pt idx="2">
                  <c:v>45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C1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 el curso y la sesión: hoy abrimos la Unidad 1 y cerramos con un ejercicio práctico en equipos. Duración total de la sesión: 4 horas.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la agenda. Los tiempos suman 4 horas con una pausa de 30 minutos. Ajusta según el ritmo del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fin de aprendizaje viene del programa de estudio (MED 0410). La distribución es: coevaluación 30 %, autoevaluación 25 % y evaluación 45 % de la calificación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Activación de saberes previos. Da un minuto en silencio y pide a 3 o 4 personas que compartan. Anota las palabras en un tablero visible; volveremos a ellas al final de la Unidad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 1.1. Dimensiones conceptuales de la innovación. Pide ejemplos de cada dimensión en las instituciones de las personas del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 1.2. Origen y situación actual de la innovación en la educación. Las fuentes están en la diapositiva de referencias. Pide al grupo que aporte ejemplos de su contexto.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 1.3. Configuración y tipología de la innovación educativa. Esta clasificación es un punto de partida para conversar; no es una taxonomía cerrada. Pide que ubiquen una innovación que conozcan.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 1.4. La innovación educativa desde una perspectiva sistémica. Recorre las cuatro piezas y conecta con las dimensiones del tema 1.1.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 1.5. Retos y desafíos de la innovación educativa. Pide que cada persona señale cuál le resulta más cercano.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Materiales de la sesión 1. Puedes proyectar fragmentos o dejarlos como lectura previa a la actividad. Los enlaces están en las referencias del sitio.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el ejercicio. Explica que el trabajo es a partir de un caso real y que lo que construyan servirá para la cartografía conceptual.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 entre los equipos. Si una innovación no se logra ubicar en un tipo, aprovecha para discutir los criterios con todo el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Reparte la plantilla impresa o compártela en un documento colaborativo. Cada equipo llena una sola.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plenaria funciona como una primera coevaluación informal. Modera los tiempos: 2 minutos por equipo y 1 minuto de comentarios.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el ejercicio con la actividad. Lo que cada equipo ubicó hoy es insumo de la cartografía conceptual. La fecha límite es el domingo 1 de Noviembre; la cuenta regresiva del sitio cierra el 2 de Noviembre a las 00:00.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Referencias en formato APA 7 de los materiales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con preguntas de metacognición. Recuerda la fecha límite del Foro: Bienvenida (miércoles 28 de octubre) y de la Actividad 1 (domingo 1 de noviembre).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rgbClr val="0050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007E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la Innovación Educativa en la Era Digital · Sesión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r19n\AppData\Local\Temp\claude\c--Users-br19n-Desktop-Archivo-material3\3035b8ee-3700-4888-bf00-353c48196e19\scratchpad\deck\img\universidad-cristobal-col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90872"/>
            <a:ext cx="749808" cy="3291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471830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la Innovación Educativa en la Era Digital · Sesión 1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n9.cl/nilsit" TargetMode="External"/><Relationship Id="rId4" Type="http://schemas.openxmlformats.org/officeDocument/2006/relationships/hyperlink" Target="https://n9.cl/dspku5" TargetMode="External"/><Relationship Id="rId6" Type="http://schemas.openxmlformats.org/officeDocument/2006/relationships/hyperlink" Target="https://n9.cl/qlvjq" TargetMode="External"/><Relationship Id="rId1" Type="http://schemas.openxmlformats.org/officeDocument/2006/relationships/image" Target="../media/image-10-1.png"/><Relationship Id="rId3" Type="http://schemas.openxmlformats.org/officeDocument/2006/relationships/image" Target="../media/image-10-2.png"/><Relationship Id="rId5" Type="http://schemas.openxmlformats.org/officeDocument/2006/relationships/image" Target="../media/image-10-3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Universidad Cristóbal Col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365760"/>
            <a:ext cx="2468880" cy="1078992"/>
          </a:xfrm>
          <a:prstGeom prst="rect">
            <a:avLst/>
          </a:prstGeom>
        </p:spPr>
      </p:pic>
      <p:pic>
        <p:nvPicPr>
          <p:cNvPr id="4" name="Image 1" descr="Persona trabajando en un escritorio con una plan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91640"/>
            <a:ext cx="2651760" cy="24688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02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Educación · Universidad Cristóbal Colón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1430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la Innovación Educativa en la Era Digital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880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· Unidad 1. Innovación educativa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749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 24 de Octubre de 2026 · 09:00h a 13:00h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Torrente, Edificio dos, 2º piso, salón 05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Herson Alfonso Castellanos Celis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29260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y encuadre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somos, cómo trabajaremos y qué esperamos del curso.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1920240" cy="29260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371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057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6517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temas para pensar la innovación educativa.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1920240" cy="29260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371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057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práctico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6517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caso real de innovación, analizado en equipos.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66560" y="1280160"/>
            <a:ext cx="1920240" cy="29260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0" y="1371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2057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6517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1: Cartografía conceptual y próximos pasos.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una pausa de 30 minutos entre la Unidad 1 y el ejercicio práctico.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Encuadre del curso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754880" cy="3017520"/>
          </a:xfrm>
          <a:prstGeom prst="roundRect">
            <a:avLst>
              <a:gd name="adj" fmla="val 363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aprendizaje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término del curso, diseñarás un proyecto de innovación educativa que integre aspectos tecnológicos y responda a la problemática de una institución educativa.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94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sesiones · cinco unidades · un proyecto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evalúa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394960" y="1600200"/>
          <a:ext cx="338328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comenzar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significa innovar en educación?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un minuto, escribe sin consultar nada: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47472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0506F"/>
          </a:solidFill>
          <a:ln w="12700">
            <a:solidFill>
              <a:srgbClr val="0050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4747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palabra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37560" y="347472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0506F"/>
          </a:solidFill>
          <a:ln w="12700">
            <a:solidFill>
              <a:srgbClr val="0050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34747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experiencia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35040" y="347472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0506F"/>
          </a:solidFill>
          <a:ln w="12700">
            <a:solidFill>
              <a:srgbClr val="0050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34747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duda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Dimensiones de la innovación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54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Ícono de Pedagóg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09928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Pedagógica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874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la manera de enseñar y de aprender.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234440"/>
            <a:ext cx="40233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554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Ícono de Tecnológi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70992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Tecnológica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1874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 herramientas con un propósito educativo.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2697480"/>
            <a:ext cx="40233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3017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Ícono de Institucion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17296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3337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 la organización, los procesos y las decisiones.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663440" y="2697480"/>
            <a:ext cx="40233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3017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Ícono de Cultur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172968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6072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760720" y="3337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creencias, hábitos y formas de relacionarse.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innovación auténtica suele tocar más de una dimensión.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Origen y situación actual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viene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 necesidades que las prácticas habituales ya no atienden.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avanzado entre logros y proyectos que no se sostuvieron.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de personas y comunidades, no solo de decretos.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34440"/>
            <a:ext cx="402336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 hoy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288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tecnología digital amplía las posibilidades, pero no garantiza la innovación.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invita a repensar la educación como bien común.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 y calidad se miran juntas.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profundizar: Carbonell (2001); Fullan (2007); OECD (2016); UNESCO (2021).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innovación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su alcance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CDEAF7"/>
          </a:solidFill>
          <a:ln w="12700">
            <a:solidFill>
              <a:srgbClr val="CDEA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aula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91840" y="178308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007EAE"/>
          </a:solidFill>
          <a:ln w="12700">
            <a:solidFill>
              <a:srgbClr val="007EA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783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institución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26480" y="178308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CDEAF7"/>
          </a:solidFill>
          <a:ln w="12700">
            <a:solidFill>
              <a:srgbClr val="CDEA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0" y="1783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sistema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su foco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CDEAF7"/>
          </a:solidFill>
          <a:ln w="12700">
            <a:solidFill>
              <a:srgbClr val="CDEA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2461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enseñanza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91840" y="324612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007EAE"/>
          </a:solidFill>
          <a:ln w="12700">
            <a:solidFill>
              <a:srgbClr val="007EA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91840" y="32461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gestión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26480" y="324612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CDEAF7"/>
          </a:solidFill>
          <a:ln w="12700">
            <a:solidFill>
              <a:srgbClr val="CDEA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32461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cultura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clasificación de trabajo para esta sesión; la afinaremos con la lectura de las fuentes.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institución como sistema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651760" y="1463040"/>
            <a:ext cx="0" cy="1325880"/>
          </a:xfrm>
          <a:prstGeom prst="line">
            <a:avLst/>
          </a:prstGeom>
          <a:noFill/>
          <a:ln w="25400">
            <a:solidFill>
              <a:srgbClr val="6565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51760" y="2788920"/>
            <a:ext cx="1783080" cy="0"/>
          </a:xfrm>
          <a:prstGeom prst="line">
            <a:avLst/>
          </a:prstGeom>
          <a:noFill/>
          <a:ln w="25400">
            <a:solidFill>
              <a:srgbClr val="6565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51760" y="2788920"/>
            <a:ext cx="0" cy="1325880"/>
          </a:xfrm>
          <a:prstGeom prst="line">
            <a:avLst/>
          </a:prstGeom>
          <a:noFill/>
          <a:ln w="25400">
            <a:solidFill>
              <a:srgbClr val="6565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788920"/>
            <a:ext cx="1783080" cy="0"/>
          </a:xfrm>
          <a:prstGeom prst="line">
            <a:avLst/>
          </a:prstGeom>
          <a:noFill/>
          <a:ln w="25400">
            <a:solidFill>
              <a:srgbClr val="6565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83080" y="1920240"/>
            <a:ext cx="1737360" cy="17373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11680" y="1920240"/>
            <a:ext cx="1280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Institución educativa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0" y="1188720"/>
            <a:ext cx="1280160" cy="548640"/>
          </a:xfrm>
          <a:prstGeom prst="roundRect">
            <a:avLst>
              <a:gd name="adj" fmla="val 20000"/>
            </a:avLst>
          </a:prstGeom>
          <a:solidFill>
            <a:srgbClr val="007EAE"/>
          </a:solidFill>
          <a:ln w="12700">
            <a:solidFill>
              <a:srgbClr val="007EA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11680" y="1188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94760" y="2514600"/>
            <a:ext cx="1280160" cy="548640"/>
          </a:xfrm>
          <a:prstGeom prst="roundRect">
            <a:avLst>
              <a:gd name="adj" fmla="val 20000"/>
            </a:avLst>
          </a:prstGeom>
          <a:solidFill>
            <a:srgbClr val="007EAE"/>
          </a:solidFill>
          <a:ln w="12700">
            <a:solidFill>
              <a:srgbClr val="007EA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94760" y="2514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11680" y="3840480"/>
            <a:ext cx="1280160" cy="548640"/>
          </a:xfrm>
          <a:prstGeom prst="roundRect">
            <a:avLst>
              <a:gd name="adj" fmla="val 20000"/>
            </a:avLst>
          </a:prstGeom>
          <a:solidFill>
            <a:srgbClr val="007EAE"/>
          </a:solidFill>
          <a:ln w="12700">
            <a:solidFill>
              <a:srgbClr val="007EA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011680" y="3840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" y="2514600"/>
            <a:ext cx="1280160" cy="548640"/>
          </a:xfrm>
          <a:prstGeom prst="roundRect">
            <a:avLst>
              <a:gd name="adj" fmla="val 20000"/>
            </a:avLst>
          </a:prstGeom>
          <a:solidFill>
            <a:srgbClr val="007EAE"/>
          </a:solidFill>
          <a:ln w="12700">
            <a:solidFill>
              <a:srgbClr val="007EA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" y="2514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94960" y="1417320"/>
            <a:ext cx="32918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2356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pieza no cambia sola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21031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pieza cambia y las demás siguen igual, la innovación se debilita.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3063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guía: ¿qué pieza de tu institución cambiaría primero y qué otras necesitaría mover?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Retos y desafíos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5448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Ícono de Equidad y acces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09928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 y acceso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874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las oportunidades lleguen a todas las personas.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234440"/>
            <a:ext cx="40233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55448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1" descr="Ícono de Acompañamiento docen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70992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docente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1874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y apoyo para sostener el cambio.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2697480"/>
            <a:ext cx="40233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301752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Ícono de Sentido pedagógic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17296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Sentido pedagógico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3337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tecnología al servicio del aprendizaje.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663440" y="2697480"/>
            <a:ext cx="40233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301752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3" descr="Ícono de Sostenibilid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172968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6072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Sostenibilidad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760720" y="3337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 innovación permanezca y se renueve.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era digital, estos retos se viven en cada institución de manera distinta.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ver y comentar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Ícono de vide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545336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441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 (2007)</a:t>
            </a:r>
            <a:endParaRPr lang="en-US" sz="1200" dirty="0"/>
          </a:p>
        </p:txBody>
      </p:sp>
      <p:sp>
        <p:nvSpPr>
          <p:cNvPr id="7" name="Text 4">
            <a:hlinkClick r:id="rId2" tooltip="Abrir en YouTube"/>
          </p:cNvPr>
          <p:cNvSpPr txBox="1"/>
          <p:nvPr/>
        </p:nvSpPr>
        <p:spPr>
          <a:xfrm>
            <a:off x="1417320" y="1618488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u="sng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Abrir en YouTub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Ken Robinson dice que las escuelas matan la creatividad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240280"/>
            <a:ext cx="82296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Ícono de vide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55117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35000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 Documental (2021)</a:t>
            </a:r>
            <a:endParaRPr lang="en-US" sz="1200" dirty="0"/>
          </a:p>
        </p:txBody>
      </p:sp>
      <p:sp>
        <p:nvSpPr>
          <p:cNvPr id="12" name="Text 8">
            <a:hlinkClick r:id="rId4" tooltip="Abrir en YouTube"/>
          </p:cNvPr>
          <p:cNvSpPr txBox="1"/>
          <p:nvPr/>
        </p:nvSpPr>
        <p:spPr>
          <a:xfrm>
            <a:off x="1417320" y="2624328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u="sng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Abrir en YouTub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 futuro de la educación - Aprendizaje virtual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57200" y="3246120"/>
            <a:ext cx="82296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34290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Ícono de vide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55701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35584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Aprendemos Juntos [BBVA] (2018)</a:t>
            </a:r>
            <a:endParaRPr lang="en-US" sz="1200" dirty="0"/>
          </a:p>
        </p:txBody>
      </p:sp>
      <p:sp>
        <p:nvSpPr>
          <p:cNvPr id="17" name="Text 12">
            <a:hlinkClick r:id="rId6" tooltip="Abrir en YouTube"/>
          </p:cNvPr>
          <p:cNvSpPr txBox="1"/>
          <p:nvPr/>
        </p:nvSpPr>
        <p:spPr>
          <a:xfrm>
            <a:off x="1417320" y="3630168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u="sng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Abrir en YouTub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 grandes respuestas de la educación viven en las preguntas | Sugata Mitra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ves, anota: ¿qué innovación propone y qué dimensión toca?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práctico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de una innovación, en equipos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Treinta minutos de trabajo y una plenaria. El producto es insumo de tu Actividad 1: Cartografía conceptual.</a:t>
            </a:r>
            <a:endParaRPr lang="en-US" sz="1800" dirty="0"/>
          </a:p>
        </p:txBody>
      </p:sp>
      <p:pic>
        <p:nvPicPr>
          <p:cNvPr id="5" name="Image 0" descr="Equipo trabajando con computador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651760"/>
            <a:ext cx="265176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Ejercicio: paso a paso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6187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Formen equipos de 3 o 4 personas.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188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90195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8288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Elijan una innovación educativa real —lograda o fallida—.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828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54203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4688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Ubíquenla: dimensiones, tipo y mirada sistémica.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2468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18211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1089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Señalen un reto y por qué se sostuvo o se quedó a medias.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108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82219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7490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Preparen una exposición de 2 minutos.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3749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30 minutos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Plantilla del ejercicio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38912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guía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 del equipo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6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C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innovación elegimos?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C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¿En qué institución ocurrió y en qué contexto?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C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dimensiones toca?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C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¿A qué tipo corresponde?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C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pasa con personas, procesos, recursos y cultura?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C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reto enfrentó?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C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¿Se sostuvo o se quedó a medias? ¿Por qué?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319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 en 2 minutos la innovación que eligió, sus dimensiones, su tipo y el reto principal.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234440"/>
            <a:ext cx="39319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Quienes escuchan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9202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dimensión quedó menos clara?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otro reto observan?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haría que la innovación se sostenga?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Respeta los Lineamientos para promover el diálogo académico de la Dinámica de trabajo.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 1: Cartografía conceptual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CDEAF7"/>
          </a:solidFill>
          <a:ln w="12700">
            <a:solidFill>
              <a:srgbClr val="CDEA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Equipo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46120" y="128016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CDEAF7"/>
          </a:solidFill>
          <a:ln w="12700">
            <a:solidFill>
              <a:srgbClr val="CDEA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46120" y="1280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Cartografía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35040" y="128016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CDEAF7"/>
          </a:solidFill>
          <a:ln w="12700">
            <a:solidFill>
              <a:srgbClr val="CDEA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0" y="1280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Informe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CDEAF7"/>
          </a:solidFill>
          <a:ln w="12700">
            <a:solidFill>
              <a:srgbClr val="CDEA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86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Presentación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46120" y="228600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CDEAF7"/>
          </a:solidFill>
          <a:ln w="12700">
            <a:solidFill>
              <a:srgbClr val="CDEA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46120" y="2286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Video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35040" y="228600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00506F"/>
          </a:solidFill>
          <a:ln w="12700">
            <a:solidFill>
              <a:srgbClr val="00506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2286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Plataforma Educativa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229600" cy="914400"/>
          </a:xfrm>
          <a:prstGeom prst="roundRect">
            <a:avLst>
              <a:gd name="adj" fmla="val 12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520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3520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tu calificación final. Entrega en la Plataforma Educativa, a más tardar el domingo 1 de Noviembre de 2026.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Aprendemos Juntos [BBVA]. (2018, 21 de mayo). “Las grandes respuestas de la educación viven en las preguntas” | Sugata Mitra [Video]. YouTube. https://n9.cl/qlvjq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Carbonell, J. (2001). La aventura de innovar: el cambio en la escuela. Morata. https://n9.cl/k3n8k8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 Documental [DW]. (2021, 16 de diciembre). El futuro de la educación - Aprendizaje virtual | DW Documental [Video]. YouTube. https://n9.cl/dspku5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Fullan, M. (2007). The new meaning of educational change (4th ed.). Teachers College Press. https://n9.cl/5zny9s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18872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OECD. (2016). Innovating education and educating for innovation: The power of digital technologies and skills. OECD Publishing. https://doi.org/10.1787/9789264265097-en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Salinas, J. (2004). Innovación docente y uso de las TIC en la enseñanza universitaria. Revista Universidad y Sociedad del Conocimiento (RUSC), 1(1), 1-16. https://n9.cl/pzd6f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TED. (2007, 6 de enero). Ken Robinson dice que las escuelas matan la creatividad [Video]. YouTube. https://n9.cl/nilsit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UNESCO. (2021). Reimagining our futures together: A new social contract for education. International Commission on the Futures of Education, UNESCO Publishing. https://n9.cl/e0r5a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irte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idea de innovación educativa se movió hoy en tu cabeza?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innovación de tu institución quieres entender mejor?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necesitas de tu equipo para la Actividad 1?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sábado 31 de Octubre · Unidad 2. La innovación educativa en la era digital</a:t>
            </a:r>
            <a:endParaRPr lang="en-US" sz="1400" dirty="0"/>
          </a:p>
        </p:txBody>
      </p:sp>
      <p:pic>
        <p:nvPicPr>
          <p:cNvPr id="6" name="Image 0" descr="Ilustración de educación en líne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188720"/>
            <a:ext cx="2651760" cy="24323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IEED UCC">
  <a:themeElements>
    <a:clrScheme name="GIEED UCC">
      <a:dk1>
        <a:srgbClr val="1A1C1D"/>
      </a:dk1>
      <a:lt1>
        <a:srgbClr val="FFFFFF"/>
      </a:lt1>
      <a:dk2>
        <a:srgbClr val="00506F"/>
      </a:dk2>
      <a:lt2>
        <a:srgbClr val="F1F4F6"/>
      </a:lt2>
      <a:accent1>
        <a:srgbClr val="007EAE"/>
      </a:accent1>
      <a:accent2>
        <a:srgbClr val="656566"/>
      </a:accent2>
      <a:accent3>
        <a:srgbClr val="3B7389"/>
      </a:accent3>
      <a:accent4>
        <a:srgbClr val="4FB4E0"/>
      </a:accent4>
      <a:accent5>
        <a:srgbClr val="CDEAF7"/>
      </a:accent5>
      <a:accent6>
        <a:srgbClr val="00506F"/>
      </a:accent6>
      <a:hlink>
        <a:srgbClr val="007EAE"/>
      </a:hlink>
      <a:folHlink>
        <a:srgbClr val="656566"/>
      </a:folHlink>
    </a:clrScheme>
    <a:fontScheme name="GIEED UC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 · Unidad 1. Innovación educativa</dc:title>
  <dc:subject>Gestión de la Innovación Educativa en la Era Digital</dc:subject>
  <dc:creator>Herson Alfonso Castellanos Celis y Brayan Lopez Vazquez</dc:creator>
  <cp:lastModifiedBy>Herson Alfonso Castellanos Celis y Brayan Lopez Vazquez</cp:lastModifiedBy>
  <cp:revision>1</cp:revision>
  <dcterms:created xsi:type="dcterms:W3CDTF">2026-10-24T10:43:40Z</dcterms:created>
  <dcterms:modified xsi:type="dcterms:W3CDTF">2026-10-24T10:43:40Z</dcterms:modified>
</cp:coreProperties>
</file>